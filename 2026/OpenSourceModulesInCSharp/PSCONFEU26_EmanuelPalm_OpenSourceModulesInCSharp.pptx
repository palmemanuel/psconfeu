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33"/>
  </p:notesMasterIdLst>
  <p:handoutMasterIdLst>
    <p:handoutMasterId r:id="rId34"/>
  </p:handoutMasterIdLst>
  <p:sldIdLst>
    <p:sldId id="271" r:id="rId8"/>
    <p:sldId id="272" r:id="rId9"/>
    <p:sldId id="259" r:id="rId10"/>
    <p:sldId id="269" r:id="rId11"/>
    <p:sldId id="270" r:id="rId12"/>
    <p:sldId id="326" r:id="rId13"/>
    <p:sldId id="337" r:id="rId14"/>
    <p:sldId id="331" r:id="rId15"/>
    <p:sldId id="313" r:id="rId16"/>
    <p:sldId id="333" r:id="rId17"/>
    <p:sldId id="342" r:id="rId18"/>
    <p:sldId id="334" r:id="rId19"/>
    <p:sldId id="335" r:id="rId20"/>
    <p:sldId id="338" r:id="rId21"/>
    <p:sldId id="340" r:id="rId22"/>
    <p:sldId id="339" r:id="rId23"/>
    <p:sldId id="277" r:id="rId24"/>
    <p:sldId id="279" r:id="rId25"/>
    <p:sldId id="281" r:id="rId26"/>
    <p:sldId id="284" r:id="rId27"/>
    <p:sldId id="287" r:id="rId28"/>
    <p:sldId id="341" r:id="rId29"/>
    <p:sldId id="325" r:id="rId30"/>
    <p:sldId id="343" r:id="rId31"/>
    <p:sldId id="27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326"/>
            <p14:sldId id="337"/>
            <p14:sldId id="331"/>
            <p14:sldId id="313"/>
            <p14:sldId id="333"/>
            <p14:sldId id="342"/>
            <p14:sldId id="334"/>
            <p14:sldId id="335"/>
            <p14:sldId id="338"/>
            <p14:sldId id="340"/>
            <p14:sldId id="339"/>
            <p14:sldId id="277"/>
            <p14:sldId id="279"/>
            <p14:sldId id="281"/>
            <p14:sldId id="284"/>
            <p14:sldId id="287"/>
            <p14:sldId id="341"/>
            <p14:sldId id="325"/>
            <p14:sldId id="34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2B45"/>
    <a:srgbClr val="CEA551"/>
    <a:srgbClr val="336297"/>
    <a:srgbClr val="3A2B45"/>
    <a:srgbClr val="4C4C5E"/>
    <a:srgbClr val="9443C1"/>
    <a:srgbClr val="4674D6"/>
    <a:srgbClr val="002BFA"/>
    <a:srgbClr val="C7605E"/>
    <a:srgbClr val="248C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87"/>
    <p:restoredTop sz="89432"/>
  </p:normalViewPr>
  <p:slideViewPr>
    <p:cSldViewPr snapToGrid="0">
      <p:cViewPr>
        <p:scale>
          <a:sx n="82" d="100"/>
          <a:sy n="82" d="100"/>
        </p:scale>
        <p:origin x="2704" y="1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06/05/2026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8:36:15.915"/>
    </inkml:context>
    <inkml:brush xml:id="br0">
      <inkml:brushProperty name="width" value="0.1" units="cm"/>
      <inkml:brushProperty name="height" value="0.1" units="cm"/>
    </inkml:brush>
  </inkml:definitions>
  <inkml:trace contextRef="#ctx0" brushRef="#br0">0 1 24575,'3'0'0,"-1"0"0,0 0 0,1 1 0,-1 0 0,0-1 0,1 1 0,-1 0 0,0 0 0,0 0 0,0 0 0,1 0 0,-1 1 0,1 1 0,8 4 0,66 45 0,73 68 0,35 38-498,-7 8 0,197 239 0,-273-280 367,-6 5 0,-5 4 1,-6 3-1,97 216 0,-145-260 130,-4 0-1,-4 2 1,-5 1-1,-3 2 1,-5 0-1,-4 0 1,-2 161-1,-14-42-500,-34 226-1,25-361-4523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8:36:15.916"/>
    </inkml:context>
    <inkml:brush xml:id="br0">
      <inkml:brushProperty name="width" value="0.1" units="cm"/>
      <inkml:brushProperty name="height" value="0.1" units="cm"/>
    </inkml:brush>
  </inkml:definitions>
  <inkml:trace contextRef="#ctx0" brushRef="#br0">1 0 24575,'5'1'0,"1"-1"0,-1 1 0,0 1 0,1-1 0,-1 1 0,0 0 0,0 0 0,0 0 0,0 1 0,0 0 0,-1 0 0,8 5 0,50 51 0,-49-45 0,29 28 0,-2 2 0,-3 1 0,50 78 0,-21-5 0,-35-59 0,55 76 0,-85-133 0,1 1 0,-1-1 0,1 1 0,0-1 0,0 0 0,1 1 0,-1-1 0,0 0 0,1-1 0,-1 1 0,1 0 0,-1-1 0,1 1 0,0-1 0,0 0 0,0 0 0,0 0 0,-1 0 0,1 0 0,0-1 0,1 1 0,-1-1 0,0 0 0,0 0 0,0 0 0,0-1 0,0 1 0,0 0 0,0-1 0,0 0 0,0 0 0,0 0 0,-1 0 0,1 0 0,0-1 0,0 1 0,-1-1 0,1 0 0,2-3 0,11-8 0,-1-1 0,0-1 0,-1-1 0,22-32 0,-17 23 0,289-389 0,-303 408-195,-1 1 0,1-1 0,0 1 0,1 0 0,-1 0 0,7-4 0,4 1-6631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2T15:06:32.422"/>
    </inkml:context>
    <inkml:brush xml:id="br0">
      <inkml:brushProperty name="width" value="0.1" units="cm"/>
      <inkml:brushProperty name="height" value="0.1" units="cm"/>
      <inkml:brushProperty name="color" value="#CEA551"/>
    </inkml:brush>
  </inkml:definitions>
  <inkml:trace contextRef="#ctx0" brushRef="#br0">8642 1905 24575,'-62'0'0,"1"0"0,-14 3 0,-12 1 0,-15 1 0,26-1 0,-9 1 0,-7 0 0,-6 0 0,-3 0 0,-3 1 0,-1-1 0,2 1-984,11-2 1,-2 1 0,-1 0 0,-1 0 0,-2 0 0,-1 0 0,-2 0 0,-1 0 0,-3-1 0,-2 1 876,14-2 1,-2 1-1,-3 0 1,-1 0 0,-2-1-1,-1 1 1,-1-1-1,-1 1 1,0-1 0,1 0-1,-1 0 1,1-1-1,1 0 1,1 0-60,-5-1 0,1 1 0,-1 0 1,0-1-1,1 0 0,0 0 1,0-1-1,-1 0 0,1 0 0,0-1 1,1-1-1,-1 0 0,0-1 166,0-1 0,0 0 0,-1-1 0,0 0 0,0-1 0,0 0 0,1-1 0,0 0 0,1-1 0,1 0 0,2-1 0,1 0 0,1 0-42,-3-2 1,0 0 0,2-1 0,1 0-1,0 0 1,2-1 0,1-1 0,2 0 0,0-1-1,2 0 1,1-1 41,-8-2 0,-1 1 0,1-1 0,1-1 0,2 0 0,4-2 0,5-2 0,6-1 0,6-2-62,-13-10 0,7-4 0,7-1 1,10-3-1,10 0 62,-3-11 0,15-3 0,24-3 0,34 0 0,24-5 0,11 0 0,-6 5 0,-8 5 0,1 4 0,9-2 0,6 4 0,10-3 0,5 0 0,1 1 0,-3 4 0,1-1 0,-1 3 0,1 3 0,4 0 0,11 0 0,3 1 0,5 3 0,6 2 180,-15 8 0,4 0 0,3 2 0,3 2 1,1 3-1,2 3-180,-8 6 0,0 3 0,2 3 0,1 1 0,3 2 0,2-1 0,4 0 0,-4-1 0,3 1 0,3 0 0,1 0 0,3 1 0,1 0 0,1 1 0,1 0 0,0 1 0,-10 1 0,1 0 0,1 1 0,1 1 0,1 0 0,0 0 0,1 1 0,1 0 0,0 0 0,1 1 0,-1 1-40,-1-1 0,0 1 1,1 1-1,1 0 1,1 1-1,0-1 1,0 2-1,-1-1 1,0 1-1,0 0 0,-1 0 1,-2 1 39,5 0 0,-1-1 0,0 1 0,0 0 0,-1 0 0,-1 1 0,0 0 0,-1 2 0,-1 0 0,0 2 0,-2 1-69,4 2 1,1 1 0,0 1 0,0 0-1,-2 2 1,-2 1 0,-3 1 0,-3 2 0,-4 1-1,-5 2 69,20 10 0,-5 3 0,-6 3 0,-5 1 0,-6 2 0,-6 2 242,-3 0 1,-4 3 0,-7 1 0,-9 2 0,-12 2-243,-14 9 0,-13 4 0,-10-1 0,-6-5 1827,-13 24 0,-12-7-1827,1-15 0,-4-5 2732,-1-12 0,-2-6-2732,-11 15 2735,-20 1-2735,7-26 312,0-13 0,18-9 0,14-6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06/05/2026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11.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earn.microsoft.com/en-us/powershell/scripting/install/powershell-support-lifecycle#powershell-end-of-support-date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earn.microsoft.com/en-us/powershell/scripting/install/powershell-support-lifecycle#powershell-end-of-support-date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earn.microsoft.com/en-us/powershell/scripting/install/powershell-support-lifecycle#powershell-end-of-support-date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8</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https://learn.microsoft.com/en-us/powershell/scripting/install/powershell-support-lifecycle#powershell-end-of-support-dates</a:t>
            </a:r>
            <a:endParaRPr lang="en-US" sz="1200" dirty="0"/>
          </a:p>
        </p:txBody>
      </p:sp>
      <p:sp>
        <p:nvSpPr>
          <p:cNvPr id="4" name="Slide Number Placeholder 3"/>
          <p:cNvSpPr>
            <a:spLocks noGrp="1"/>
          </p:cNvSpPr>
          <p:nvPr>
            <p:ph type="sldNum" sz="quarter" idx="5"/>
          </p:nvPr>
        </p:nvSpPr>
        <p:spPr/>
        <p:txBody>
          <a:bodyPr/>
          <a:lstStyle/>
          <a:p>
            <a:fld id="{A7839206-A81D-4F76-8486-302187992F73}" type="slidenum">
              <a:rPr lang="en-GB" smtClean="0"/>
              <a:t>14</a:t>
            </a:fld>
            <a:endParaRPr lang="en-GB"/>
          </a:p>
        </p:txBody>
      </p:sp>
    </p:spTree>
    <p:extLst>
      <p:ext uri="{BB962C8B-B14F-4D97-AF65-F5344CB8AC3E}">
        <p14:creationId xmlns:p14="http://schemas.microsoft.com/office/powerpoint/2010/main" val="1336851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C993E-7461-CA32-DB34-9E05B7B8B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6D87B-8600-94BD-8C36-079EAED7EE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25D61-E72B-9EE7-962E-0E44C9B61C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https://learn.microsoft.com/en-us/powershell/scripting/install/powershell-support-lifecycle#powershell-end-of-support-dates</a:t>
            </a:r>
            <a:endParaRPr lang="en-US" sz="1200" dirty="0"/>
          </a:p>
        </p:txBody>
      </p:sp>
      <p:sp>
        <p:nvSpPr>
          <p:cNvPr id="4" name="Slide Number Placeholder 3">
            <a:extLst>
              <a:ext uri="{FF2B5EF4-FFF2-40B4-BE49-F238E27FC236}">
                <a16:creationId xmlns:a16="http://schemas.microsoft.com/office/drawing/2014/main" id="{EF5B8B01-51B6-A420-AB06-2B987D26FF8F}"/>
              </a:ext>
            </a:extLst>
          </p:cNvPr>
          <p:cNvSpPr>
            <a:spLocks noGrp="1"/>
          </p:cNvSpPr>
          <p:nvPr>
            <p:ph type="sldNum" sz="quarter" idx="5"/>
          </p:nvPr>
        </p:nvSpPr>
        <p:spPr/>
        <p:txBody>
          <a:bodyPr/>
          <a:lstStyle/>
          <a:p>
            <a:fld id="{A7839206-A81D-4F76-8486-302187992F73}" type="slidenum">
              <a:rPr lang="en-GB" smtClean="0"/>
              <a:t>15</a:t>
            </a:fld>
            <a:endParaRPr lang="en-GB"/>
          </a:p>
        </p:txBody>
      </p:sp>
    </p:spTree>
    <p:extLst>
      <p:ext uri="{BB962C8B-B14F-4D97-AF65-F5344CB8AC3E}">
        <p14:creationId xmlns:p14="http://schemas.microsoft.com/office/powerpoint/2010/main" val="2877626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69F1D-78C2-5F13-3125-69143D89C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24258-9484-C565-E864-7BD7A44A1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6AF1A-8BDC-9D78-35AE-026E409998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https://learn.microsoft.com/en-us/powershell/scripting/install/powershell-support-lifecycle#powershell-end-of-support-dates</a:t>
            </a:r>
            <a:endParaRPr lang="en-US" sz="1200" dirty="0"/>
          </a:p>
        </p:txBody>
      </p:sp>
      <p:sp>
        <p:nvSpPr>
          <p:cNvPr id="4" name="Slide Number Placeholder 3">
            <a:extLst>
              <a:ext uri="{FF2B5EF4-FFF2-40B4-BE49-F238E27FC236}">
                <a16:creationId xmlns:a16="http://schemas.microsoft.com/office/drawing/2014/main" id="{3C592EB7-3B1E-6452-890B-284DFCC58A20}"/>
              </a:ext>
            </a:extLst>
          </p:cNvPr>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3100427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BB132-24C8-AE0A-90B5-93EAE7E67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A1C77-7C29-F406-0A7F-46142069C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49D2C-BAC0-50DD-C455-B9B0F74CF7BB}"/>
              </a:ext>
            </a:extLst>
          </p:cNvPr>
          <p:cNvSpPr>
            <a:spLocks noGrp="1"/>
          </p:cNvSpPr>
          <p:nvPr>
            <p:ph type="body" idx="1"/>
          </p:nvPr>
        </p:nvSpPr>
        <p:spPr/>
        <p:txBody>
          <a:bodyPr/>
          <a:lstStyle/>
          <a:p>
            <a:pPr marL="914400" lvl="1" indent="-457200">
              <a:buFont typeface="+mj-lt"/>
              <a:buAutoNum type="arabicPeriod"/>
            </a:pPr>
            <a:endParaRPr lang="en-GB" dirty="0"/>
          </a:p>
        </p:txBody>
      </p:sp>
      <p:sp>
        <p:nvSpPr>
          <p:cNvPr id="4" name="Slide Number Placeholder 3">
            <a:extLst>
              <a:ext uri="{FF2B5EF4-FFF2-40B4-BE49-F238E27FC236}">
                <a16:creationId xmlns:a16="http://schemas.microsoft.com/office/drawing/2014/main" id="{F1B2F6D5-997E-19E6-6277-BECB52F3FA2B}"/>
              </a:ext>
            </a:extLst>
          </p:cNvPr>
          <p:cNvSpPr>
            <a:spLocks noGrp="1"/>
          </p:cNvSpPr>
          <p:nvPr>
            <p:ph type="sldNum" sz="quarter" idx="5"/>
          </p:nvPr>
        </p:nvSpPr>
        <p:spPr/>
        <p:txBody>
          <a:bodyPr/>
          <a:lstStyle/>
          <a:p>
            <a:fld id="{A7839206-A81D-4F76-8486-302187992F73}" type="slidenum">
              <a:rPr lang="en-GB" smtClean="0"/>
              <a:t>23</a:t>
            </a:fld>
            <a:endParaRPr lang="en-GB"/>
          </a:p>
        </p:txBody>
      </p:sp>
    </p:spTree>
    <p:extLst>
      <p:ext uri="{BB962C8B-B14F-4D97-AF65-F5344CB8AC3E}">
        <p14:creationId xmlns:p14="http://schemas.microsoft.com/office/powerpoint/2010/main" val="364806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25</a:t>
            </a:fld>
            <a:endParaRPr lang="en-GB"/>
          </a:p>
        </p:txBody>
      </p:sp>
    </p:spTree>
    <p:extLst>
      <p:ext uri="{BB962C8B-B14F-4D97-AF65-F5344CB8AC3E}">
        <p14:creationId xmlns:p14="http://schemas.microsoft.com/office/powerpoint/2010/main" val="168630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847425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413729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heme" Target="../theme/theme3.xml"/><Relationship Id="rId7" Type="http://schemas.openxmlformats.org/officeDocument/2006/relationships/image" Target="../media/image6.sv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1.png"/><Relationship Id="rId9" Type="http://schemas.microsoft.com/office/2007/relationships/hdphoto" Target="../media/hdphoto1.wdp"/></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1.png"/><Relationship Id="rId18" Type="http://schemas.openxmlformats.org/officeDocument/2006/relationships/image" Target="../media/image6.svg"/><Relationship Id="rId3" Type="http://schemas.openxmlformats.org/officeDocument/2006/relationships/slideLayout" Target="../slideLayouts/slideLayout10.xml"/><Relationship Id="rId21" Type="http://schemas.openxmlformats.org/officeDocument/2006/relationships/image" Target="../media/image8.png"/><Relationship Id="rId7" Type="http://schemas.openxmlformats.org/officeDocument/2006/relationships/slideLayout" Target="../slideLayouts/slideLayout14.xml"/><Relationship Id="rId12" Type="http://schemas.openxmlformats.org/officeDocument/2006/relationships/theme" Target="../theme/theme4.xml"/><Relationship Id="rId17" Type="http://schemas.openxmlformats.org/officeDocument/2006/relationships/image" Target="../media/image5.png"/><Relationship Id="rId2" Type="http://schemas.openxmlformats.org/officeDocument/2006/relationships/slideLayout" Target="../slideLayouts/slideLayout9.xml"/><Relationship Id="rId16" Type="http://schemas.openxmlformats.org/officeDocument/2006/relationships/image" Target="../media/image4.svg"/><Relationship Id="rId20" Type="http://schemas.microsoft.com/office/2007/relationships/hdphoto" Target="../media/hdphoto1.wdp"/><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image" Target="../media/image10.png"/><Relationship Id="rId10" Type="http://schemas.openxmlformats.org/officeDocument/2006/relationships/slideLayout" Target="../slideLayouts/slideLayout17.xml"/><Relationship Id="rId19" Type="http://schemas.openxmlformats.org/officeDocument/2006/relationships/image" Target="../media/image7.pn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9.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10;&#10;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pic>
        <p:nvPicPr>
          <p:cNvPr id="5" name="Graphique 4">
            <a:extLst>
              <a:ext uri="{FF2B5EF4-FFF2-40B4-BE49-F238E27FC236}">
                <a16:creationId xmlns:a16="http://schemas.microsoft.com/office/drawing/2014/main" id="{5940FBC8-A0C6-2B5F-1902-D32A817C999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702387" y="6400644"/>
            <a:ext cx="233674" cy="233674"/>
          </a:xfrm>
          <a:prstGeom prst="rect">
            <a:avLst/>
          </a:prstGeom>
        </p:spPr>
      </p:pic>
      <p:sp>
        <p:nvSpPr>
          <p:cNvPr id="2" name="Espace réservé du numéro de diapositive 5">
            <a:extLst>
              <a:ext uri="{FF2B5EF4-FFF2-40B4-BE49-F238E27FC236}">
                <a16:creationId xmlns:a16="http://schemas.microsoft.com/office/drawing/2014/main" id="{7E956AE5-463F-2CA7-0F10-40FD22C9A157}"/>
              </a:ext>
            </a:extLst>
          </p:cNvPr>
          <p:cNvSpPr txBox="1">
            <a:spLocks/>
          </p:cNvSpPr>
          <p:nvPr userDrawn="1"/>
        </p:nvSpPr>
        <p:spPr>
          <a:xfrm>
            <a:off x="8143986"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a:t>
            </a:r>
            <a:r>
              <a:rPr lang="en-GB" b="1" dirty="0" err="1">
                <a:solidFill>
                  <a:srgbClr val="346296"/>
                </a:solidFill>
              </a:rPr>
              <a:t>PalmEmanuel</a:t>
            </a:r>
            <a:endParaRPr lang="en-GB" b="1" dirty="0">
              <a:solidFill>
                <a:srgbClr val="346296"/>
              </a:solidFill>
            </a:endParaRPr>
          </a:p>
        </p:txBody>
      </p:sp>
      <p:pic>
        <p:nvPicPr>
          <p:cNvPr id="6" name="Image 10" descr="Une image contenant capture d’écran, ligne, Graphique, Bleu électrique&#10;&#10;Description générée automatiquement">
            <a:extLst>
              <a:ext uri="{FF2B5EF4-FFF2-40B4-BE49-F238E27FC236}">
                <a16:creationId xmlns:a16="http://schemas.microsoft.com/office/drawing/2014/main" id="{04C92A29-27F1-23CA-A950-F868560CAE6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210863" y="6405925"/>
            <a:ext cx="248745" cy="254529"/>
          </a:xfrm>
          <a:prstGeom prst="rect">
            <a:avLst/>
          </a:prstGeom>
        </p:spPr>
      </p:pic>
      <p:pic>
        <p:nvPicPr>
          <p:cNvPr id="8" name="Graphic 56">
            <a:extLst>
              <a:ext uri="{FF2B5EF4-FFF2-40B4-BE49-F238E27FC236}">
                <a16:creationId xmlns:a16="http://schemas.microsoft.com/office/drawing/2014/main" id="{729514D9-8B11-4B59-6F59-631E5730CF72}"/>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7501865" y="6368594"/>
            <a:ext cx="327439" cy="320756"/>
          </a:xfrm>
          <a:prstGeom prst="rect">
            <a:avLst/>
          </a:prstGeom>
          <a:effectLst/>
        </p:spPr>
      </p:pic>
      <p:pic>
        <p:nvPicPr>
          <p:cNvPr id="9" name="Picture 8" descr="A blue and black logo&#10;&#10;Description automatically generated">
            <a:extLst>
              <a:ext uri="{FF2B5EF4-FFF2-40B4-BE49-F238E27FC236}">
                <a16:creationId xmlns:a16="http://schemas.microsoft.com/office/drawing/2014/main" id="{61AD0133-BB3C-FAE9-89A3-02C48415F64E}"/>
              </a:ext>
            </a:extLst>
          </p:cNvPr>
          <p:cNvPicPr>
            <a:picLocks noChangeAspect="1"/>
          </p:cNvPicPr>
          <p:nvPr userDrawn="1"/>
        </p:nvPicPr>
        <p:blipFill>
          <a:blip r:embed="rId8">
            <a:extLst>
              <a:ext uri="{BEBA8EAE-BF5A-486C-A8C5-ECC9F3942E4B}">
                <a14:imgProps xmlns:a14="http://schemas.microsoft.com/office/drawing/2010/main">
                  <a14:imgLayer r:embed="rId9">
                    <a14:imgEffect>
                      <a14:colorTemperature colorTemp="11500"/>
                    </a14:imgEffect>
                    <a14:imgEffect>
                      <a14:saturation sat="82000"/>
                    </a14:imgEffect>
                    <a14:imgEffect>
                      <a14:brightnessContrast bright="-5000" contrast="-1000"/>
                    </a14:imgEffect>
                  </a14:imgLayer>
                </a14:imgProps>
              </a:ext>
              <a:ext uri="{28A0092B-C50C-407E-A947-70E740481C1C}">
                <a14:useLocalDpi xmlns:a14="http://schemas.microsoft.com/office/drawing/2010/main" val="0"/>
              </a:ext>
            </a:extLst>
          </a:blip>
          <a:stretch>
            <a:fillRect/>
          </a:stretch>
        </p:blipFill>
        <p:spPr>
          <a:xfrm>
            <a:off x="7888187" y="6381655"/>
            <a:ext cx="299384" cy="299382"/>
          </a:xfrm>
          <a:prstGeom prst="rect">
            <a:avLst/>
          </a:prstGeom>
        </p:spPr>
      </p:pic>
      <p:pic>
        <p:nvPicPr>
          <p:cNvPr id="10" name="Picture 9" descr="A blue butterfly on a black background&#10;&#10;AI-generated content may be incorrect.">
            <a:extLst>
              <a:ext uri="{FF2B5EF4-FFF2-40B4-BE49-F238E27FC236}">
                <a16:creationId xmlns:a16="http://schemas.microsoft.com/office/drawing/2014/main" id="{0827C68E-851E-36D5-3B0B-062C081B896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6804136" y="6381655"/>
            <a:ext cx="344286" cy="300336"/>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 id="2147483706" r:id="rId2"/>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0822738" y="196674"/>
            <a:ext cx="1062038" cy="904875"/>
          </a:xfrm>
          <a:prstGeom prst="rect">
            <a:avLst/>
          </a:prstGeom>
        </p:spPr>
      </p:pic>
      <p:pic>
        <p:nvPicPr>
          <p:cNvPr id="12" name="Image 11" descr="Une image contenant Police, Graphique, capture d’écran, graphisme&#10;&#10;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24" name="Graphique 23">
            <a:extLst>
              <a:ext uri="{FF2B5EF4-FFF2-40B4-BE49-F238E27FC236}">
                <a16:creationId xmlns:a16="http://schemas.microsoft.com/office/drawing/2014/main" id="{14057C36-7CA7-EB30-FD33-9F60CDAC5026}"/>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6702387" y="6400644"/>
            <a:ext cx="233674" cy="233674"/>
          </a:xfrm>
          <a:prstGeom prst="rect">
            <a:avLst/>
          </a:prstGeom>
        </p:spPr>
      </p:pic>
      <p:sp>
        <p:nvSpPr>
          <p:cNvPr id="4" name="Espace réservé du numéro de diapositive 5">
            <a:extLst>
              <a:ext uri="{FF2B5EF4-FFF2-40B4-BE49-F238E27FC236}">
                <a16:creationId xmlns:a16="http://schemas.microsoft.com/office/drawing/2014/main" id="{C90A4D89-6DDA-98F5-5988-356E7336010B}"/>
              </a:ext>
            </a:extLst>
          </p:cNvPr>
          <p:cNvSpPr txBox="1">
            <a:spLocks/>
          </p:cNvSpPr>
          <p:nvPr userDrawn="1"/>
        </p:nvSpPr>
        <p:spPr>
          <a:xfrm>
            <a:off x="8143986"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a:t>
            </a:r>
            <a:r>
              <a:rPr lang="en-GB" b="1" dirty="0" err="1">
                <a:solidFill>
                  <a:srgbClr val="346296"/>
                </a:solidFill>
              </a:rPr>
              <a:t>PalmEmanuel</a:t>
            </a:r>
            <a:endParaRPr lang="en-GB" b="1" dirty="0">
              <a:solidFill>
                <a:srgbClr val="346296"/>
              </a:solidFill>
            </a:endParaRPr>
          </a:p>
        </p:txBody>
      </p:sp>
      <p:pic>
        <p:nvPicPr>
          <p:cNvPr id="5" name="Image 10" descr="Une image contenant capture d’écran, ligne, Graphique, Bleu électrique&#10;&#10;Description générée automatiquement">
            <a:extLst>
              <a:ext uri="{FF2B5EF4-FFF2-40B4-BE49-F238E27FC236}">
                <a16:creationId xmlns:a16="http://schemas.microsoft.com/office/drawing/2014/main" id="{E03B0DAE-A785-6DA0-BF26-61009CC65B5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210863" y="6405925"/>
            <a:ext cx="248745" cy="254529"/>
          </a:xfrm>
          <a:prstGeom prst="rect">
            <a:avLst/>
          </a:prstGeom>
        </p:spPr>
      </p:pic>
      <p:pic>
        <p:nvPicPr>
          <p:cNvPr id="6" name="Graphic 56">
            <a:extLst>
              <a:ext uri="{FF2B5EF4-FFF2-40B4-BE49-F238E27FC236}">
                <a16:creationId xmlns:a16="http://schemas.microsoft.com/office/drawing/2014/main" id="{357E8442-4C45-BEEC-9FC8-3C018EF3ED16}"/>
              </a:ext>
            </a:extLst>
          </p:cNvPr>
          <p:cNvPicPr>
            <a:picLocks noChangeAspect="1"/>
          </p:cNvPicPr>
          <p:nvPr userDrawn="1"/>
        </p:nvPicPr>
        <p:blipFill>
          <a:blip>
            <a:extLst>
              <a:ext uri="{96DAC541-7B7A-43D3-8B79-37D633B846F1}">
                <asvg:svgBlip xmlns:asvg="http://schemas.microsoft.com/office/drawing/2016/SVG/main" r:embed="rId18"/>
              </a:ext>
            </a:extLst>
          </a:blip>
          <a:srcRect/>
          <a:stretch/>
        </p:blipFill>
        <p:spPr>
          <a:xfrm>
            <a:off x="7501865" y="6368594"/>
            <a:ext cx="327439" cy="320756"/>
          </a:xfrm>
          <a:prstGeom prst="rect">
            <a:avLst/>
          </a:prstGeom>
          <a:effectLst/>
        </p:spPr>
      </p:pic>
      <p:pic>
        <p:nvPicPr>
          <p:cNvPr id="9" name="Picture 8" descr="A blue and black logo&#10;&#10;Description automatically generated">
            <a:extLst>
              <a:ext uri="{FF2B5EF4-FFF2-40B4-BE49-F238E27FC236}">
                <a16:creationId xmlns:a16="http://schemas.microsoft.com/office/drawing/2014/main" id="{00343B52-63FF-5962-24A0-33E05E14BE13}"/>
              </a:ext>
            </a:extLst>
          </p:cNvPr>
          <p:cNvPicPr>
            <a:picLocks noChangeAspect="1"/>
          </p:cNvPicPr>
          <p:nvPr userDrawn="1"/>
        </p:nvPicPr>
        <p:blipFill>
          <a:blip r:embed="rId19">
            <a:extLst>
              <a:ext uri="{BEBA8EAE-BF5A-486C-A8C5-ECC9F3942E4B}">
                <a14:imgProps xmlns:a14="http://schemas.microsoft.com/office/drawing/2010/main">
                  <a14:imgLayer r:embed="rId20">
                    <a14:imgEffect>
                      <a14:colorTemperature colorTemp="11500"/>
                    </a14:imgEffect>
                    <a14:imgEffect>
                      <a14:saturation sat="82000"/>
                    </a14:imgEffect>
                    <a14:imgEffect>
                      <a14:brightnessContrast bright="-5000" contrast="-1000"/>
                    </a14:imgEffect>
                  </a14:imgLayer>
                </a14:imgProps>
              </a:ext>
              <a:ext uri="{28A0092B-C50C-407E-A947-70E740481C1C}">
                <a14:useLocalDpi xmlns:a14="http://schemas.microsoft.com/office/drawing/2010/main" val="0"/>
              </a:ext>
            </a:extLst>
          </a:blip>
          <a:stretch>
            <a:fillRect/>
          </a:stretch>
        </p:blipFill>
        <p:spPr>
          <a:xfrm>
            <a:off x="7888187" y="6381655"/>
            <a:ext cx="299384" cy="299382"/>
          </a:xfrm>
          <a:prstGeom prst="rect">
            <a:avLst/>
          </a:prstGeom>
        </p:spPr>
      </p:pic>
      <p:pic>
        <p:nvPicPr>
          <p:cNvPr id="11" name="Picture 10" descr="A blue butterfly on a black background&#10;&#10;AI-generated content may be incorrect.">
            <a:extLst>
              <a:ext uri="{FF2B5EF4-FFF2-40B4-BE49-F238E27FC236}">
                <a16:creationId xmlns:a16="http://schemas.microsoft.com/office/drawing/2014/main" id="{29C3A7CF-7948-0BAB-159D-6A4CA435DF0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6804136" y="6381655"/>
            <a:ext cx="344286" cy="300336"/>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707" r:id="rId11"/>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KV3D2wP_Uug" TargetMode="External"/><Relationship Id="rId7" Type="http://schemas.openxmlformats.org/officeDocument/2006/relationships/hyperlink" Target="https://www.youtube.com/watch?v=DLGet2ljmIU" TargetMode="External"/><Relationship Id="rId2" Type="http://schemas.openxmlformats.org/officeDocument/2006/relationships/hyperlink" Target="https://www.youtube.com/watch?v=6jQqf-LTRGI" TargetMode="External"/><Relationship Id="rId1" Type="http://schemas.openxmlformats.org/officeDocument/2006/relationships/slideLayout" Target="../slideLayouts/slideLayout9.xml"/><Relationship Id="rId6" Type="http://schemas.openxmlformats.org/officeDocument/2006/relationships/hyperlink" Target="https://www.youtube.com/watch?v=uFrTJIAEuS0" TargetMode="External"/><Relationship Id="rId5" Type="http://schemas.openxmlformats.org/officeDocument/2006/relationships/hyperlink" Target="https://www.youtube.com/watch?v=__J7b84BAmQ" TargetMode="External"/><Relationship Id="rId4" Type="http://schemas.openxmlformats.org/officeDocument/2006/relationships/hyperlink" Target="https://www.youtube.com/watch?v=aftyz5jzaz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14.jpg"/><Relationship Id="rId7" Type="http://schemas.openxmlformats.org/officeDocument/2006/relationships/image" Target="../media/image130.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customXml" Target="../ink/ink1.xml"/><Relationship Id="rId4" Type="http://schemas.openxmlformats.org/officeDocument/2006/relationships/image" Target="../media/image15.png"/><Relationship Id="rId9" Type="http://schemas.openxmlformats.org/officeDocument/2006/relationships/image" Target="../media/image1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dotnet/core/blob/main/release-notes/6.0/supported-os.md" TargetMode="External"/><Relationship Id="rId3" Type="http://schemas.openxmlformats.org/officeDocument/2006/relationships/hyperlink" Target="https://github.com/dotnet/core/blob/main/release-notes/11.0/supported-os.md" TargetMode="External"/><Relationship Id="rId7" Type="http://schemas.openxmlformats.org/officeDocument/2006/relationships/hyperlink" Target="https://github.com/dotnet/core/blob/main/release-notes/7.0/supported-os.md" TargetMode="External"/><Relationship Id="rId12" Type="http://schemas.openxmlformats.org/officeDocument/2006/relationships/hyperlink" Target="https://github.com/dotnet/core/blob/main/release-notes/2.0/2.0-supported-os.md"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hyperlink" Target="https://github.com/dotnet/core/blob/main/release-notes/8.0/supported-os.md" TargetMode="External"/><Relationship Id="rId11" Type="http://schemas.openxmlformats.org/officeDocument/2006/relationships/hyperlink" Target="https://github.com/dotnet/core/blob/main/release-notes/2.1/2.1-supported-os.md" TargetMode="External"/><Relationship Id="rId5" Type="http://schemas.openxmlformats.org/officeDocument/2006/relationships/hyperlink" Target="https://github.com/dotnet/core/blob/main/release-notes/9.0/supported-os.md" TargetMode="External"/><Relationship Id="rId10" Type="http://schemas.openxmlformats.org/officeDocument/2006/relationships/hyperlink" Target="https://github.com/dotnet/core/blob/main/release-notes/3.1/3.1-supported-os.md" TargetMode="External"/><Relationship Id="rId4" Type="http://schemas.openxmlformats.org/officeDocument/2006/relationships/hyperlink" Target="https://github.com/dotnet/core/blob/main/release-notes/10.0/supported-os.md" TargetMode="External"/><Relationship Id="rId9" Type="http://schemas.openxmlformats.org/officeDocument/2006/relationships/hyperlink" Target="https://github.com/dotnet/core/blob/main/release-notes/5.0/5.0-supported-os.md"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3.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Emanuel Palm</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err="1">
                <a:solidFill>
                  <a:srgbClr val="346296"/>
                </a:solidFill>
                <a:latin typeface="Segoe UI Light" panose="020B0502040204020203" pitchFamily="34" charset="0"/>
                <a:cs typeface="Segoe UI Light" panose="020B0502040204020203" pitchFamily="34" charset="0"/>
              </a:rPr>
              <a:t>ext</a:t>
            </a:r>
            <a:r>
              <a:rPr lang="en-US" sz="6000" b="1">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45A3-D453-0047-C772-ED03164FD26F}"/>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3D337DCC-7275-13FA-F9E0-7DCE8E6A9B87}"/>
              </a:ext>
            </a:extLst>
          </p:cNvPr>
          <p:cNvSpPr txBox="1">
            <a:spLocks/>
          </p:cNvSpPr>
          <p:nvPr/>
        </p:nvSpPr>
        <p:spPr>
          <a:xfrm>
            <a:off x="1524000" y="4597215"/>
            <a:ext cx="9144000" cy="631759"/>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3600" b="1" i="1" dirty="0"/>
              <a:t>Emanuel Palm</a:t>
            </a:r>
            <a:endParaRPr lang="en-GB" sz="3600" b="1" i="1" dirty="0"/>
          </a:p>
        </p:txBody>
      </p:sp>
      <p:cxnSp>
        <p:nvCxnSpPr>
          <p:cNvPr id="6" name="Connecteur droit 5">
            <a:extLst>
              <a:ext uri="{FF2B5EF4-FFF2-40B4-BE49-F238E27FC236}">
                <a16:creationId xmlns:a16="http://schemas.microsoft.com/office/drawing/2014/main" id="{A675592C-4C3B-EAB9-2582-2F213947B3F7}"/>
              </a:ext>
            </a:extLst>
          </p:cNvPr>
          <p:cNvCxnSpPr/>
          <p:nvPr/>
        </p:nvCxnSpPr>
        <p:spPr>
          <a:xfrm>
            <a:off x="3867150" y="441522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46D77E42-4AD5-2F55-8E85-0363A48920EA}"/>
              </a:ext>
            </a:extLst>
          </p:cNvPr>
          <p:cNvSpPr>
            <a:spLocks noGrp="1"/>
          </p:cNvSpPr>
          <p:nvPr>
            <p:ph type="title" idx="4294967295"/>
          </p:nvPr>
        </p:nvSpPr>
        <p:spPr>
          <a:xfrm>
            <a:off x="105103" y="1978492"/>
            <a:ext cx="11981794" cy="2436728"/>
          </a:xfrm>
          <a:prstGeom prst="rect">
            <a:avLst/>
          </a:prstGeom>
          <a:ln>
            <a:noFill/>
          </a:ln>
        </p:spPr>
        <p:txBody>
          <a:bodyPr anchor="b" anchorCtr="0"/>
          <a:lstStyle/>
          <a:p>
            <a:pPr algn="ctr"/>
            <a:r>
              <a:rPr lang="en-US" sz="6000" i="1" dirty="0">
                <a:solidFill>
                  <a:srgbClr val="346297"/>
                </a:solidFill>
                <a:effectLst/>
                <a:latin typeface="+mn-lt"/>
              </a:rPr>
              <a:t>Buildin</a:t>
            </a:r>
            <a:r>
              <a:rPr lang="en-US" sz="6000" i="1" dirty="0">
                <a:solidFill>
                  <a:srgbClr val="346297"/>
                </a:solidFill>
                <a:latin typeface="+mn-lt"/>
              </a:rPr>
              <a:t>g </a:t>
            </a:r>
            <a:r>
              <a:rPr lang="en-US" sz="6000" i="1" dirty="0">
                <a:solidFill>
                  <a:srgbClr val="CEA551"/>
                </a:solidFill>
                <a:latin typeface="+mn-lt"/>
              </a:rPr>
              <a:t>Open Source</a:t>
            </a:r>
            <a:br>
              <a:rPr lang="en-US" sz="6000" i="1" dirty="0">
                <a:solidFill>
                  <a:srgbClr val="346297"/>
                </a:solidFill>
                <a:latin typeface="+mn-lt"/>
              </a:rPr>
            </a:br>
            <a:r>
              <a:rPr lang="en-US" sz="6000" i="1" dirty="0">
                <a:solidFill>
                  <a:srgbClr val="336297"/>
                </a:solidFill>
                <a:latin typeface="+mn-lt"/>
              </a:rPr>
              <a:t>Modules</a:t>
            </a:r>
            <a:r>
              <a:rPr lang="en-US" sz="6000" i="1" dirty="0">
                <a:solidFill>
                  <a:srgbClr val="336297"/>
                </a:solidFill>
                <a:effectLst/>
                <a:latin typeface="+mn-lt"/>
              </a:rPr>
              <a:t> </a:t>
            </a:r>
            <a:r>
              <a:rPr lang="en-US" sz="6000" i="1" dirty="0">
                <a:solidFill>
                  <a:srgbClr val="336297"/>
                </a:solidFill>
                <a:latin typeface="+mn-lt"/>
              </a:rPr>
              <a:t>in </a:t>
            </a:r>
            <a:r>
              <a:rPr lang="en-US" sz="6000" i="1" dirty="0">
                <a:solidFill>
                  <a:srgbClr val="336297"/>
                </a:solidFill>
                <a:effectLst/>
                <a:latin typeface="+mn-lt"/>
              </a:rPr>
              <a:t>C</a:t>
            </a:r>
            <a:r>
              <a:rPr lang="en-US" sz="6000" i="1" dirty="0">
                <a:solidFill>
                  <a:srgbClr val="346297"/>
                </a:solidFill>
                <a:effectLst/>
                <a:latin typeface="+mn-lt"/>
              </a:rPr>
              <a:t>#</a:t>
            </a:r>
            <a:endParaRPr lang="en-DE" sz="6000" i="1" dirty="0">
              <a:solidFill>
                <a:srgbClr val="346297"/>
              </a:solidFill>
              <a:effectLst/>
              <a:latin typeface="+mn-lt"/>
            </a:endParaRPr>
          </a:p>
        </p:txBody>
      </p:sp>
    </p:spTree>
    <p:extLst>
      <p:ext uri="{BB962C8B-B14F-4D97-AF65-F5344CB8AC3E}">
        <p14:creationId xmlns:p14="http://schemas.microsoft.com/office/powerpoint/2010/main" val="155290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69C4-2E66-2CA1-F9AA-A92CED74B202}"/>
              </a:ext>
            </a:extLst>
          </p:cNvPr>
          <p:cNvSpPr>
            <a:spLocks noGrp="1"/>
          </p:cNvSpPr>
          <p:nvPr>
            <p:ph type="title"/>
          </p:nvPr>
        </p:nvSpPr>
        <p:spPr/>
        <p:txBody>
          <a:bodyPr/>
          <a:lstStyle/>
          <a:p>
            <a:r>
              <a:rPr lang="en-US" dirty="0"/>
              <a:t>Previous </a:t>
            </a:r>
            <a:r>
              <a:rPr lang="en-US" dirty="0" err="1"/>
              <a:t>PSConfEU</a:t>
            </a:r>
            <a:r>
              <a:rPr lang="en-US" dirty="0"/>
              <a:t> sessions</a:t>
            </a:r>
          </a:p>
        </p:txBody>
      </p:sp>
      <p:sp>
        <p:nvSpPr>
          <p:cNvPr id="3" name="Content Placeholder 2">
            <a:extLst>
              <a:ext uri="{FF2B5EF4-FFF2-40B4-BE49-F238E27FC236}">
                <a16:creationId xmlns:a16="http://schemas.microsoft.com/office/drawing/2014/main" id="{94D11C5C-42F5-CD4F-41BC-DCD41EAB8065}"/>
              </a:ext>
            </a:extLst>
          </p:cNvPr>
          <p:cNvSpPr>
            <a:spLocks noGrp="1"/>
          </p:cNvSpPr>
          <p:nvPr>
            <p:ph idx="1"/>
          </p:nvPr>
        </p:nvSpPr>
        <p:spPr>
          <a:xfrm>
            <a:off x="838199" y="1825625"/>
            <a:ext cx="11538527" cy="4351338"/>
          </a:xfrm>
        </p:spPr>
        <p:txBody>
          <a:bodyPr>
            <a:normAutofit fontScale="92500" lnSpcReduction="20000"/>
          </a:bodyPr>
          <a:lstStyle/>
          <a:p>
            <a:r>
              <a:rPr lang="en-US" sz="2400" dirty="0"/>
              <a:t>2023</a:t>
            </a:r>
          </a:p>
          <a:p>
            <a:pPr lvl="1"/>
            <a:r>
              <a:rPr lang="en-US" sz="2400" dirty="0">
                <a:hlinkClick r:id="rId2"/>
              </a:rPr>
              <a:t>Creating your first PowerShell module in C#</a:t>
            </a:r>
            <a:endParaRPr lang="en-US" sz="2400" dirty="0"/>
          </a:p>
          <a:p>
            <a:pPr lvl="2"/>
            <a:r>
              <a:rPr lang="en-US" sz="2000" dirty="0"/>
              <a:t>Emanuel Palm &amp; Justin Grote</a:t>
            </a:r>
          </a:p>
          <a:p>
            <a:pPr lvl="1"/>
            <a:r>
              <a:rPr lang="en-US" sz="2400" dirty="0">
                <a:hlinkClick r:id="rId3"/>
              </a:rPr>
              <a:t>Write PowerShell modules without conflicts - Introducing Assembly Load Contexts</a:t>
            </a:r>
            <a:endParaRPr lang="en-US" sz="2400" dirty="0"/>
          </a:p>
          <a:p>
            <a:pPr lvl="2"/>
            <a:r>
              <a:rPr lang="en-US" sz="2000" dirty="0"/>
              <a:t>Emanuel Palm</a:t>
            </a:r>
          </a:p>
          <a:p>
            <a:pPr lvl="1"/>
            <a:r>
              <a:rPr lang="en-US" sz="2400" dirty="0">
                <a:hlinkClick r:id="rId4"/>
              </a:rPr>
              <a:t>Building a PowerShell module for Bicep in C# - almost 1.000.000 downloads later</a:t>
            </a:r>
            <a:endParaRPr lang="en-US" sz="2400" dirty="0"/>
          </a:p>
          <a:p>
            <a:pPr lvl="2"/>
            <a:r>
              <a:rPr lang="en-US" sz="2000" dirty="0"/>
              <a:t>Emanuel Palm &amp; Simon Wåhlin</a:t>
            </a:r>
          </a:p>
          <a:p>
            <a:pPr lvl="1"/>
            <a:r>
              <a:rPr lang="en-US" sz="2400" dirty="0">
                <a:hlinkClick r:id="rId5"/>
              </a:rPr>
              <a:t>Resolving PowerShell Module Assembly Dependency Conflicts</a:t>
            </a:r>
            <a:endParaRPr lang="en-US" sz="2400" dirty="0"/>
          </a:p>
          <a:p>
            <a:pPr lvl="2"/>
            <a:r>
              <a:rPr lang="en-US" sz="2000" dirty="0"/>
              <a:t>Andy Jordan</a:t>
            </a:r>
          </a:p>
          <a:p>
            <a:r>
              <a:rPr lang="en-US" sz="2400" dirty="0"/>
              <a:t>2025</a:t>
            </a:r>
          </a:p>
          <a:p>
            <a:pPr lvl="1"/>
            <a:r>
              <a:rPr lang="en-US" sz="2400" dirty="0">
                <a:hlinkClick r:id="rId6"/>
              </a:rPr>
              <a:t>Creating My First C# Module: Lessons Learned</a:t>
            </a:r>
            <a:endParaRPr lang="en-US" sz="2400" dirty="0"/>
          </a:p>
          <a:p>
            <a:pPr lvl="2"/>
            <a:r>
              <a:rPr lang="en-US" sz="2000" dirty="0"/>
              <a:t>Andree </a:t>
            </a:r>
            <a:r>
              <a:rPr lang="en-US" sz="2000" dirty="0" err="1"/>
              <a:t>Renneus</a:t>
            </a:r>
            <a:endParaRPr lang="en-US" sz="2000" dirty="0"/>
          </a:p>
          <a:p>
            <a:pPr lvl="1"/>
            <a:r>
              <a:rPr lang="en-US" sz="2400" dirty="0">
                <a:hlinkClick r:id="rId7"/>
              </a:rPr>
              <a:t>Defeating the assembly conflict dragon with Assembly Load Contexts</a:t>
            </a:r>
            <a:endParaRPr lang="en-US" sz="2400" dirty="0"/>
          </a:p>
          <a:p>
            <a:pPr lvl="2"/>
            <a:r>
              <a:rPr lang="en-US" sz="2000" dirty="0"/>
              <a:t>Jordan </a:t>
            </a:r>
            <a:r>
              <a:rPr lang="en-US" sz="2000" dirty="0" err="1"/>
              <a:t>Borean</a:t>
            </a:r>
            <a:endParaRPr lang="en-US" sz="2000" dirty="0"/>
          </a:p>
          <a:p>
            <a:endParaRPr lang="en-US" sz="2400" dirty="0"/>
          </a:p>
        </p:txBody>
      </p:sp>
    </p:spTree>
    <p:extLst>
      <p:ext uri="{BB962C8B-B14F-4D97-AF65-F5344CB8AC3E}">
        <p14:creationId xmlns:p14="http://schemas.microsoft.com/office/powerpoint/2010/main" val="1811997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fr-FR" sz="4000" b="1" kern="1200" err="1">
                <a:solidFill>
                  <a:srgbClr val="3B2A47"/>
                </a:solidFill>
                <a:effectLst/>
                <a:latin typeface="Calibri" panose="020F0502020204030204" pitchFamily="34" charset="0"/>
                <a:ea typeface="+mn-ea"/>
                <a:cs typeface="+mn-cs"/>
              </a:rPr>
              <a:t>Many</a:t>
            </a:r>
            <a:r>
              <a:rPr lang="fr-FR" sz="4000" b="1" kern="1200">
                <a:solidFill>
                  <a:srgbClr val="3B2A47"/>
                </a:solidFill>
                <a:effectLst/>
                <a:latin typeface="Calibri" panose="020F0502020204030204" pitchFamily="34" charset="0"/>
                <a:ea typeface="+mn-ea"/>
                <a:cs typeface="+mn-cs"/>
              </a:rPr>
              <a:t> </a:t>
            </a:r>
            <a:r>
              <a:rPr lang="fr-FR" sz="4000" b="1" kern="1200" err="1">
                <a:solidFill>
                  <a:srgbClr val="3B2A47"/>
                </a:solidFill>
                <a:effectLst/>
                <a:latin typeface="Calibri" panose="020F0502020204030204" pitchFamily="34" charset="0"/>
                <a:ea typeface="+mn-ea"/>
                <a:cs typeface="+mn-cs"/>
              </a:rPr>
              <a:t>thanks</a:t>
            </a:r>
            <a:r>
              <a:rPr lang="fr-FR" sz="4000" b="1" kern="1200">
                <a:solidFill>
                  <a:srgbClr val="3B2A47"/>
                </a:solidFill>
                <a:effectLst/>
                <a:latin typeface="Calibri" panose="020F0502020204030204" pitchFamily="34" charset="0"/>
                <a:ea typeface="+mn-ea"/>
                <a:cs typeface="+mn-cs"/>
              </a:rPr>
              <a:t> to </a:t>
            </a:r>
            <a:r>
              <a:rPr lang="fr-FR" sz="4000" b="1" kern="1200" err="1">
                <a:solidFill>
                  <a:srgbClr val="3B2A47"/>
                </a:solidFill>
                <a:effectLst/>
                <a:latin typeface="Calibri" panose="020F0502020204030204" pitchFamily="34" charset="0"/>
                <a:ea typeface="+mn-ea"/>
                <a:cs typeface="+mn-cs"/>
              </a:rPr>
              <a:t>our</a:t>
            </a:r>
            <a:r>
              <a:rPr lang="fr-FR" sz="4000" b="1" kern="1200">
                <a:solidFill>
                  <a:srgbClr val="3B2A47"/>
                </a:solidFill>
                <a:effectLst/>
                <a:latin typeface="Calibri" panose="020F0502020204030204" pitchFamily="34" charset="0"/>
                <a:ea typeface="+mn-ea"/>
                <a:cs typeface="+mn-cs"/>
              </a:rPr>
              <a:t> sponsors:</a:t>
            </a:r>
            <a:endParaRPr lang="en-DE">
              <a:solidFill>
                <a:srgbClr val="3B2A47"/>
              </a:solidFill>
            </a:endParaRPr>
          </a:p>
        </p:txBody>
      </p:sp>
      <p:pic>
        <p:nvPicPr>
          <p:cNvPr id="7" name="Graphique 6">
            <a:extLst>
              <a:ext uri="{FF2B5EF4-FFF2-40B4-BE49-F238E27FC236}">
                <a16:creationId xmlns:a16="http://schemas.microsoft.com/office/drawing/2014/main" id="{56B20C8F-B2CB-B1F9-8E7F-3897FE369D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2212" y="2226290"/>
            <a:ext cx="8666977" cy="2650633"/>
          </a:xfrm>
          <a:prstGeom prst="rect">
            <a:avLst/>
          </a:prstGeom>
        </p:spPr>
      </p:pic>
    </p:spTree>
    <p:extLst>
      <p:ext uri="{BB962C8B-B14F-4D97-AF65-F5344CB8AC3E}">
        <p14:creationId xmlns:p14="http://schemas.microsoft.com/office/powerpoint/2010/main" val="321042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sv-SE" sz="6600" dirty="0">
                <a:solidFill>
                  <a:srgbClr val="346296"/>
                </a:solidFill>
                <a:latin typeface="+mn-lt"/>
                <a:ea typeface="+mn-ea"/>
                <a:cs typeface="+mn-cs"/>
              </a:rPr>
              <a:t>Emanuel Palm</a:t>
            </a:r>
            <a:endParaRPr lang="en-DE" sz="6600" dirty="0">
              <a:solidFill>
                <a:srgbClr val="346296"/>
              </a:solidFill>
              <a:latin typeface="+mn-lt"/>
              <a:ea typeface="+mn-ea"/>
              <a:cs typeface="+mn-cs"/>
            </a:endParaRPr>
          </a:p>
        </p:txBody>
      </p:sp>
      <p:pic>
        <p:nvPicPr>
          <p:cNvPr id="4" name="Image 3">
            <a:extLst>
              <a:ext uri="{FF2B5EF4-FFF2-40B4-BE49-F238E27FC236}">
                <a16:creationId xmlns:a16="http://schemas.microsoft.com/office/drawing/2014/main" id="{E6BA0E72-B9E1-A0C6-F8B0-8254DF100C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4464" y="210232"/>
            <a:ext cx="3218768" cy="3218768"/>
          </a:xfrm>
          <a:prstGeom prst="rect">
            <a:avLst/>
          </a:prstGeom>
        </p:spPr>
      </p:pic>
      <p:pic>
        <p:nvPicPr>
          <p:cNvPr id="3" name="Picture 2" descr="A blue and white diamond with letters&#10;&#10;Description automatically generated">
            <a:extLst>
              <a:ext uri="{FF2B5EF4-FFF2-40B4-BE49-F238E27FC236}">
                <a16:creationId xmlns:a16="http://schemas.microsoft.com/office/drawing/2014/main" id="{F97277A8-B1FA-11C6-BBB6-F4A3EFCAC185}"/>
              </a:ext>
            </a:extLst>
          </p:cNvPr>
          <p:cNvPicPr>
            <a:picLocks noChangeAspect="1"/>
          </p:cNvPicPr>
          <p:nvPr/>
        </p:nvPicPr>
        <p:blipFill>
          <a:blip r:embed="rId3"/>
          <a:stretch>
            <a:fillRect/>
          </a:stretch>
        </p:blipFill>
        <p:spPr>
          <a:xfrm rot="21448086">
            <a:off x="2973506" y="2873177"/>
            <a:ext cx="456337" cy="456335"/>
          </a:xfrm>
          <a:prstGeom prst="rect">
            <a:avLst/>
          </a:prstGeom>
        </p:spPr>
      </p:pic>
      <p:pic>
        <p:nvPicPr>
          <p:cNvPr id="6" name="Picture 5" descr="A logo with a white cloud and a colorful circle&#10;&#10;Description automatically generated">
            <a:extLst>
              <a:ext uri="{FF2B5EF4-FFF2-40B4-BE49-F238E27FC236}">
                <a16:creationId xmlns:a16="http://schemas.microsoft.com/office/drawing/2014/main" id="{2BED39B6-1FCD-A92F-1634-0E73D80CD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32147" y="324853"/>
            <a:ext cx="1930668" cy="1930668"/>
          </a:xfrm>
          <a:prstGeom prst="rect">
            <a:avLst/>
          </a:prstGeom>
        </p:spPr>
      </p:pic>
      <p:sp>
        <p:nvSpPr>
          <p:cNvPr id="7" name="Text Placeholder 2">
            <a:extLst>
              <a:ext uri="{FF2B5EF4-FFF2-40B4-BE49-F238E27FC236}">
                <a16:creationId xmlns:a16="http://schemas.microsoft.com/office/drawing/2014/main" id="{EEF835CA-A013-16AF-30EB-7AC2D9709289}"/>
              </a:ext>
            </a:extLst>
          </p:cNvPr>
          <p:cNvSpPr txBox="1">
            <a:spLocks/>
          </p:cNvSpPr>
          <p:nvPr/>
        </p:nvSpPr>
        <p:spPr>
          <a:xfrm>
            <a:off x="3619714" y="2005263"/>
            <a:ext cx="7886486"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 Everything-as-Code</a:t>
            </a:r>
          </a:p>
          <a:p>
            <a:pPr marL="0" indent="0">
              <a:buNone/>
            </a:pPr>
            <a:r>
              <a:rPr lang="en-US" dirty="0"/>
              <a:t>📦 Makes modules &amp; tools</a:t>
            </a:r>
          </a:p>
          <a:p>
            <a:pPr marL="0" indent="0">
              <a:buNone/>
            </a:pPr>
            <a:r>
              <a:rPr lang="en-US" dirty="0"/>
              <a:t>📃 Fan of Open Source</a:t>
            </a:r>
            <a:endParaRPr lang="en-US" dirty="0">
              <a:solidFill>
                <a:srgbClr val="346296"/>
              </a:solidFill>
            </a:endParaRPr>
          </a:p>
        </p:txBody>
      </p:sp>
      <p:sp>
        <p:nvSpPr>
          <p:cNvPr id="9" name="TextBox 8">
            <a:extLst>
              <a:ext uri="{FF2B5EF4-FFF2-40B4-BE49-F238E27FC236}">
                <a16:creationId xmlns:a16="http://schemas.microsoft.com/office/drawing/2014/main" id="{D27D671E-CAF7-7B95-3408-E5D8C5DC5333}"/>
              </a:ext>
            </a:extLst>
          </p:cNvPr>
          <p:cNvSpPr txBox="1"/>
          <p:nvPr/>
        </p:nvSpPr>
        <p:spPr>
          <a:xfrm>
            <a:off x="3723927" y="1202611"/>
            <a:ext cx="6154056" cy="461665"/>
          </a:xfrm>
          <a:prstGeom prst="rect">
            <a:avLst/>
          </a:prstGeom>
          <a:noFill/>
        </p:spPr>
        <p:txBody>
          <a:bodyPr wrap="square">
            <a:spAutoFit/>
          </a:bodyPr>
          <a:lstStyle/>
          <a:p>
            <a:r>
              <a:rPr lang="en-US" sz="2400" dirty="0"/>
              <a:t>Cloud Specialist @ Unwonted</a:t>
            </a:r>
            <a:endParaRPr lang="en-SE" sz="2400" dirty="0"/>
          </a:p>
        </p:txBody>
      </p:sp>
      <p:sp>
        <p:nvSpPr>
          <p:cNvPr id="10" name="TextBox 9">
            <a:extLst>
              <a:ext uri="{FF2B5EF4-FFF2-40B4-BE49-F238E27FC236}">
                <a16:creationId xmlns:a16="http://schemas.microsoft.com/office/drawing/2014/main" id="{55401B36-322C-52C1-E68F-A2CE3FC6EC2B}"/>
              </a:ext>
            </a:extLst>
          </p:cNvPr>
          <p:cNvSpPr txBox="1"/>
          <p:nvPr/>
        </p:nvSpPr>
        <p:spPr>
          <a:xfrm rot="21397328">
            <a:off x="376066" y="3456631"/>
            <a:ext cx="2812637" cy="523220"/>
          </a:xfrm>
          <a:prstGeom prst="rect">
            <a:avLst/>
          </a:prstGeom>
          <a:noFill/>
        </p:spPr>
        <p:txBody>
          <a:bodyPr wrap="square" rtlCol="0">
            <a:spAutoFit/>
          </a:bodyPr>
          <a:lstStyle/>
          <a:p>
            <a:pPr algn="ctr"/>
            <a:r>
              <a:rPr lang="sv-SE" sz="2800" dirty="0"/>
              <a:t>🏃</a:t>
            </a:r>
            <a:r>
              <a:rPr lang="en-US" sz="2800" dirty="0"/>
              <a:t>🧗🥏🍰🧙</a:t>
            </a:r>
          </a:p>
        </p:txBody>
      </p:sp>
      <p:grpSp>
        <p:nvGrpSpPr>
          <p:cNvPr id="11" name="Group 10">
            <a:extLst>
              <a:ext uri="{FF2B5EF4-FFF2-40B4-BE49-F238E27FC236}">
                <a16:creationId xmlns:a16="http://schemas.microsoft.com/office/drawing/2014/main" id="{DD9907D7-6CEF-C079-6C32-2211DA521DCF}"/>
              </a:ext>
            </a:extLst>
          </p:cNvPr>
          <p:cNvGrpSpPr/>
          <p:nvPr/>
        </p:nvGrpSpPr>
        <p:grpSpPr>
          <a:xfrm>
            <a:off x="8438899" y="5016209"/>
            <a:ext cx="817560" cy="1278360"/>
            <a:chOff x="8375688" y="4864248"/>
            <a:chExt cx="817560" cy="127836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7746B6E0-A707-2122-282D-0CF3A782A007}"/>
                    </a:ext>
                  </a:extLst>
                </p14:cNvPr>
                <p14:cNvContentPartPr/>
                <p14:nvPr/>
              </p14:nvContentPartPr>
              <p14:xfrm>
                <a:off x="8375688" y="4864248"/>
                <a:ext cx="629280" cy="1250640"/>
              </p14:xfrm>
            </p:contentPart>
          </mc:Choice>
          <mc:Fallback xmlns="">
            <p:pic>
              <p:nvPicPr>
                <p:cNvPr id="8" name="Ink 7">
                  <a:extLst>
                    <a:ext uri="{FF2B5EF4-FFF2-40B4-BE49-F238E27FC236}">
                      <a16:creationId xmlns:a16="http://schemas.microsoft.com/office/drawing/2014/main" id="{D6169C14-5151-D4D9-8FAD-0FA4BFFCA066}"/>
                    </a:ext>
                  </a:extLst>
                </p:cNvPr>
                <p:cNvPicPr/>
                <p:nvPr/>
              </p:nvPicPr>
              <p:blipFill>
                <a:blip r:embed="rId7"/>
                <a:stretch>
                  <a:fillRect/>
                </a:stretch>
              </p:blipFill>
              <p:spPr>
                <a:xfrm>
                  <a:off x="8357688" y="4846608"/>
                  <a:ext cx="664920" cy="1286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ACA3077A-727F-F221-4162-F97E8A04264A}"/>
                    </a:ext>
                  </a:extLst>
                </p14:cNvPr>
                <p14:cNvContentPartPr/>
                <p14:nvPr/>
              </p14:nvContentPartPr>
              <p14:xfrm>
                <a:off x="8787168" y="5888448"/>
                <a:ext cx="406080" cy="254160"/>
              </p14:xfrm>
            </p:contentPart>
          </mc:Choice>
          <mc:Fallback xmlns="">
            <p:pic>
              <p:nvPicPr>
                <p:cNvPr id="15" name="Ink 14">
                  <a:extLst>
                    <a:ext uri="{FF2B5EF4-FFF2-40B4-BE49-F238E27FC236}">
                      <a16:creationId xmlns:a16="http://schemas.microsoft.com/office/drawing/2014/main" id="{3C995D08-6431-7C2F-14FC-D6475CE53A6A}"/>
                    </a:ext>
                  </a:extLst>
                </p:cNvPr>
                <p:cNvPicPr/>
                <p:nvPr/>
              </p:nvPicPr>
              <p:blipFill>
                <a:blip r:embed="rId9"/>
                <a:stretch>
                  <a:fillRect/>
                </a:stretch>
              </p:blipFill>
              <p:spPr>
                <a:xfrm>
                  <a:off x="8769528" y="5870448"/>
                  <a:ext cx="441720" cy="289800"/>
                </a:xfrm>
                <a:prstGeom prst="rect">
                  <a:avLst/>
                </a:prstGeom>
              </p:spPr>
            </p:pic>
          </mc:Fallback>
        </mc:AlternateContent>
      </p:grpSp>
      <p:sp>
        <p:nvSpPr>
          <p:cNvPr id="15" name="TextBox 14">
            <a:extLst>
              <a:ext uri="{FF2B5EF4-FFF2-40B4-BE49-F238E27FC236}">
                <a16:creationId xmlns:a16="http://schemas.microsoft.com/office/drawing/2014/main" id="{6A14B45C-ABDC-982F-9C12-AA46B13D0BBC}"/>
              </a:ext>
            </a:extLst>
          </p:cNvPr>
          <p:cNvSpPr txBox="1"/>
          <p:nvPr/>
        </p:nvSpPr>
        <p:spPr>
          <a:xfrm>
            <a:off x="93158" y="5786064"/>
            <a:ext cx="6096000" cy="923330"/>
          </a:xfrm>
          <a:prstGeom prst="rect">
            <a:avLst/>
          </a:prstGeom>
          <a:noFill/>
        </p:spPr>
        <p:txBody>
          <a:bodyPr wrap="square">
            <a:spAutoFit/>
          </a:bodyPr>
          <a:lstStyle/>
          <a:p>
            <a:r>
              <a:rPr lang="en-US" dirty="0">
                <a:solidFill>
                  <a:srgbClr val="346297"/>
                </a:solidFill>
              </a:rPr>
              <a:t>https://</a:t>
            </a:r>
            <a:r>
              <a:rPr lang="en-US" dirty="0" err="1">
                <a:solidFill>
                  <a:srgbClr val="346297"/>
                </a:solidFill>
              </a:rPr>
              <a:t>www.powershellgallery.com</a:t>
            </a:r>
            <a:r>
              <a:rPr lang="en-US" dirty="0">
                <a:solidFill>
                  <a:srgbClr val="346297"/>
                </a:solidFill>
              </a:rPr>
              <a:t>/packages/Bicep</a:t>
            </a:r>
            <a:br>
              <a:rPr lang="en-US" dirty="0">
                <a:solidFill>
                  <a:srgbClr val="346297"/>
                </a:solidFill>
              </a:rPr>
            </a:br>
            <a:r>
              <a:rPr lang="en-US" dirty="0">
                <a:solidFill>
                  <a:srgbClr val="346297"/>
                </a:solidFill>
              </a:rPr>
              <a:t>https://</a:t>
            </a:r>
            <a:r>
              <a:rPr lang="en-US" dirty="0" err="1">
                <a:solidFill>
                  <a:srgbClr val="346297"/>
                </a:solidFill>
              </a:rPr>
              <a:t>www.powershellgallery.com</a:t>
            </a:r>
            <a:r>
              <a:rPr lang="en-US" dirty="0">
                <a:solidFill>
                  <a:srgbClr val="346297"/>
                </a:solidFill>
              </a:rPr>
              <a:t>/packages/</a:t>
            </a:r>
            <a:r>
              <a:rPr lang="en-US" dirty="0" err="1">
                <a:solidFill>
                  <a:srgbClr val="346297"/>
                </a:solidFill>
              </a:rPr>
              <a:t>AzAuth</a:t>
            </a:r>
            <a:br>
              <a:rPr lang="en-US" dirty="0">
                <a:solidFill>
                  <a:srgbClr val="346297"/>
                </a:solidFill>
              </a:rPr>
            </a:br>
            <a:r>
              <a:rPr lang="en-US" dirty="0">
                <a:solidFill>
                  <a:srgbClr val="346297"/>
                </a:solidFill>
              </a:rPr>
              <a:t>https://</a:t>
            </a:r>
            <a:r>
              <a:rPr lang="en-US" dirty="0" err="1">
                <a:solidFill>
                  <a:srgbClr val="346297"/>
                </a:solidFill>
              </a:rPr>
              <a:t>www.powershellgallery.com</a:t>
            </a:r>
            <a:r>
              <a:rPr lang="en-US" dirty="0">
                <a:solidFill>
                  <a:srgbClr val="346297"/>
                </a:solidFill>
              </a:rPr>
              <a:t>/packages/</a:t>
            </a:r>
            <a:r>
              <a:rPr lang="en-US" dirty="0" err="1">
                <a:solidFill>
                  <a:srgbClr val="346297"/>
                </a:solidFill>
              </a:rPr>
              <a:t>AzBobbyTables</a:t>
            </a:r>
            <a:endParaRPr lang="en-US" dirty="0">
              <a:solidFill>
                <a:srgbClr val="346297"/>
              </a:solidFill>
            </a:endParaRPr>
          </a:p>
        </p:txBody>
      </p:sp>
    </p:spTree>
    <p:extLst>
      <p:ext uri="{BB962C8B-B14F-4D97-AF65-F5344CB8AC3E}">
        <p14:creationId xmlns:p14="http://schemas.microsoft.com/office/powerpoint/2010/main" val="492384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100"/>
                                  </p:stCondLst>
                                  <p:iterate type="lt">
                                    <p:tmAbs val="500"/>
                                  </p:iterate>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63"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CDF05-CEB4-1864-E317-D7B1B9CCDF9A}"/>
              </a:ext>
            </a:extLst>
          </p:cNvPr>
          <p:cNvSpPr>
            <a:spLocks noGrp="1"/>
          </p:cNvSpPr>
          <p:nvPr>
            <p:ph type="title"/>
          </p:nvPr>
        </p:nvSpPr>
        <p:spPr/>
        <p:txBody>
          <a:bodyPr/>
          <a:lstStyle/>
          <a:p>
            <a:r>
              <a:rPr lang="en-US" dirty="0"/>
              <a:t>Ways to Write a Module</a:t>
            </a:r>
          </a:p>
        </p:txBody>
      </p:sp>
      <p:sp>
        <p:nvSpPr>
          <p:cNvPr id="3" name="Content Placeholder 2">
            <a:extLst>
              <a:ext uri="{FF2B5EF4-FFF2-40B4-BE49-F238E27FC236}">
                <a16:creationId xmlns:a16="http://schemas.microsoft.com/office/drawing/2014/main" id="{2856E28A-3E69-BF12-0715-780F0E8BFBDF}"/>
              </a:ext>
            </a:extLst>
          </p:cNvPr>
          <p:cNvSpPr>
            <a:spLocks noGrp="1"/>
          </p:cNvSpPr>
          <p:nvPr>
            <p:ph idx="1"/>
          </p:nvPr>
        </p:nvSpPr>
        <p:spPr/>
        <p:txBody>
          <a:bodyPr>
            <a:normAutofit/>
          </a:bodyPr>
          <a:lstStyle/>
          <a:p>
            <a:r>
              <a:rPr lang="en-US" dirty="0"/>
              <a:t>Script modules (.psm1)</a:t>
            </a:r>
          </a:p>
          <a:p>
            <a:r>
              <a:rPr lang="en-US" dirty="0"/>
              <a:t>Binary modules (.NET)</a:t>
            </a:r>
          </a:p>
          <a:p>
            <a:r>
              <a:rPr lang="en-US" dirty="0"/>
              <a:t>Hybrid modules (both)</a:t>
            </a:r>
          </a:p>
        </p:txBody>
      </p:sp>
    </p:spTree>
    <p:extLst>
      <p:ext uri="{BB962C8B-B14F-4D97-AF65-F5344CB8AC3E}">
        <p14:creationId xmlns:p14="http://schemas.microsoft.com/office/powerpoint/2010/main" val="3759453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92111-D65B-E82B-462A-FBFD2E6AD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9E4EC-5D7D-268D-C04D-E91FF2E744C7}"/>
              </a:ext>
            </a:extLst>
          </p:cNvPr>
          <p:cNvSpPr>
            <a:spLocks noGrp="1"/>
          </p:cNvSpPr>
          <p:nvPr>
            <p:ph type="title"/>
          </p:nvPr>
        </p:nvSpPr>
        <p:spPr/>
        <p:txBody>
          <a:bodyPr/>
          <a:lstStyle/>
          <a:p>
            <a:r>
              <a:rPr lang="en-US" dirty="0"/>
              <a:t>Why?</a:t>
            </a:r>
          </a:p>
        </p:txBody>
      </p:sp>
      <p:sp>
        <p:nvSpPr>
          <p:cNvPr id="3" name="Content Placeholder 2">
            <a:extLst>
              <a:ext uri="{FF2B5EF4-FFF2-40B4-BE49-F238E27FC236}">
                <a16:creationId xmlns:a16="http://schemas.microsoft.com/office/drawing/2014/main" id="{41B7E2D1-95A0-DD95-ACF0-33783868D109}"/>
              </a:ext>
            </a:extLst>
          </p:cNvPr>
          <p:cNvSpPr>
            <a:spLocks noGrp="1"/>
          </p:cNvSpPr>
          <p:nvPr>
            <p:ph idx="1"/>
          </p:nvPr>
        </p:nvSpPr>
        <p:spPr/>
        <p:txBody>
          <a:bodyPr>
            <a:normAutofit fontScale="85000" lnSpcReduction="20000"/>
          </a:bodyPr>
          <a:lstStyle/>
          <a:p>
            <a:r>
              <a:rPr lang="en-US" dirty="0"/>
              <a:t>.NET ecosystem</a:t>
            </a:r>
          </a:p>
          <a:p>
            <a:pPr lvl="1"/>
            <a:r>
              <a:rPr lang="en-US" dirty="0"/>
              <a:t>NuGet packages &amp; SDKs</a:t>
            </a:r>
          </a:p>
          <a:p>
            <a:r>
              <a:rPr lang="en-US" dirty="0"/>
              <a:t>Not re-inventing the wheel</a:t>
            </a:r>
          </a:p>
          <a:p>
            <a:r>
              <a:rPr lang="en-US" dirty="0"/>
              <a:t>Features not available in PowerShell</a:t>
            </a:r>
          </a:p>
          <a:p>
            <a:pPr lvl="1"/>
            <a:r>
              <a:rPr lang="en-US" dirty="0"/>
              <a:t>Type safety</a:t>
            </a:r>
          </a:p>
          <a:p>
            <a:pPr lvl="1"/>
            <a:r>
              <a:rPr lang="en-US" dirty="0"/>
              <a:t>Generic methods</a:t>
            </a:r>
          </a:p>
          <a:p>
            <a:pPr lvl="1"/>
            <a:r>
              <a:rPr lang="en-US" dirty="0"/>
              <a:t>Interfaces</a:t>
            </a:r>
          </a:p>
          <a:p>
            <a:pPr lvl="1"/>
            <a:r>
              <a:rPr lang="en-US" dirty="0"/>
              <a:t>Proper Classes and Inheritance</a:t>
            </a:r>
          </a:p>
          <a:p>
            <a:pPr lvl="1"/>
            <a:r>
              <a:rPr lang="en-US" dirty="0"/>
              <a:t>…</a:t>
            </a:r>
          </a:p>
          <a:p>
            <a:r>
              <a:rPr lang="en-US" dirty="0"/>
              <a:t>Fun fact - You can build them in F# :)</a:t>
            </a:r>
          </a:p>
          <a:p>
            <a:pPr lvl="1"/>
            <a:r>
              <a:rPr lang="en-US" dirty="0"/>
              <a:t>Or VB.NET </a:t>
            </a:r>
            <a:r>
              <a:rPr lang="en-US" dirty="0">
                <a:sym typeface="Wingdings" pitchFamily="2" charset="2"/>
              </a:rPr>
              <a:t>:(</a:t>
            </a:r>
            <a:endParaRPr lang="en-US" dirty="0"/>
          </a:p>
        </p:txBody>
      </p:sp>
    </p:spTree>
    <p:extLst>
      <p:ext uri="{BB962C8B-B14F-4D97-AF65-F5344CB8AC3E}">
        <p14:creationId xmlns:p14="http://schemas.microsoft.com/office/powerpoint/2010/main" val="116587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23BF7-99DE-7C5F-C15E-A207AE05ECA0}"/>
              </a:ext>
            </a:extLst>
          </p:cNvPr>
          <p:cNvSpPr>
            <a:spLocks noGrp="1"/>
          </p:cNvSpPr>
          <p:nvPr>
            <p:ph type="title"/>
          </p:nvPr>
        </p:nvSpPr>
        <p:spPr/>
        <p:txBody>
          <a:bodyPr/>
          <a:lstStyle/>
          <a:p>
            <a:r>
              <a:rPr lang="en-US" dirty="0"/>
              <a:t>Examples of C# Modules</a:t>
            </a:r>
          </a:p>
        </p:txBody>
      </p:sp>
      <p:sp>
        <p:nvSpPr>
          <p:cNvPr id="3" name="Content Placeholder 2">
            <a:extLst>
              <a:ext uri="{FF2B5EF4-FFF2-40B4-BE49-F238E27FC236}">
                <a16:creationId xmlns:a16="http://schemas.microsoft.com/office/drawing/2014/main" id="{DB5F2ABC-7370-751C-B5F9-79F83961A6C8}"/>
              </a:ext>
            </a:extLst>
          </p:cNvPr>
          <p:cNvSpPr>
            <a:spLocks noGrp="1"/>
          </p:cNvSpPr>
          <p:nvPr>
            <p:ph idx="1"/>
          </p:nvPr>
        </p:nvSpPr>
        <p:spPr/>
        <p:txBody>
          <a:bodyPr/>
          <a:lstStyle/>
          <a:p>
            <a:r>
              <a:rPr lang="en-US" dirty="0"/>
              <a:t>Pester</a:t>
            </a:r>
          </a:p>
          <a:p>
            <a:r>
              <a:rPr lang="en-US" dirty="0"/>
              <a:t>Most of Microsoft’s official modules</a:t>
            </a:r>
          </a:p>
          <a:p>
            <a:r>
              <a:rPr lang="en-US" dirty="0"/>
              <a:t>More modules than you expect</a:t>
            </a:r>
          </a:p>
          <a:p>
            <a:r>
              <a:rPr lang="en-US" dirty="0"/>
              <a:t>Some of my modules</a:t>
            </a:r>
          </a:p>
          <a:p>
            <a:pPr lvl="1"/>
            <a:r>
              <a:rPr lang="en-US" dirty="0"/>
              <a:t>Bicep, </a:t>
            </a:r>
            <a:r>
              <a:rPr lang="en-US" dirty="0" err="1"/>
              <a:t>AzAuth</a:t>
            </a:r>
            <a:r>
              <a:rPr lang="en-US" dirty="0"/>
              <a:t>, </a:t>
            </a:r>
            <a:r>
              <a:rPr lang="en-US" dirty="0" err="1"/>
              <a:t>AzBobbyTables</a:t>
            </a:r>
            <a:endParaRPr lang="en-US" dirty="0"/>
          </a:p>
        </p:txBody>
      </p:sp>
    </p:spTree>
    <p:extLst>
      <p:ext uri="{BB962C8B-B14F-4D97-AF65-F5344CB8AC3E}">
        <p14:creationId xmlns:p14="http://schemas.microsoft.com/office/powerpoint/2010/main" val="329148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2EE1-512C-DFD4-FCE5-8E80CD364FE7}"/>
              </a:ext>
            </a:extLst>
          </p:cNvPr>
          <p:cNvSpPr>
            <a:spLocks noGrp="1"/>
          </p:cNvSpPr>
          <p:nvPr>
            <p:ph type="title"/>
          </p:nvPr>
        </p:nvSpPr>
        <p:spPr/>
        <p:txBody>
          <a:bodyPr/>
          <a:lstStyle/>
          <a:p>
            <a:r>
              <a:rPr lang="en-US" dirty="0"/>
              <a:t>What tooling do we need?</a:t>
            </a:r>
          </a:p>
        </p:txBody>
      </p:sp>
      <p:sp>
        <p:nvSpPr>
          <p:cNvPr id="3" name="Content Placeholder 2">
            <a:extLst>
              <a:ext uri="{FF2B5EF4-FFF2-40B4-BE49-F238E27FC236}">
                <a16:creationId xmlns:a16="http://schemas.microsoft.com/office/drawing/2014/main" id="{443E5EC7-4471-3F3F-F260-A3AF0937F950}"/>
              </a:ext>
            </a:extLst>
          </p:cNvPr>
          <p:cNvSpPr>
            <a:spLocks noGrp="1"/>
          </p:cNvSpPr>
          <p:nvPr>
            <p:ph idx="1"/>
          </p:nvPr>
        </p:nvSpPr>
        <p:spPr/>
        <p:txBody>
          <a:bodyPr/>
          <a:lstStyle/>
          <a:p>
            <a:r>
              <a:rPr lang="en-US" dirty="0"/>
              <a:t>.NET SDK</a:t>
            </a:r>
          </a:p>
          <a:p>
            <a:r>
              <a:rPr lang="en-US" dirty="0"/>
              <a:t>PowerShell</a:t>
            </a:r>
          </a:p>
          <a:p>
            <a:r>
              <a:rPr lang="en-US" dirty="0"/>
              <a:t>Editor</a:t>
            </a:r>
          </a:p>
          <a:p>
            <a:pPr lvl="1"/>
            <a:r>
              <a:rPr lang="en-US" dirty="0"/>
              <a:t>Visual Studio Code + Extensions</a:t>
            </a:r>
          </a:p>
          <a:p>
            <a:pPr lvl="1"/>
            <a:r>
              <a:rPr lang="en-US" dirty="0"/>
              <a:t>… but you can also use Visual Studio</a:t>
            </a:r>
          </a:p>
          <a:p>
            <a:pPr lvl="1"/>
            <a:r>
              <a:rPr lang="en-US" dirty="0"/>
              <a:t>… or others like </a:t>
            </a:r>
            <a:r>
              <a:rPr lang="en-US" dirty="0" err="1"/>
              <a:t>Jetbrains</a:t>
            </a:r>
            <a:r>
              <a:rPr lang="en-US" dirty="0"/>
              <a:t> Rider</a:t>
            </a:r>
          </a:p>
        </p:txBody>
      </p:sp>
    </p:spTree>
    <p:extLst>
      <p:ext uri="{BB962C8B-B14F-4D97-AF65-F5344CB8AC3E}">
        <p14:creationId xmlns:p14="http://schemas.microsoft.com/office/powerpoint/2010/main" val="132942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959C8-CD23-06B6-17CC-20B1D7E00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B28FD-7F98-2BF7-2222-851B57EF726B}"/>
              </a:ext>
            </a:extLst>
          </p:cNvPr>
          <p:cNvSpPr>
            <a:spLocks noGrp="1"/>
          </p:cNvSpPr>
          <p:nvPr>
            <p:ph type="title"/>
          </p:nvPr>
        </p:nvSpPr>
        <p:spPr/>
        <p:txBody>
          <a:bodyPr/>
          <a:lstStyle/>
          <a:p>
            <a:r>
              <a:rPr lang="en-US" dirty="0"/>
              <a:t>Version Targeting</a:t>
            </a:r>
          </a:p>
        </p:txBody>
      </p:sp>
      <p:grpSp>
        <p:nvGrpSpPr>
          <p:cNvPr id="15" name="Group 14">
            <a:extLst>
              <a:ext uri="{FF2B5EF4-FFF2-40B4-BE49-F238E27FC236}">
                <a16:creationId xmlns:a16="http://schemas.microsoft.com/office/drawing/2014/main" id="{7568B363-5C6C-176D-42D3-D4640A1A2256}"/>
              </a:ext>
            </a:extLst>
          </p:cNvPr>
          <p:cNvGrpSpPr/>
          <p:nvPr/>
        </p:nvGrpSpPr>
        <p:grpSpPr>
          <a:xfrm>
            <a:off x="2807853" y="2057670"/>
            <a:ext cx="2262909" cy="2622974"/>
            <a:chOff x="2807853" y="2057670"/>
            <a:chExt cx="2262909" cy="2622974"/>
          </a:xfrm>
        </p:grpSpPr>
        <p:pic>
          <p:nvPicPr>
            <p:cNvPr id="12" name="Picture 11">
              <a:extLst>
                <a:ext uri="{FF2B5EF4-FFF2-40B4-BE49-F238E27FC236}">
                  <a16:creationId xmlns:a16="http://schemas.microsoft.com/office/drawing/2014/main" id="{0E938C9B-41CD-129B-4F09-6D4F4A396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7853" y="2057670"/>
              <a:ext cx="2262909" cy="2262909"/>
            </a:xfrm>
            <a:prstGeom prst="rect">
              <a:avLst/>
            </a:prstGeom>
          </p:spPr>
        </p:pic>
        <p:sp>
          <p:nvSpPr>
            <p:cNvPr id="13" name="TextBox 12">
              <a:extLst>
                <a:ext uri="{FF2B5EF4-FFF2-40B4-BE49-F238E27FC236}">
                  <a16:creationId xmlns:a16="http://schemas.microsoft.com/office/drawing/2014/main" id="{2228065F-0244-F789-54E1-A26501504824}"/>
                </a:ext>
              </a:extLst>
            </p:cNvPr>
            <p:cNvSpPr txBox="1"/>
            <p:nvPr/>
          </p:nvSpPr>
          <p:spPr>
            <a:xfrm>
              <a:off x="2849913" y="4034313"/>
              <a:ext cx="1857048" cy="646331"/>
            </a:xfrm>
            <a:prstGeom prst="rect">
              <a:avLst/>
            </a:prstGeom>
            <a:noFill/>
          </p:spPr>
          <p:txBody>
            <a:bodyPr wrap="none" rtlCol="0">
              <a:spAutoFit/>
            </a:bodyPr>
            <a:lstStyle/>
            <a:p>
              <a:pPr algn="ctr"/>
              <a:r>
                <a:rPr lang="en-US" dirty="0"/>
                <a:t>PowerShell 5.1+</a:t>
              </a:r>
              <a:br>
                <a:rPr lang="en-US" dirty="0"/>
              </a:br>
              <a:r>
                <a:rPr lang="en-US" dirty="0"/>
                <a:t>.NET Standard 2.0</a:t>
              </a:r>
            </a:p>
          </p:txBody>
        </p:sp>
      </p:grpSp>
      <p:grpSp>
        <p:nvGrpSpPr>
          <p:cNvPr id="16" name="Group 15">
            <a:extLst>
              <a:ext uri="{FF2B5EF4-FFF2-40B4-BE49-F238E27FC236}">
                <a16:creationId xmlns:a16="http://schemas.microsoft.com/office/drawing/2014/main" id="{2C26430E-677D-4848-93D1-1AE7FC682C5B}"/>
              </a:ext>
            </a:extLst>
          </p:cNvPr>
          <p:cNvGrpSpPr/>
          <p:nvPr/>
        </p:nvGrpSpPr>
        <p:grpSpPr>
          <a:xfrm>
            <a:off x="7121238" y="2057670"/>
            <a:ext cx="2262909" cy="2622974"/>
            <a:chOff x="7121238" y="2057670"/>
            <a:chExt cx="2262909" cy="2622974"/>
          </a:xfrm>
        </p:grpSpPr>
        <p:pic>
          <p:nvPicPr>
            <p:cNvPr id="10" name="Picture 9">
              <a:extLst>
                <a:ext uri="{FF2B5EF4-FFF2-40B4-BE49-F238E27FC236}">
                  <a16:creationId xmlns:a16="http://schemas.microsoft.com/office/drawing/2014/main" id="{532EA643-0B7B-4941-2500-99A314F0D8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1238" y="2057670"/>
              <a:ext cx="2262909" cy="2262909"/>
            </a:xfrm>
            <a:prstGeom prst="rect">
              <a:avLst/>
            </a:prstGeom>
          </p:spPr>
        </p:pic>
        <p:sp>
          <p:nvSpPr>
            <p:cNvPr id="14" name="TextBox 13">
              <a:extLst>
                <a:ext uri="{FF2B5EF4-FFF2-40B4-BE49-F238E27FC236}">
                  <a16:creationId xmlns:a16="http://schemas.microsoft.com/office/drawing/2014/main" id="{8288CC45-4AF5-E312-88B8-A9DAEDA7B26D}"/>
                </a:ext>
              </a:extLst>
            </p:cNvPr>
            <p:cNvSpPr txBox="1"/>
            <p:nvPr/>
          </p:nvSpPr>
          <p:spPr>
            <a:xfrm>
              <a:off x="7255162" y="4034313"/>
              <a:ext cx="1687130" cy="646331"/>
            </a:xfrm>
            <a:prstGeom prst="rect">
              <a:avLst/>
            </a:prstGeom>
            <a:noFill/>
          </p:spPr>
          <p:txBody>
            <a:bodyPr wrap="none" rtlCol="0">
              <a:spAutoFit/>
            </a:bodyPr>
            <a:lstStyle/>
            <a:p>
              <a:pPr algn="ctr"/>
              <a:r>
                <a:rPr lang="en-US" dirty="0"/>
                <a:t>PowerShell 7.6+</a:t>
              </a:r>
            </a:p>
            <a:p>
              <a:pPr algn="ctr"/>
              <a:r>
                <a:rPr lang="en-US" dirty="0"/>
                <a:t>.NET 10</a:t>
              </a:r>
            </a:p>
          </p:txBody>
        </p:sp>
      </p:grpSp>
    </p:spTree>
    <p:extLst>
      <p:ext uri="{BB962C8B-B14F-4D97-AF65-F5344CB8AC3E}">
        <p14:creationId xmlns:p14="http://schemas.microsoft.com/office/powerpoint/2010/main" val="2882701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0CC0-E56B-0776-47C2-2975345808F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551C1B3-8BBA-4475-70B6-6E8A2AE58522}"/>
              </a:ext>
            </a:extLst>
          </p:cNvPr>
          <p:cNvGraphicFramePr>
            <a:graphicFrameLocks noGrp="1"/>
          </p:cNvGraphicFramePr>
          <p:nvPr>
            <p:extLst>
              <p:ext uri="{D42A27DB-BD31-4B8C-83A1-F6EECF244321}">
                <p14:modId xmlns:p14="http://schemas.microsoft.com/office/powerpoint/2010/main" val="495198235"/>
              </p:ext>
            </p:extLst>
          </p:nvPr>
        </p:nvGraphicFramePr>
        <p:xfrm>
          <a:off x="2164772" y="738813"/>
          <a:ext cx="7862455" cy="4764072"/>
        </p:xfrm>
        <a:graphic>
          <a:graphicData uri="http://schemas.openxmlformats.org/drawingml/2006/table">
            <a:tbl>
              <a:tblPr/>
              <a:tblGrid>
                <a:gridCol w="2570018">
                  <a:extLst>
                    <a:ext uri="{9D8B030D-6E8A-4147-A177-3AD203B41FA5}">
                      <a16:colId xmlns:a16="http://schemas.microsoft.com/office/drawing/2014/main" val="1083063672"/>
                    </a:ext>
                  </a:extLst>
                </a:gridCol>
                <a:gridCol w="1588655">
                  <a:extLst>
                    <a:ext uri="{9D8B030D-6E8A-4147-A177-3AD203B41FA5}">
                      <a16:colId xmlns:a16="http://schemas.microsoft.com/office/drawing/2014/main" val="435836344"/>
                    </a:ext>
                  </a:extLst>
                </a:gridCol>
                <a:gridCol w="1801091">
                  <a:extLst>
                    <a:ext uri="{9D8B030D-6E8A-4147-A177-3AD203B41FA5}">
                      <a16:colId xmlns:a16="http://schemas.microsoft.com/office/drawing/2014/main" val="3555488845"/>
                    </a:ext>
                  </a:extLst>
                </a:gridCol>
                <a:gridCol w="1902691">
                  <a:extLst>
                    <a:ext uri="{9D8B030D-6E8A-4147-A177-3AD203B41FA5}">
                      <a16:colId xmlns:a16="http://schemas.microsoft.com/office/drawing/2014/main" val="1137362080"/>
                    </a:ext>
                  </a:extLst>
                </a:gridCol>
              </a:tblGrid>
              <a:tr h="397006">
                <a:tc>
                  <a:txBody>
                    <a:bodyPr/>
                    <a:lstStyle/>
                    <a:p>
                      <a:pPr algn="l" fontAlgn="t">
                        <a:buNone/>
                      </a:pPr>
                      <a:r>
                        <a:rPr lang="en-US" sz="1800" b="1" i="0" u="none" strike="noStrike" dirty="0">
                          <a:solidFill>
                            <a:srgbClr val="3B2B45"/>
                          </a:solidFill>
                          <a:effectLst/>
                          <a:latin typeface="+mn-lt"/>
                        </a:rPr>
                        <a:t>Version</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1" i="0" u="none" strike="noStrike">
                          <a:solidFill>
                            <a:srgbClr val="3B2B45"/>
                          </a:solidFill>
                          <a:effectLst/>
                          <a:latin typeface="+mn-lt"/>
                        </a:rPr>
                        <a:t>Release Date</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1" i="0" u="none" strike="noStrike">
                          <a:solidFill>
                            <a:srgbClr val="3B2B45"/>
                          </a:solidFill>
                          <a:effectLst/>
                          <a:latin typeface="+mn-lt"/>
                        </a:rPr>
                        <a:t>End-of-support</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1" i="0" u="none" strike="noStrike" dirty="0">
                          <a:solidFill>
                            <a:srgbClr val="3B2B45"/>
                          </a:solidFill>
                          <a:effectLst/>
                          <a:latin typeface="+mn-lt"/>
                        </a:rPr>
                        <a:t>.NET Version</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2105576548"/>
                  </a:ext>
                </a:extLst>
              </a:tr>
              <a:tr h="397006">
                <a:tc>
                  <a:txBody>
                    <a:bodyPr/>
                    <a:lstStyle/>
                    <a:p>
                      <a:pPr algn="l" fontAlgn="t">
                        <a:buNone/>
                      </a:pPr>
                      <a:r>
                        <a:rPr lang="en-US" dirty="0">
                          <a:solidFill>
                            <a:srgbClr val="336297"/>
                          </a:solidFill>
                          <a:effectLst/>
                          <a:latin typeface="+mn-lt"/>
                        </a:rPr>
                        <a:t>PowerShell 7.7 (preview)</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endParaRPr lang="en-US" dirty="0">
                        <a:solidFill>
                          <a:srgbClr val="336297"/>
                        </a:solidFill>
                        <a:effectLst/>
                        <a:latin typeface="+mn-lt"/>
                      </a:endParaRP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endParaRPr lang="en-US">
                        <a:solidFill>
                          <a:srgbClr val="336297"/>
                        </a:solidFill>
                        <a:effectLst/>
                        <a:latin typeface="+mn-lt"/>
                      </a:endParaRP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u="none" strike="noStrike" dirty="0">
                          <a:solidFill>
                            <a:srgbClr val="75B6E7"/>
                          </a:solidFill>
                          <a:effectLst/>
                          <a:latin typeface="+mn-lt"/>
                          <a:hlinkClick r:id="rId3"/>
                        </a:rPr>
                        <a:t>.NET 11.0</a:t>
                      </a:r>
                      <a:endParaRPr lang="en-US" dirty="0">
                        <a:effectLst/>
                        <a:latin typeface="+mn-lt"/>
                      </a:endParaRP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2198877151"/>
                  </a:ext>
                </a:extLst>
              </a:tr>
              <a:tr h="397006">
                <a:tc>
                  <a:txBody>
                    <a:bodyPr/>
                    <a:lstStyle/>
                    <a:p>
                      <a:pPr algn="l" fontAlgn="t">
                        <a:buNone/>
                      </a:pPr>
                      <a:r>
                        <a:rPr lang="en-US" dirty="0">
                          <a:solidFill>
                            <a:srgbClr val="336297"/>
                          </a:solidFill>
                          <a:effectLst/>
                          <a:latin typeface="+mn-lt"/>
                        </a:rPr>
                        <a:t>PowerShell 7.6 (LTS)</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a:solidFill>
                            <a:srgbClr val="336297"/>
                          </a:solidFill>
                          <a:effectLst/>
                          <a:latin typeface="+mn-lt"/>
                        </a:rPr>
                        <a:t>18-Mar-2026</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a:solidFill>
                            <a:srgbClr val="336297"/>
                          </a:solidFill>
                          <a:effectLst/>
                          <a:latin typeface="+mn-lt"/>
                        </a:rPr>
                        <a:t>14-Nov-2028</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u="none" strike="noStrike">
                          <a:solidFill>
                            <a:srgbClr val="75B6E7"/>
                          </a:solidFill>
                          <a:effectLst/>
                          <a:latin typeface="+mn-lt"/>
                          <a:hlinkClick r:id="rId4"/>
                        </a:rPr>
                        <a:t>.NET 10.0</a:t>
                      </a:r>
                      <a:endParaRPr lang="en-US">
                        <a:effectLst/>
                        <a:latin typeface="+mn-lt"/>
                      </a:endParaRP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560714889"/>
                  </a:ext>
                </a:extLst>
              </a:tr>
              <a:tr h="397006">
                <a:tc>
                  <a:txBody>
                    <a:bodyPr/>
                    <a:lstStyle/>
                    <a:p>
                      <a:pPr algn="l" fontAlgn="t">
                        <a:buNone/>
                      </a:pPr>
                      <a:r>
                        <a:rPr lang="en-US" dirty="0">
                          <a:solidFill>
                            <a:srgbClr val="336297"/>
                          </a:solidFill>
                          <a:effectLst/>
                          <a:latin typeface="+mn-lt"/>
                        </a:rPr>
                        <a:t>PowerShell 7.5</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a:solidFill>
                            <a:srgbClr val="336297"/>
                          </a:solidFill>
                          <a:effectLst/>
                          <a:latin typeface="+mn-lt"/>
                        </a:rPr>
                        <a:t>23-Jan-2025</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dirty="0">
                          <a:solidFill>
                            <a:srgbClr val="336297"/>
                          </a:solidFill>
                          <a:effectLst/>
                          <a:latin typeface="+mn-lt"/>
                        </a:rPr>
                        <a:t>10-Nov-2026</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u="none" strike="noStrike" dirty="0">
                          <a:solidFill>
                            <a:srgbClr val="75B6E7"/>
                          </a:solidFill>
                          <a:effectLst/>
                          <a:latin typeface="+mn-lt"/>
                          <a:hlinkClick r:id="rId5"/>
                        </a:rPr>
                        <a:t>.NET 9.0</a:t>
                      </a:r>
                      <a:endParaRPr lang="en-US" dirty="0">
                        <a:effectLst/>
                        <a:latin typeface="+mn-lt"/>
                      </a:endParaRP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79627727"/>
                  </a:ext>
                </a:extLst>
              </a:tr>
              <a:tr h="397006">
                <a:tc>
                  <a:txBody>
                    <a:bodyPr/>
                    <a:lstStyle/>
                    <a:p>
                      <a:pPr algn="l" fontAlgn="t">
                        <a:buNone/>
                      </a:pPr>
                      <a:r>
                        <a:rPr lang="en-US" dirty="0">
                          <a:solidFill>
                            <a:srgbClr val="336297"/>
                          </a:solidFill>
                          <a:effectLst/>
                          <a:latin typeface="+mn-lt"/>
                        </a:rPr>
                        <a:t>PowerShell 7.4 (LTS)</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dirty="0">
                          <a:solidFill>
                            <a:srgbClr val="336297"/>
                          </a:solidFill>
                          <a:effectLst/>
                          <a:latin typeface="+mn-lt"/>
                        </a:rPr>
                        <a:t>16-Nov-2023</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dirty="0">
                          <a:solidFill>
                            <a:srgbClr val="336297"/>
                          </a:solidFill>
                          <a:effectLst/>
                          <a:latin typeface="+mn-lt"/>
                        </a:rPr>
                        <a:t>10-Nov-2026</a:t>
                      </a: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u="none" strike="noStrike" dirty="0">
                          <a:solidFill>
                            <a:srgbClr val="75B6E7"/>
                          </a:solidFill>
                          <a:effectLst/>
                          <a:hlinkClick r:id="rId6"/>
                        </a:rPr>
                        <a:t>.NET 8.0</a:t>
                      </a:r>
                      <a:endParaRPr lang="en-US" dirty="0">
                        <a:effectLst/>
                      </a:endParaRPr>
                    </a:p>
                  </a:txBody>
                  <a:tcP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298880971"/>
                  </a:ext>
                </a:extLst>
              </a:tr>
              <a:tr h="397006">
                <a:tc>
                  <a:txBody>
                    <a:bodyPr/>
                    <a:lstStyle/>
                    <a:p>
                      <a:pPr algn="l" fontAlgn="t">
                        <a:buNone/>
                      </a:pPr>
                      <a:r>
                        <a:rPr lang="en-US" sz="1800" b="0" i="0" u="none" strike="noStrike" dirty="0">
                          <a:solidFill>
                            <a:srgbClr val="336297"/>
                          </a:solidFill>
                          <a:effectLst/>
                          <a:latin typeface="+mn-lt"/>
                        </a:rPr>
                        <a:t>PowerShell 7.3</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dirty="0">
                          <a:solidFill>
                            <a:srgbClr val="336297"/>
                          </a:solidFill>
                          <a:effectLst/>
                          <a:latin typeface="+mn-lt"/>
                        </a:rPr>
                        <a:t>09-Nov-2022</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08-May-2024</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dirty="0">
                          <a:solidFill>
                            <a:srgbClr val="75B6E7"/>
                          </a:solidFill>
                          <a:effectLst/>
                          <a:latin typeface="+mn-lt"/>
                          <a:hlinkClick r:id="rId7"/>
                        </a:rPr>
                        <a:t>.NET 7.0</a:t>
                      </a:r>
                      <a:endParaRPr lang="en-US" sz="1800" b="0" i="0" u="none" strike="noStrike" dirty="0">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510563146"/>
                  </a:ext>
                </a:extLst>
              </a:tr>
              <a:tr h="397006">
                <a:tc>
                  <a:txBody>
                    <a:bodyPr/>
                    <a:lstStyle/>
                    <a:p>
                      <a:pPr algn="l" fontAlgn="t">
                        <a:buNone/>
                      </a:pPr>
                      <a:r>
                        <a:rPr lang="en-US" sz="1800" b="0" i="0" u="none" strike="noStrike">
                          <a:solidFill>
                            <a:srgbClr val="336297"/>
                          </a:solidFill>
                          <a:effectLst/>
                          <a:latin typeface="+mn-lt"/>
                        </a:rPr>
                        <a:t>PowerShell 7.2 (LTS)</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08-Nov-2021</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08-Nov-2024</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a:solidFill>
                            <a:srgbClr val="75B6E7"/>
                          </a:solidFill>
                          <a:effectLst/>
                          <a:latin typeface="+mn-lt"/>
                          <a:hlinkClick r:id="rId8"/>
                        </a:rPr>
                        <a:t>.NET 6.0</a:t>
                      </a:r>
                      <a:endParaRPr lang="en-US" sz="1800" b="0" i="0" u="none" strike="noStrike">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3653227455"/>
                  </a:ext>
                </a:extLst>
              </a:tr>
              <a:tr h="397006">
                <a:tc>
                  <a:txBody>
                    <a:bodyPr/>
                    <a:lstStyle/>
                    <a:p>
                      <a:pPr algn="l" fontAlgn="t">
                        <a:buNone/>
                      </a:pPr>
                      <a:r>
                        <a:rPr lang="en-US" sz="1800" b="0" i="0" u="none" strike="noStrike">
                          <a:solidFill>
                            <a:srgbClr val="336297"/>
                          </a:solidFill>
                          <a:effectLst/>
                          <a:latin typeface="+mn-lt"/>
                        </a:rPr>
                        <a:t>PowerShell 7.1</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11-Nov-2020</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08-May-2022</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a:solidFill>
                            <a:srgbClr val="75B6E7"/>
                          </a:solidFill>
                          <a:effectLst/>
                          <a:latin typeface="+mn-lt"/>
                          <a:hlinkClick r:id="rId9"/>
                        </a:rPr>
                        <a:t>.NET 5.0</a:t>
                      </a:r>
                      <a:endParaRPr lang="en-US" sz="1800" b="0" i="0" u="none" strike="noStrike">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1872337628"/>
                  </a:ext>
                </a:extLst>
              </a:tr>
              <a:tr h="397006">
                <a:tc>
                  <a:txBody>
                    <a:bodyPr/>
                    <a:lstStyle/>
                    <a:p>
                      <a:pPr algn="l" fontAlgn="t">
                        <a:buNone/>
                      </a:pPr>
                      <a:r>
                        <a:rPr lang="en-US" sz="1800" b="0" i="0" u="none" strike="noStrike">
                          <a:solidFill>
                            <a:srgbClr val="336297"/>
                          </a:solidFill>
                          <a:effectLst/>
                          <a:latin typeface="+mn-lt"/>
                        </a:rPr>
                        <a:t>PowerShell 7.0 (LTS)</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04-Mar-2020</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03-Dec-2022</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a:solidFill>
                            <a:srgbClr val="75B6E7"/>
                          </a:solidFill>
                          <a:effectLst/>
                          <a:latin typeface="+mn-lt"/>
                          <a:hlinkClick r:id="rId10"/>
                        </a:rPr>
                        <a:t>.NET Core 3.1</a:t>
                      </a:r>
                      <a:endParaRPr lang="en-US" sz="1800" b="0" i="0" u="none" strike="noStrike">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470470623"/>
                  </a:ext>
                </a:extLst>
              </a:tr>
              <a:tr h="397006">
                <a:tc>
                  <a:txBody>
                    <a:bodyPr/>
                    <a:lstStyle/>
                    <a:p>
                      <a:pPr algn="l" fontAlgn="t">
                        <a:buNone/>
                      </a:pPr>
                      <a:r>
                        <a:rPr lang="en-US" sz="1800" b="0" i="0" u="none" strike="noStrike">
                          <a:solidFill>
                            <a:srgbClr val="336297"/>
                          </a:solidFill>
                          <a:effectLst/>
                          <a:latin typeface="+mn-lt"/>
                        </a:rPr>
                        <a:t>PowerShell 6.2</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29-Mar-2019</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04-Sep-2020</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a:solidFill>
                            <a:srgbClr val="75B6E7"/>
                          </a:solidFill>
                          <a:effectLst/>
                          <a:latin typeface="+mn-lt"/>
                          <a:hlinkClick r:id="rId11"/>
                        </a:rPr>
                        <a:t>.NET Core 2.1</a:t>
                      </a:r>
                      <a:endParaRPr lang="en-US" sz="1800" b="0" i="0" u="none" strike="noStrike">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2512744234"/>
                  </a:ext>
                </a:extLst>
              </a:tr>
              <a:tr h="397006">
                <a:tc>
                  <a:txBody>
                    <a:bodyPr/>
                    <a:lstStyle/>
                    <a:p>
                      <a:pPr algn="l" fontAlgn="t">
                        <a:buNone/>
                      </a:pPr>
                      <a:r>
                        <a:rPr lang="en-US" sz="1800" b="0" i="0" u="none" strike="noStrike">
                          <a:solidFill>
                            <a:srgbClr val="336297"/>
                          </a:solidFill>
                          <a:effectLst/>
                          <a:latin typeface="+mn-lt"/>
                        </a:rPr>
                        <a:t>PowerShell 6.1</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13-Sep-2018</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a:solidFill>
                            <a:srgbClr val="336297"/>
                          </a:solidFill>
                          <a:effectLst/>
                          <a:latin typeface="+mn-lt"/>
                        </a:rPr>
                        <a:t>28-Sep-2019</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a:solidFill>
                            <a:srgbClr val="75B6E7"/>
                          </a:solidFill>
                          <a:effectLst/>
                          <a:latin typeface="+mn-lt"/>
                          <a:hlinkClick r:id="rId11"/>
                        </a:rPr>
                        <a:t>.NET Core 2.1</a:t>
                      </a:r>
                      <a:endParaRPr lang="en-US" sz="1800" b="0" i="0" u="none" strike="noStrike">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594526909"/>
                  </a:ext>
                </a:extLst>
              </a:tr>
              <a:tr h="397006">
                <a:tc>
                  <a:txBody>
                    <a:bodyPr/>
                    <a:lstStyle/>
                    <a:p>
                      <a:pPr algn="l" fontAlgn="t">
                        <a:buNone/>
                      </a:pPr>
                      <a:r>
                        <a:rPr lang="en-US" sz="1800" b="0" i="0" u="none" strike="noStrike" dirty="0">
                          <a:solidFill>
                            <a:srgbClr val="336297"/>
                          </a:solidFill>
                          <a:effectLst/>
                          <a:latin typeface="+mn-lt"/>
                        </a:rPr>
                        <a:t>PowerShell 6.0</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dirty="0">
                          <a:solidFill>
                            <a:srgbClr val="336297"/>
                          </a:solidFill>
                          <a:effectLst/>
                          <a:latin typeface="+mn-lt"/>
                        </a:rPr>
                        <a:t>20-Jan-2018</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ctr" fontAlgn="t">
                        <a:buNone/>
                      </a:pPr>
                      <a:r>
                        <a:rPr lang="en-US" sz="1800" b="0" i="0" u="none" strike="noStrike" dirty="0">
                          <a:solidFill>
                            <a:srgbClr val="336297"/>
                          </a:solidFill>
                          <a:effectLst/>
                          <a:latin typeface="+mn-lt"/>
                        </a:rPr>
                        <a:t>13-Feb-2019</a:t>
                      </a: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tc>
                  <a:txBody>
                    <a:bodyPr/>
                    <a:lstStyle/>
                    <a:p>
                      <a:pPr algn="l" fontAlgn="t">
                        <a:buNone/>
                      </a:pPr>
                      <a:r>
                        <a:rPr lang="en-US" sz="1800" b="0" i="0" u="none" strike="noStrike" dirty="0">
                          <a:solidFill>
                            <a:srgbClr val="75B6E7"/>
                          </a:solidFill>
                          <a:effectLst/>
                          <a:latin typeface="+mn-lt"/>
                          <a:hlinkClick r:id="rId12"/>
                        </a:rPr>
                        <a:t>.NET Core 2.0</a:t>
                      </a:r>
                      <a:endParaRPr lang="en-US" sz="1800" b="0" i="0" u="none" strike="noStrike" dirty="0">
                        <a:effectLst/>
                        <a:latin typeface="+mn-lt"/>
                      </a:endParaRPr>
                    </a:p>
                  </a:txBody>
                  <a:tcPr marL="90229" marR="90229" marT="45114" marB="45114">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noFill/>
                  </a:tcPr>
                </a:tc>
                <a:extLst>
                  <a:ext uri="{0D108BD9-81ED-4DB2-BD59-A6C34878D82A}">
                    <a16:rowId xmlns:a16="http://schemas.microsoft.com/office/drawing/2014/main" val="802038005"/>
                  </a:ext>
                </a:extLst>
              </a:tr>
            </a:tbl>
          </a:graphicData>
        </a:graphic>
      </p:graphicFrame>
      <p:sp>
        <p:nvSpPr>
          <p:cNvPr id="5" name="TextBox 4">
            <a:extLst>
              <a:ext uri="{FF2B5EF4-FFF2-40B4-BE49-F238E27FC236}">
                <a16:creationId xmlns:a16="http://schemas.microsoft.com/office/drawing/2014/main" id="{C1BB92FE-7E21-02C7-E3C4-8FA6E0183752}"/>
              </a:ext>
            </a:extLst>
          </p:cNvPr>
          <p:cNvSpPr txBox="1"/>
          <p:nvPr/>
        </p:nvSpPr>
        <p:spPr>
          <a:xfrm>
            <a:off x="1089891" y="5740589"/>
            <a:ext cx="10012218" cy="307777"/>
          </a:xfrm>
          <a:prstGeom prst="rect">
            <a:avLst/>
          </a:prstGeom>
          <a:noFill/>
        </p:spPr>
        <p:txBody>
          <a:bodyPr wrap="square">
            <a:spAutoFit/>
          </a:bodyPr>
          <a:lstStyle/>
          <a:p>
            <a:pPr marL="0" indent="0" algn="ctr">
              <a:buNone/>
            </a:pPr>
            <a:r>
              <a:rPr lang="en-US" sz="1400" dirty="0">
                <a:latin typeface="Cascadia Code" panose="020B0609020000020004" pitchFamily="34" charset="0"/>
                <a:ea typeface="Cascadia Code" panose="020B0609020000020004" pitchFamily="34" charset="0"/>
                <a:cs typeface="Cascadia Code" panose="020B0609020000020004" pitchFamily="34" charset="0"/>
              </a:rPr>
              <a:t>[</a:t>
            </a:r>
            <a:r>
              <a:rPr lang="en-US" sz="1400" dirty="0" err="1">
                <a:latin typeface="Cascadia Code" panose="020B0609020000020004" pitchFamily="34" charset="0"/>
                <a:ea typeface="Cascadia Code" panose="020B0609020000020004" pitchFamily="34" charset="0"/>
                <a:cs typeface="Cascadia Code" panose="020B0609020000020004" pitchFamily="34" charset="0"/>
              </a:rPr>
              <a:t>System.Runtime.InteropServices.RuntimeInformation</a:t>
            </a:r>
            <a:r>
              <a:rPr lang="en-US" sz="1400" dirty="0">
                <a:latin typeface="Cascadia Code" panose="020B0609020000020004" pitchFamily="34" charset="0"/>
                <a:ea typeface="Cascadia Code" panose="020B0609020000020004" pitchFamily="34" charset="0"/>
                <a:cs typeface="Cascadia Code" panose="020B0609020000020004" pitchFamily="34" charset="0"/>
              </a:rPr>
              <a:t>]::</a:t>
            </a:r>
            <a:r>
              <a:rPr lang="en-US" sz="1400" dirty="0" err="1">
                <a:latin typeface="Cascadia Code" panose="020B0609020000020004" pitchFamily="34" charset="0"/>
                <a:ea typeface="Cascadia Code" panose="020B0609020000020004" pitchFamily="34" charset="0"/>
                <a:cs typeface="Cascadia Code" panose="020B0609020000020004" pitchFamily="34" charset="0"/>
              </a:rPr>
              <a:t>FrameworkDescription</a:t>
            </a:r>
            <a:endParaRPr lang="en-US" sz="1400" dirty="0">
              <a:latin typeface="Cascadia Code" panose="020B0609020000020004" pitchFamily="34" charset="0"/>
              <a:ea typeface="Cascadia Code" panose="020B0609020000020004" pitchFamily="34" charset="0"/>
              <a:cs typeface="Cascadia Code" panose="020B0609020000020004" pitchFamily="34" charset="0"/>
            </a:endParaRPr>
          </a:p>
        </p:txBody>
      </p:sp>
    </p:spTree>
    <p:extLst>
      <p:ext uri="{BB962C8B-B14F-4D97-AF65-F5344CB8AC3E}">
        <p14:creationId xmlns:p14="http://schemas.microsoft.com/office/powerpoint/2010/main" val="2497740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2526-107B-9CF1-273C-31DB3009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E2129-F77B-5664-4FB3-7FBE53ECCCD9}"/>
              </a:ext>
            </a:extLst>
          </p:cNvPr>
          <p:cNvSpPr>
            <a:spLocks noGrp="1"/>
          </p:cNvSpPr>
          <p:nvPr>
            <p:ph type="title"/>
          </p:nvPr>
        </p:nvSpPr>
        <p:spPr/>
        <p:txBody>
          <a:bodyPr/>
          <a:lstStyle/>
          <a:p>
            <a:r>
              <a:rPr lang="en-US" dirty="0"/>
              <a:t>Version Targeting Considerations</a:t>
            </a:r>
          </a:p>
        </p:txBody>
      </p:sp>
      <p:sp>
        <p:nvSpPr>
          <p:cNvPr id="3" name="Content Placeholder 2">
            <a:extLst>
              <a:ext uri="{FF2B5EF4-FFF2-40B4-BE49-F238E27FC236}">
                <a16:creationId xmlns:a16="http://schemas.microsoft.com/office/drawing/2014/main" id="{CBF3EC65-ABCC-42C6-60BE-B9A92A175623}"/>
              </a:ext>
            </a:extLst>
          </p:cNvPr>
          <p:cNvSpPr>
            <a:spLocks noGrp="1"/>
          </p:cNvSpPr>
          <p:nvPr>
            <p:ph idx="1"/>
          </p:nvPr>
        </p:nvSpPr>
        <p:spPr>
          <a:xfrm>
            <a:off x="838200" y="1825625"/>
            <a:ext cx="11353800" cy="4351338"/>
          </a:xfrm>
        </p:spPr>
        <p:txBody>
          <a:bodyPr/>
          <a:lstStyle/>
          <a:p>
            <a:r>
              <a:rPr lang="en-US" dirty="0"/>
              <a:t>Pwsh 7.6+ / .NET 10+ if yes to any </a:t>
            </a:r>
            <a:r>
              <a:rPr lang="en-US" dirty="0">
                <a:solidFill>
                  <a:schemeClr val="bg2">
                    <a:lumMod val="75000"/>
                  </a:schemeClr>
                </a:solidFill>
              </a:rPr>
              <a:t>(or at least 7.4)</a:t>
            </a:r>
          </a:p>
          <a:p>
            <a:pPr lvl="1"/>
            <a:r>
              <a:rPr lang="en-US" dirty="0"/>
              <a:t>Need for Assembly Load Context?</a:t>
            </a:r>
          </a:p>
          <a:p>
            <a:pPr lvl="1"/>
            <a:r>
              <a:rPr lang="en-US" dirty="0"/>
              <a:t>Need for newer .NET APIs?</a:t>
            </a:r>
          </a:p>
          <a:p>
            <a:pPr lvl="1"/>
            <a:r>
              <a:rPr lang="en-US" dirty="0"/>
              <a:t>Dependencies only support newer .NET?</a:t>
            </a:r>
          </a:p>
        </p:txBody>
      </p:sp>
    </p:spTree>
    <p:extLst>
      <p:ext uri="{BB962C8B-B14F-4D97-AF65-F5344CB8AC3E}">
        <p14:creationId xmlns:p14="http://schemas.microsoft.com/office/powerpoint/2010/main" val="132183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0E8A3C-01BE-8CCC-82C4-5517679CEC18}"/>
              </a:ext>
            </a:extLst>
          </p:cNvPr>
          <p:cNvSpPr/>
          <p:nvPr/>
        </p:nvSpPr>
        <p:spPr>
          <a:xfrm>
            <a:off x="203662" y="1446415"/>
            <a:ext cx="11845636" cy="4808912"/>
          </a:xfrm>
          <a:prstGeom prst="rect">
            <a:avLst/>
          </a:prstGeom>
          <a:solidFill>
            <a:srgbClr val="19191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BE1FD97-933F-24CD-211D-5883D757832F}"/>
              </a:ext>
            </a:extLst>
          </p:cNvPr>
          <p:cNvSpPr txBox="1"/>
          <p:nvPr/>
        </p:nvSpPr>
        <p:spPr>
          <a:xfrm>
            <a:off x="5637069" y="1538195"/>
            <a:ext cx="638169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VerbsCommon</a:t>
            </a:r>
            <a:r>
              <a:rPr kumimoji="0" lang="en-US" sz="1800" b="0" i="0" u="none" strike="noStrike" kern="1200" cap="none" spc="0" normalizeH="0" baseline="0" noProof="0" dirty="0" err="1">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FC1FF"/>
                </a:solidFill>
                <a:effectLst/>
                <a:uLnTx/>
                <a:uFillTx/>
                <a:latin typeface="CaskaydiaCove NF" panose="02000009000000000000" pitchFamily="50" charset="0"/>
                <a:ea typeface="+mn-ea"/>
                <a:cs typeface="+mn-cs"/>
              </a:rPr>
              <a:t>Get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endPar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class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GetExampleCmdlet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 </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Cmdlet</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p:txBody>
      </p:sp>
      <p:sp>
        <p:nvSpPr>
          <p:cNvPr id="9" name="TextBox 8">
            <a:extLst>
              <a:ext uri="{FF2B5EF4-FFF2-40B4-BE49-F238E27FC236}">
                <a16:creationId xmlns:a16="http://schemas.microsoft.com/office/drawing/2014/main" id="{863D73CF-75E0-B533-B1A1-8784EA264A7B}"/>
              </a:ext>
            </a:extLst>
          </p:cNvPr>
          <p:cNvSpPr txBox="1"/>
          <p:nvPr/>
        </p:nvSpPr>
        <p:spPr>
          <a:xfrm>
            <a:off x="173240" y="1538195"/>
            <a:ext cx="4831022"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function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Get-Example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p:txBody>
      </p:sp>
      <p:cxnSp>
        <p:nvCxnSpPr>
          <p:cNvPr id="5" name="Straight Connector 4">
            <a:extLst>
              <a:ext uri="{FF2B5EF4-FFF2-40B4-BE49-F238E27FC236}">
                <a16:creationId xmlns:a16="http://schemas.microsoft.com/office/drawing/2014/main" id="{17E1B622-4C41-B6A6-FDD3-AEB0059AF3A8}"/>
              </a:ext>
            </a:extLst>
          </p:cNvPr>
          <p:cNvCxnSpPr>
            <a:cxnSpLocks/>
          </p:cNvCxnSpPr>
          <p:nvPr/>
        </p:nvCxnSpPr>
        <p:spPr>
          <a:xfrm>
            <a:off x="5374178" y="1446415"/>
            <a:ext cx="0" cy="4808912"/>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96CC4998-AF6D-C2F0-9514-99C2B3440A66}"/>
              </a:ext>
            </a:extLst>
          </p:cNvPr>
          <p:cNvSpPr>
            <a:spLocks noGrp="1"/>
          </p:cNvSpPr>
          <p:nvPr>
            <p:ph type="title"/>
          </p:nvPr>
        </p:nvSpPr>
        <p:spPr>
          <a:xfrm>
            <a:off x="838200" y="365125"/>
            <a:ext cx="9733280" cy="1325563"/>
          </a:xfrm>
        </p:spPr>
        <p:txBody>
          <a:bodyPr/>
          <a:lstStyle/>
          <a:p>
            <a:r>
              <a:rPr lang="en-US" dirty="0"/>
              <a:t>Advanced Functions vs Cmdlets</a:t>
            </a:r>
          </a:p>
        </p:txBody>
      </p:sp>
    </p:spTree>
    <p:extLst>
      <p:ext uri="{BB962C8B-B14F-4D97-AF65-F5344CB8AC3E}">
        <p14:creationId xmlns:p14="http://schemas.microsoft.com/office/powerpoint/2010/main" val="2591574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0E8A3C-01BE-8CCC-82C4-5517679CEC18}"/>
              </a:ext>
            </a:extLst>
          </p:cNvPr>
          <p:cNvSpPr/>
          <p:nvPr/>
        </p:nvSpPr>
        <p:spPr>
          <a:xfrm>
            <a:off x="203662" y="1446415"/>
            <a:ext cx="11845636" cy="4808912"/>
          </a:xfrm>
          <a:prstGeom prst="rect">
            <a:avLst/>
          </a:prstGeom>
          <a:solidFill>
            <a:srgbClr val="19191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BE1FD97-933F-24CD-211D-5883D757832F}"/>
              </a:ext>
            </a:extLst>
          </p:cNvPr>
          <p:cNvSpPr txBox="1"/>
          <p:nvPr/>
        </p:nvSpPr>
        <p:spPr>
          <a:xfrm>
            <a:off x="5637069" y="1538195"/>
            <a:ext cx="638169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VerbsCommon</a:t>
            </a:r>
            <a:r>
              <a:rPr kumimoji="0" lang="en-US" sz="1800" b="0" i="0" u="none" strike="noStrike" kern="1200" cap="none" spc="0" normalizeH="0" baseline="0" noProof="0" dirty="0" err="1">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FC1FF"/>
                </a:solidFill>
                <a:effectLst/>
                <a:uLnTx/>
                <a:uFillTx/>
                <a:latin typeface="CaskaydiaCove NF" panose="02000009000000000000" pitchFamily="50" charset="0"/>
                <a:ea typeface="+mn-ea"/>
                <a:cs typeface="+mn-cs"/>
              </a:rPr>
              <a:t>Get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endPar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class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GetExampleCmdlet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PSCmdlet</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p:txBody>
      </p:sp>
      <p:sp>
        <p:nvSpPr>
          <p:cNvPr id="9" name="TextBox 8">
            <a:extLst>
              <a:ext uri="{FF2B5EF4-FFF2-40B4-BE49-F238E27FC236}">
                <a16:creationId xmlns:a16="http://schemas.microsoft.com/office/drawing/2014/main" id="{863D73CF-75E0-B533-B1A1-8784EA264A7B}"/>
              </a:ext>
            </a:extLst>
          </p:cNvPr>
          <p:cNvSpPr txBox="1"/>
          <p:nvPr/>
        </p:nvSpPr>
        <p:spPr>
          <a:xfrm>
            <a:off x="173240" y="1538195"/>
            <a:ext cx="4831022"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function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Get-Example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CmdletBinding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  param</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p:txBody>
      </p:sp>
      <p:cxnSp>
        <p:nvCxnSpPr>
          <p:cNvPr id="5" name="Straight Connector 4">
            <a:extLst>
              <a:ext uri="{FF2B5EF4-FFF2-40B4-BE49-F238E27FC236}">
                <a16:creationId xmlns:a16="http://schemas.microsoft.com/office/drawing/2014/main" id="{17E1B622-4C41-B6A6-FDD3-AEB0059AF3A8}"/>
              </a:ext>
            </a:extLst>
          </p:cNvPr>
          <p:cNvCxnSpPr>
            <a:cxnSpLocks/>
          </p:cNvCxnSpPr>
          <p:nvPr/>
        </p:nvCxnSpPr>
        <p:spPr>
          <a:xfrm>
            <a:off x="5374178" y="1446415"/>
            <a:ext cx="0" cy="4808912"/>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911463E5-1CAC-9711-169B-4CF29F65FCBD}"/>
              </a:ext>
            </a:extLst>
          </p:cNvPr>
          <p:cNvSpPr>
            <a:spLocks noGrp="1"/>
          </p:cNvSpPr>
          <p:nvPr>
            <p:ph type="title"/>
          </p:nvPr>
        </p:nvSpPr>
        <p:spPr>
          <a:xfrm>
            <a:off x="838200" y="365125"/>
            <a:ext cx="9733280" cy="1325563"/>
          </a:xfrm>
        </p:spPr>
        <p:txBody>
          <a:bodyPr/>
          <a:lstStyle/>
          <a:p>
            <a:r>
              <a:rPr lang="en-US" dirty="0"/>
              <a:t>Advanced Functions vs Cmdlets</a:t>
            </a:r>
          </a:p>
        </p:txBody>
      </p:sp>
    </p:spTree>
    <p:extLst>
      <p:ext uri="{BB962C8B-B14F-4D97-AF65-F5344CB8AC3E}">
        <p14:creationId xmlns:p14="http://schemas.microsoft.com/office/powerpoint/2010/main" val="2824521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Char"/>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0E8A3C-01BE-8CCC-82C4-5517679CEC18}"/>
              </a:ext>
            </a:extLst>
          </p:cNvPr>
          <p:cNvSpPr/>
          <p:nvPr/>
        </p:nvSpPr>
        <p:spPr>
          <a:xfrm>
            <a:off x="203662" y="1446415"/>
            <a:ext cx="11845636" cy="4808912"/>
          </a:xfrm>
          <a:prstGeom prst="rect">
            <a:avLst/>
          </a:prstGeom>
          <a:solidFill>
            <a:srgbClr val="19191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BE1FD97-933F-24CD-211D-5883D757832F}"/>
              </a:ext>
            </a:extLst>
          </p:cNvPr>
          <p:cNvSpPr txBox="1"/>
          <p:nvPr/>
        </p:nvSpPr>
        <p:spPr>
          <a:xfrm>
            <a:off x="5637069" y="1538195"/>
            <a:ext cx="6381691"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VerbsCommon</a:t>
            </a:r>
            <a:r>
              <a:rPr kumimoji="0" lang="en-US" sz="1800" b="0" i="0" u="none" strike="noStrike" kern="1200" cap="none" spc="0" normalizeH="0" baseline="0" noProof="0" dirty="0" err="1">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FC1FF"/>
                </a:solidFill>
                <a:effectLst/>
                <a:uLnTx/>
                <a:uFillTx/>
                <a:latin typeface="CaskaydiaCove NF" panose="02000009000000000000" pitchFamily="50" charset="0"/>
                <a:ea typeface="+mn-ea"/>
                <a:cs typeface="+mn-cs"/>
              </a:rPr>
              <a:t>Get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endPar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class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GetExampleCmdlet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PSCmdlet</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Parameter</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Mandatory</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true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9CDCFE"/>
                </a:solidFill>
                <a:effectLst/>
                <a:uLnTx/>
                <a:uFillTx/>
                <a:latin typeface="CaskaydiaCove NF" panose="02000009000000000000" pitchFamily="50" charset="0"/>
                <a:ea typeface="+mn-ea"/>
                <a:cs typeface="+mn-cs"/>
              </a:rPr>
              <a:t>ValueFromPipeline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public</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string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p:txBody>
      </p:sp>
      <p:sp>
        <p:nvSpPr>
          <p:cNvPr id="9" name="TextBox 8">
            <a:extLst>
              <a:ext uri="{FF2B5EF4-FFF2-40B4-BE49-F238E27FC236}">
                <a16:creationId xmlns:a16="http://schemas.microsoft.com/office/drawing/2014/main" id="{863D73CF-75E0-B533-B1A1-8784EA264A7B}"/>
              </a:ext>
            </a:extLst>
          </p:cNvPr>
          <p:cNvSpPr txBox="1"/>
          <p:nvPr/>
        </p:nvSpPr>
        <p:spPr>
          <a:xfrm>
            <a:off x="173240" y="1538195"/>
            <a:ext cx="4831022"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function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Get-Example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CmdletBinding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  param</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Parameter</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Mandatory</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9CDCFE"/>
                </a:solidFill>
                <a:effectLst/>
                <a:uLnTx/>
                <a:uFillTx/>
                <a:latin typeface="CaskaydiaCove NF" panose="02000009000000000000" pitchFamily="50" charset="0"/>
                <a:ea typeface="+mn-ea"/>
                <a:cs typeface="+mn-cs"/>
              </a:rPr>
              <a:t>ValueFromPipeline</a:t>
            </a:r>
            <a:endPar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String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p:txBody>
      </p:sp>
      <p:cxnSp>
        <p:nvCxnSpPr>
          <p:cNvPr id="5" name="Straight Connector 4">
            <a:extLst>
              <a:ext uri="{FF2B5EF4-FFF2-40B4-BE49-F238E27FC236}">
                <a16:creationId xmlns:a16="http://schemas.microsoft.com/office/drawing/2014/main" id="{17E1B622-4C41-B6A6-FDD3-AEB0059AF3A8}"/>
              </a:ext>
            </a:extLst>
          </p:cNvPr>
          <p:cNvCxnSpPr>
            <a:cxnSpLocks/>
          </p:cNvCxnSpPr>
          <p:nvPr/>
        </p:nvCxnSpPr>
        <p:spPr>
          <a:xfrm>
            <a:off x="5374178" y="1446415"/>
            <a:ext cx="0" cy="4808912"/>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7FB4F794-28EE-503E-402D-3D179B67D3D9}"/>
              </a:ext>
            </a:extLst>
          </p:cNvPr>
          <p:cNvSpPr>
            <a:spLocks noGrp="1"/>
          </p:cNvSpPr>
          <p:nvPr>
            <p:ph type="title"/>
          </p:nvPr>
        </p:nvSpPr>
        <p:spPr>
          <a:xfrm>
            <a:off x="838200" y="365125"/>
            <a:ext cx="9733280" cy="1325563"/>
          </a:xfrm>
        </p:spPr>
        <p:txBody>
          <a:bodyPr/>
          <a:lstStyle/>
          <a:p>
            <a:r>
              <a:rPr lang="en-US" dirty="0"/>
              <a:t>Advanced Functions vs Cmdlets</a:t>
            </a:r>
          </a:p>
        </p:txBody>
      </p:sp>
    </p:spTree>
    <p:extLst>
      <p:ext uri="{BB962C8B-B14F-4D97-AF65-F5344CB8AC3E}">
        <p14:creationId xmlns:p14="http://schemas.microsoft.com/office/powerpoint/2010/main" val="36865749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Char"/>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0E8A3C-01BE-8CCC-82C4-5517679CEC18}"/>
              </a:ext>
            </a:extLst>
          </p:cNvPr>
          <p:cNvSpPr/>
          <p:nvPr/>
        </p:nvSpPr>
        <p:spPr>
          <a:xfrm>
            <a:off x="203662" y="1446415"/>
            <a:ext cx="11845636" cy="4808912"/>
          </a:xfrm>
          <a:prstGeom prst="rect">
            <a:avLst/>
          </a:prstGeom>
          <a:solidFill>
            <a:srgbClr val="19191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BE1FD97-933F-24CD-211D-5883D757832F}"/>
              </a:ext>
            </a:extLst>
          </p:cNvPr>
          <p:cNvSpPr txBox="1"/>
          <p:nvPr/>
        </p:nvSpPr>
        <p:spPr>
          <a:xfrm>
            <a:off x="5637069" y="1538195"/>
            <a:ext cx="6381691"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VerbsCommon</a:t>
            </a:r>
            <a:r>
              <a:rPr kumimoji="0" lang="en-US" sz="1800" b="0" i="0" u="none" strike="noStrike" kern="1200" cap="none" spc="0" normalizeH="0" baseline="0" noProof="0" dirty="0" err="1">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FC1FF"/>
                </a:solidFill>
                <a:effectLst/>
                <a:uLnTx/>
                <a:uFillTx/>
                <a:latin typeface="CaskaydiaCove NF" panose="02000009000000000000" pitchFamily="50" charset="0"/>
                <a:ea typeface="+mn-ea"/>
                <a:cs typeface="+mn-cs"/>
              </a:rPr>
              <a:t>Get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endPar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class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GetExampleCmdlet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PSCmdlet</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Parameter</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Mandatory</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true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9CDCFE"/>
                </a:solidFill>
                <a:effectLst/>
                <a:uLnTx/>
                <a:uFillTx/>
                <a:latin typeface="CaskaydiaCove NF" panose="02000009000000000000" pitchFamily="50" charset="0"/>
                <a:ea typeface="+mn-ea"/>
                <a:cs typeface="+mn-cs"/>
              </a:rPr>
              <a:t>ValueFromPipeline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public</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string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protected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override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void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BeginProcessing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b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b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protected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override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void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ProcessRecord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b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protected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override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void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EndProcessing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p:txBody>
      </p:sp>
      <p:sp>
        <p:nvSpPr>
          <p:cNvPr id="9" name="TextBox 8">
            <a:extLst>
              <a:ext uri="{FF2B5EF4-FFF2-40B4-BE49-F238E27FC236}">
                <a16:creationId xmlns:a16="http://schemas.microsoft.com/office/drawing/2014/main" id="{863D73CF-75E0-B533-B1A1-8784EA264A7B}"/>
              </a:ext>
            </a:extLst>
          </p:cNvPr>
          <p:cNvSpPr txBox="1"/>
          <p:nvPr/>
        </p:nvSpPr>
        <p:spPr>
          <a:xfrm>
            <a:off x="173240" y="1538195"/>
            <a:ext cx="4831022" cy="50783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function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Get-Example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CmdletBinding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  param</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Parameter</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Mandatory</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9CDCFE"/>
                </a:solidFill>
                <a:effectLst/>
                <a:uLnTx/>
                <a:uFillTx/>
                <a:latin typeface="CaskaydiaCove NF" panose="02000009000000000000" pitchFamily="50" charset="0"/>
                <a:ea typeface="+mn-ea"/>
                <a:cs typeface="+mn-cs"/>
              </a:rPr>
              <a:t>ValueFromPipeline</a:t>
            </a:r>
            <a:endPar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String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begin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process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end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p:txBody>
      </p:sp>
      <p:cxnSp>
        <p:nvCxnSpPr>
          <p:cNvPr id="5" name="Straight Connector 4">
            <a:extLst>
              <a:ext uri="{FF2B5EF4-FFF2-40B4-BE49-F238E27FC236}">
                <a16:creationId xmlns:a16="http://schemas.microsoft.com/office/drawing/2014/main" id="{17E1B622-4C41-B6A6-FDD3-AEB0059AF3A8}"/>
              </a:ext>
            </a:extLst>
          </p:cNvPr>
          <p:cNvCxnSpPr>
            <a:cxnSpLocks/>
          </p:cNvCxnSpPr>
          <p:nvPr/>
        </p:nvCxnSpPr>
        <p:spPr>
          <a:xfrm>
            <a:off x="5374178" y="1446415"/>
            <a:ext cx="0" cy="4808912"/>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37014E3D-AAFB-BE6C-9244-364CCAEF94CF}"/>
              </a:ext>
            </a:extLst>
          </p:cNvPr>
          <p:cNvSpPr>
            <a:spLocks noGrp="1"/>
          </p:cNvSpPr>
          <p:nvPr>
            <p:ph type="title"/>
          </p:nvPr>
        </p:nvSpPr>
        <p:spPr>
          <a:xfrm>
            <a:off x="838200" y="365125"/>
            <a:ext cx="9733280" cy="1325563"/>
          </a:xfrm>
        </p:spPr>
        <p:txBody>
          <a:bodyPr/>
          <a:lstStyle/>
          <a:p>
            <a:r>
              <a:rPr lang="en-US" dirty="0"/>
              <a:t>Advanced Functions vs Cmdlets</a:t>
            </a:r>
          </a:p>
        </p:txBody>
      </p:sp>
    </p:spTree>
    <p:extLst>
      <p:ext uri="{BB962C8B-B14F-4D97-AF65-F5344CB8AC3E}">
        <p14:creationId xmlns:p14="http://schemas.microsoft.com/office/powerpoint/2010/main" val="23034729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Char"/>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0E8A3C-01BE-8CCC-82C4-5517679CEC18}"/>
              </a:ext>
            </a:extLst>
          </p:cNvPr>
          <p:cNvSpPr/>
          <p:nvPr/>
        </p:nvSpPr>
        <p:spPr>
          <a:xfrm>
            <a:off x="203662" y="1446415"/>
            <a:ext cx="11845636" cy="4808912"/>
          </a:xfrm>
          <a:prstGeom prst="rect">
            <a:avLst/>
          </a:prstGeom>
          <a:solidFill>
            <a:srgbClr val="19191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BE1FD97-933F-24CD-211D-5883D757832F}"/>
              </a:ext>
            </a:extLst>
          </p:cNvPr>
          <p:cNvSpPr txBox="1"/>
          <p:nvPr/>
        </p:nvSpPr>
        <p:spPr>
          <a:xfrm>
            <a:off x="5637069" y="1538195"/>
            <a:ext cx="6381691" cy="480131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VerbsCommon</a:t>
            </a:r>
            <a:r>
              <a:rPr kumimoji="0" lang="en-US" sz="1800" b="0" i="0" u="none" strike="noStrike" kern="1200" cap="none" spc="0" normalizeH="0" baseline="0" noProof="0" dirty="0" err="1">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err="1">
                <a:ln>
                  <a:noFill/>
                </a:ln>
                <a:solidFill>
                  <a:srgbClr val="4FC1FF"/>
                </a:solidFill>
                <a:effectLst/>
                <a:uLnTx/>
                <a:uFillTx/>
                <a:latin typeface="CaskaydiaCove NF" panose="02000009000000000000" pitchFamily="50" charset="0"/>
                <a:ea typeface="+mn-ea"/>
                <a:cs typeface="+mn-cs"/>
              </a:rPr>
              <a:t>Get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endPar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class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GetExampleCmdlet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 </a:t>
            </a:r>
            <a:r>
              <a:rPr kumimoji="0" lang="en-US" sz="1800" b="0" i="0" u="none" strike="noStrike" kern="1200" cap="none" spc="0" normalizeH="0" baseline="0" noProof="0" dirty="0" err="1">
                <a:ln>
                  <a:noFill/>
                </a:ln>
                <a:solidFill>
                  <a:srgbClr val="4EC9B0"/>
                </a:solidFill>
                <a:effectLst/>
                <a:uLnTx/>
                <a:uFillTx/>
                <a:latin typeface="CaskaydiaCove NF" panose="02000009000000000000" pitchFamily="50" charset="0"/>
                <a:ea typeface="+mn-ea"/>
                <a:cs typeface="+mn-cs"/>
              </a:rPr>
              <a:t>PSCmdlet</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4EC9B0"/>
                </a:solidFill>
                <a:effectLst/>
                <a:uLnTx/>
                <a:uFillTx/>
                <a:latin typeface="CaskaydiaCove NF" panose="02000009000000000000" pitchFamily="50" charset="0"/>
                <a:ea typeface="+mn-ea"/>
                <a:cs typeface="+mn-cs"/>
              </a:rPr>
              <a:t>Parameter</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Mandatory</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true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9CDCFE"/>
                </a:solidFill>
                <a:effectLst/>
                <a:uLnTx/>
                <a:uFillTx/>
                <a:latin typeface="CaskaydiaCove NF" panose="02000009000000000000" pitchFamily="50" charset="0"/>
                <a:ea typeface="+mn-ea"/>
                <a:cs typeface="+mn-cs"/>
              </a:rPr>
              <a:t>ValueFromPipeline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public</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string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protected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override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void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BeginProcessing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b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b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protected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override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void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ProcessRecord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WriteObject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$"Hello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b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protected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override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void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EndProcessing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p:txBody>
      </p:sp>
      <p:sp>
        <p:nvSpPr>
          <p:cNvPr id="9" name="TextBox 8">
            <a:extLst>
              <a:ext uri="{FF2B5EF4-FFF2-40B4-BE49-F238E27FC236}">
                <a16:creationId xmlns:a16="http://schemas.microsoft.com/office/drawing/2014/main" id="{863D73CF-75E0-B533-B1A1-8784EA264A7B}"/>
              </a:ext>
            </a:extLst>
          </p:cNvPr>
          <p:cNvSpPr txBox="1"/>
          <p:nvPr/>
        </p:nvSpPr>
        <p:spPr>
          <a:xfrm>
            <a:off x="173240" y="1538195"/>
            <a:ext cx="4831022" cy="563231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function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Get-Example</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DCDCAA"/>
                </a:solidFill>
                <a:effectLst/>
                <a:uLnTx/>
                <a:uFillTx/>
                <a:latin typeface="CaskaydiaCove NF" panose="02000009000000000000" pitchFamily="50" charset="0"/>
                <a:ea typeface="+mn-ea"/>
                <a:cs typeface="+mn-cs"/>
              </a:rPr>
              <a:t>CmdletBinding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  param</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DCDCAA"/>
                </a:solidFill>
                <a:effectLst/>
                <a:uLnTx/>
                <a:uFillTx/>
                <a:latin typeface="CaskaydiaCove NF" panose="02000009000000000000" pitchFamily="50" charset="0"/>
                <a:ea typeface="+mn-ea"/>
                <a:cs typeface="+mn-cs"/>
              </a:rPr>
              <a:t>Parameter</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Mandatory</a:t>
            </a:r>
            <a:r>
              <a:rPr kumimoji="0" lang="en-US" sz="1800" b="0" i="0" u="none" strike="noStrike" kern="1200" cap="none" spc="0" normalizeH="0" baseline="0" noProof="0" dirty="0">
                <a:ln>
                  <a:noFill/>
                </a:ln>
                <a:solidFill>
                  <a:srgbClr val="D4D4D4"/>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err="1">
                <a:ln>
                  <a:noFill/>
                </a:ln>
                <a:solidFill>
                  <a:srgbClr val="9CDCFE"/>
                </a:solidFill>
                <a:effectLst/>
                <a:uLnTx/>
                <a:uFillTx/>
                <a:latin typeface="CaskaydiaCove NF" panose="02000009000000000000" pitchFamily="50" charset="0"/>
                <a:ea typeface="+mn-ea"/>
                <a:cs typeface="+mn-cs"/>
              </a:rPr>
              <a:t>ValueFromPipeline</a:t>
            </a:r>
            <a:endPar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569CD6"/>
                </a:solidFill>
                <a:effectLst/>
                <a:uLnTx/>
                <a:uFillTx/>
                <a:latin typeface="CaskaydiaCove NF" panose="02000009000000000000" pitchFamily="50" charset="0"/>
                <a:ea typeface="+mn-ea"/>
                <a:cs typeface="+mn-cs"/>
              </a:rPr>
              <a:t>String</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begin</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process</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"Hello </a:t>
            </a:r>
            <a:r>
              <a:rPr kumimoji="0" lang="en-US" sz="1800" b="0" i="0" u="none" strike="noStrike" kern="1200" cap="none" spc="0" normalizeH="0" baseline="0" noProof="0" dirty="0">
                <a:ln>
                  <a:noFill/>
                </a:ln>
                <a:solidFill>
                  <a:srgbClr val="9CDCFE"/>
                </a:solidFill>
                <a:effectLst/>
                <a:uLnTx/>
                <a:uFillTx/>
                <a:latin typeface="CaskaydiaCove NF" panose="02000009000000000000" pitchFamily="50" charset="0"/>
                <a:ea typeface="+mn-ea"/>
                <a:cs typeface="+mn-cs"/>
              </a:rPr>
              <a:t>$Name</a:t>
            </a:r>
            <a:r>
              <a:rPr kumimoji="0" lang="en-US" sz="1800" b="0" i="0" u="none" strike="noStrike" kern="1200" cap="none" spc="0" normalizeH="0" baseline="0" noProof="0" dirty="0">
                <a:ln>
                  <a:noFill/>
                </a:ln>
                <a:solidFill>
                  <a:srgbClr val="CE9178"/>
                </a:solidFill>
                <a:effectLst/>
                <a:uLnTx/>
                <a:uFillTx/>
                <a:latin typeface="CaskaydiaCove NF" panose="02000009000000000000" pitchFamily="50" charset="0"/>
                <a:ea typeface="+mn-ea"/>
                <a:cs typeface="+mn-cs"/>
              </a:rPr>
              <a:t>"</a:t>
            </a: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r>
              <a:rPr kumimoji="0" lang="en-US" sz="1800" b="0" i="0" u="none" strike="noStrike" kern="1200" cap="none" spc="0" normalizeH="0" baseline="0" noProof="0" dirty="0">
                <a:ln>
                  <a:noFill/>
                </a:ln>
                <a:solidFill>
                  <a:srgbClr val="C586C0"/>
                </a:solidFill>
                <a:effectLst/>
                <a:uLnTx/>
                <a:uFillTx/>
                <a:latin typeface="CaskaydiaCove NF" panose="02000009000000000000" pitchFamily="50" charset="0"/>
                <a:ea typeface="+mn-ea"/>
                <a:cs typeface="+mn-cs"/>
              </a:rPr>
              <a:t>end</a:t>
            </a: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CCCCC"/>
              </a:solidFill>
              <a:effectLst/>
              <a:uLnTx/>
              <a:uFillTx/>
              <a:latin typeface="CaskaydiaCove NF" panose="02000009000000000000" pitchFamily="50" charset="0"/>
              <a:ea typeface="+mn-ea"/>
              <a:cs typeface="+mn-cs"/>
            </a:endParaRPr>
          </a:p>
        </p:txBody>
      </p:sp>
      <p:cxnSp>
        <p:nvCxnSpPr>
          <p:cNvPr id="5" name="Straight Connector 4">
            <a:extLst>
              <a:ext uri="{FF2B5EF4-FFF2-40B4-BE49-F238E27FC236}">
                <a16:creationId xmlns:a16="http://schemas.microsoft.com/office/drawing/2014/main" id="{17E1B622-4C41-B6A6-FDD3-AEB0059AF3A8}"/>
              </a:ext>
            </a:extLst>
          </p:cNvPr>
          <p:cNvCxnSpPr>
            <a:cxnSpLocks/>
          </p:cNvCxnSpPr>
          <p:nvPr/>
        </p:nvCxnSpPr>
        <p:spPr>
          <a:xfrm>
            <a:off x="5374178" y="1446415"/>
            <a:ext cx="0" cy="4808912"/>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577823C9-F6BA-5840-F246-1567044FD1B5}"/>
              </a:ext>
            </a:extLst>
          </p:cNvPr>
          <p:cNvSpPr>
            <a:spLocks noGrp="1"/>
          </p:cNvSpPr>
          <p:nvPr>
            <p:ph type="title"/>
          </p:nvPr>
        </p:nvSpPr>
        <p:spPr>
          <a:xfrm>
            <a:off x="838200" y="365125"/>
            <a:ext cx="9733280" cy="1325563"/>
          </a:xfrm>
        </p:spPr>
        <p:txBody>
          <a:bodyPr/>
          <a:lstStyle/>
          <a:p>
            <a:r>
              <a:rPr lang="en-US" dirty="0"/>
              <a:t>Advanced Functions vs Cmdlets</a:t>
            </a:r>
          </a:p>
        </p:txBody>
      </p:sp>
    </p:spTree>
    <p:extLst>
      <p:ext uri="{BB962C8B-B14F-4D97-AF65-F5344CB8AC3E}">
        <p14:creationId xmlns:p14="http://schemas.microsoft.com/office/powerpoint/2010/main" val="33305713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Char"/>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C6CF0-53B4-D101-15FB-00ACFCAF9636}"/>
              </a:ext>
            </a:extLst>
          </p:cNvPr>
          <p:cNvSpPr>
            <a:spLocks noGrp="1"/>
          </p:cNvSpPr>
          <p:nvPr>
            <p:ph type="title"/>
          </p:nvPr>
        </p:nvSpPr>
        <p:spPr/>
        <p:txBody>
          <a:bodyPr/>
          <a:lstStyle/>
          <a:p>
            <a:r>
              <a:rPr lang="en-US" dirty="0"/>
              <a:t>What are we making today?</a:t>
            </a:r>
          </a:p>
        </p:txBody>
      </p:sp>
      <p:sp>
        <p:nvSpPr>
          <p:cNvPr id="3" name="Content Placeholder 2">
            <a:extLst>
              <a:ext uri="{FF2B5EF4-FFF2-40B4-BE49-F238E27FC236}">
                <a16:creationId xmlns:a16="http://schemas.microsoft.com/office/drawing/2014/main" id="{C3EB20A4-4446-DCBE-D15D-A9141F97DAB8}"/>
              </a:ext>
            </a:extLst>
          </p:cNvPr>
          <p:cNvSpPr>
            <a:spLocks noGrp="1"/>
          </p:cNvSpPr>
          <p:nvPr>
            <p:ph idx="1"/>
          </p:nvPr>
        </p:nvSpPr>
        <p:spPr>
          <a:xfrm>
            <a:off x="838199" y="1825625"/>
            <a:ext cx="11473873" cy="4351338"/>
          </a:xfrm>
        </p:spPr>
        <p:txBody>
          <a:bodyPr>
            <a:normAutofit/>
          </a:bodyPr>
          <a:lstStyle/>
          <a:p>
            <a:r>
              <a:rPr lang="en-US" sz="3400" dirty="0"/>
              <a:t>A module for Messaging with SDK </a:t>
            </a:r>
            <a:r>
              <a:rPr lang="en-US" sz="3400" dirty="0" err="1"/>
              <a:t>Azure.Storage.Queues</a:t>
            </a:r>
            <a:r>
              <a:rPr lang="en-US" sz="3400" dirty="0"/>
              <a:t>…</a:t>
            </a:r>
          </a:p>
          <a:p>
            <a:r>
              <a:rPr lang="en-US" sz="3400" dirty="0"/>
              <a:t>… open source in a public repository on GitHub</a:t>
            </a:r>
          </a:p>
          <a:p>
            <a:r>
              <a:rPr lang="en-US" sz="3400" dirty="0"/>
              <a:t>… with a pipeline for Build/Test/Release</a:t>
            </a:r>
          </a:p>
          <a:p>
            <a:r>
              <a:rPr lang="en-US" sz="3400" dirty="0"/>
              <a:t>… using Sampler, Pester</a:t>
            </a:r>
          </a:p>
          <a:p>
            <a:r>
              <a:rPr lang="en-US" sz="3400" dirty="0"/>
              <a:t>… in 30~ish minutes?</a:t>
            </a:r>
          </a:p>
        </p:txBody>
      </p:sp>
      <mc:AlternateContent xmlns:mc="http://schemas.openxmlformats.org/markup-compatibility/2006">
        <mc:Choice xmlns:p14="http://schemas.microsoft.com/office/powerpoint/2010/main" Requires="p14">
          <p:contentPart p14:bwMode="auto" r:id="rId2">
            <p14:nvContentPartPr>
              <p14:cNvPr id="78" name="Ink 77">
                <a:extLst>
                  <a:ext uri="{FF2B5EF4-FFF2-40B4-BE49-F238E27FC236}">
                    <a16:creationId xmlns:a16="http://schemas.microsoft.com/office/drawing/2014/main" id="{D99206C9-368D-01B9-F930-1297FF779715}"/>
                  </a:ext>
                </a:extLst>
              </p14:cNvPr>
              <p14:cNvContentPartPr/>
              <p14:nvPr/>
            </p14:nvContentPartPr>
            <p14:xfrm>
              <a:off x="2355274" y="3500582"/>
              <a:ext cx="3121891" cy="741219"/>
            </p14:xfrm>
          </p:contentPart>
        </mc:Choice>
        <mc:Fallback>
          <p:pic>
            <p:nvPicPr>
              <p:cNvPr id="78" name="Ink 77">
                <a:extLst>
                  <a:ext uri="{FF2B5EF4-FFF2-40B4-BE49-F238E27FC236}">
                    <a16:creationId xmlns:a16="http://schemas.microsoft.com/office/drawing/2014/main" id="{D99206C9-368D-01B9-F930-1297FF779715}"/>
                  </a:ext>
                </a:extLst>
              </p:cNvPr>
              <p:cNvPicPr/>
              <p:nvPr/>
            </p:nvPicPr>
            <p:blipFill>
              <a:blip r:embed="rId3"/>
              <a:stretch>
                <a:fillRect/>
              </a:stretch>
            </p:blipFill>
            <p:spPr>
              <a:xfrm>
                <a:off x="2337274" y="3482583"/>
                <a:ext cx="3157531" cy="776858"/>
              </a:xfrm>
              <a:prstGeom prst="rect">
                <a:avLst/>
              </a:prstGeom>
            </p:spPr>
          </p:pic>
        </mc:Fallback>
      </mc:AlternateContent>
    </p:spTree>
    <p:extLst>
      <p:ext uri="{BB962C8B-B14F-4D97-AF65-F5344CB8AC3E}">
        <p14:creationId xmlns:p14="http://schemas.microsoft.com/office/powerpoint/2010/main" val="138883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78"/>
                                        </p:tgtEl>
                                        <p:attrNameLst>
                                          <p:attrName>style.visibility</p:attrName>
                                        </p:attrNameLst>
                                      </p:cBhvr>
                                      <p:to>
                                        <p:strVal val="visible"/>
                                      </p:to>
                                    </p:set>
                                    <p:anim calcmode="lin" valueType="num">
                                      <p:cBhvr>
                                        <p:cTn id="27" dur="500" fill="hold"/>
                                        <p:tgtEl>
                                          <p:spTgt spid="78"/>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D64CF-57D8-CF0B-F466-19A141323B2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35506B3-41AE-4B24-877E-BCB8667526FC}"/>
              </a:ext>
            </a:extLst>
          </p:cNvPr>
          <p:cNvSpPr txBox="1">
            <a:spLocks/>
          </p:cNvSpPr>
          <p:nvPr/>
        </p:nvSpPr>
        <p:spPr>
          <a:xfrm>
            <a:off x="838199" y="365125"/>
            <a:ext cx="10873509" cy="1325563"/>
          </a:xfrm>
        </p:spPr>
        <p:txBody>
          <a:bodyPr>
            <a:normAutofit/>
          </a:bodyPr>
          <a:lst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a:lstStyle>
          <a:p>
            <a:r>
              <a:rPr lang="en-US" sz="3600" dirty="0">
                <a:latin typeface="+mn-lt"/>
              </a:rPr>
              <a:t>Demo! C# Module for Azure Storage Queues</a:t>
            </a:r>
          </a:p>
        </p:txBody>
      </p:sp>
      <p:pic>
        <p:nvPicPr>
          <p:cNvPr id="3" name="Picture 2">
            <a:extLst>
              <a:ext uri="{FF2B5EF4-FFF2-40B4-BE49-F238E27FC236}">
                <a16:creationId xmlns:a16="http://schemas.microsoft.com/office/drawing/2014/main" id="{D3E9E773-AE78-F595-5A4A-3252A0F94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9384" y="988291"/>
            <a:ext cx="5173232" cy="5173230"/>
          </a:xfrm>
          <a:prstGeom prst="rect">
            <a:avLst/>
          </a:prstGeom>
        </p:spPr>
      </p:pic>
    </p:spTree>
    <p:extLst>
      <p:ext uri="{BB962C8B-B14F-4D97-AF65-F5344CB8AC3E}">
        <p14:creationId xmlns:p14="http://schemas.microsoft.com/office/powerpoint/2010/main" val="126956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911F7-DC84-24C7-1977-6FC6CC8E9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7402C-BF63-D1B3-9A63-60BD1A8DB4A8}"/>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9724C6E8-837F-4FC7-E079-58C8EC0CD8F0}"/>
              </a:ext>
            </a:extLst>
          </p:cNvPr>
          <p:cNvSpPr>
            <a:spLocks noGrp="1"/>
          </p:cNvSpPr>
          <p:nvPr>
            <p:ph idx="1"/>
          </p:nvPr>
        </p:nvSpPr>
        <p:spPr>
          <a:xfrm>
            <a:off x="838199" y="1825625"/>
            <a:ext cx="11473873" cy="4351338"/>
          </a:xfrm>
        </p:spPr>
        <p:txBody>
          <a:bodyPr>
            <a:normAutofit/>
          </a:bodyPr>
          <a:lstStyle/>
          <a:p>
            <a:r>
              <a:rPr lang="en-US" sz="4400" dirty="0"/>
              <a:t>Taking advantage of the .NET ecosystem 📦</a:t>
            </a:r>
          </a:p>
          <a:p>
            <a:endParaRPr lang="en-US" sz="4400" dirty="0"/>
          </a:p>
          <a:p>
            <a:r>
              <a:rPr lang="en-US" sz="4400" dirty="0"/>
              <a:t>Utilizing community tools 🛠️</a:t>
            </a:r>
          </a:p>
          <a:p>
            <a:endParaRPr lang="en-US" sz="4400" dirty="0"/>
          </a:p>
          <a:p>
            <a:r>
              <a:rPr lang="en-US" sz="4400" dirty="0"/>
              <a:t>Building modules Open Source 📖</a:t>
            </a:r>
          </a:p>
        </p:txBody>
      </p:sp>
    </p:spTree>
    <p:extLst>
      <p:ext uri="{BB962C8B-B14F-4D97-AF65-F5344CB8AC3E}">
        <p14:creationId xmlns:p14="http://schemas.microsoft.com/office/powerpoint/2010/main" val="424745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sz="8000" dirty="0"/>
              <a:t>Q &amp; A &amp; Feedback!</a:t>
            </a:r>
          </a:p>
        </p:txBody>
      </p:sp>
      <p:pic>
        <p:nvPicPr>
          <p:cNvPr id="7" name="Picture 6">
            <a:extLst>
              <a:ext uri="{FF2B5EF4-FFF2-40B4-BE49-F238E27FC236}">
                <a16:creationId xmlns:a16="http://schemas.microsoft.com/office/drawing/2014/main" id="{399142B3-5267-93F6-3AA9-684833206696}"/>
              </a:ext>
            </a:extLst>
          </p:cNvPr>
          <p:cNvPicPr>
            <a:picLocks noChangeAspect="1"/>
          </p:cNvPicPr>
          <p:nvPr/>
        </p:nvPicPr>
        <p:blipFill>
          <a:blip r:embed="rId3">
            <a:extLst>
              <a:ext uri="{28A0092B-C50C-407E-A947-70E740481C1C}">
                <a14:useLocalDpi xmlns:a14="http://schemas.microsoft.com/office/drawing/2010/main" val="0"/>
              </a:ext>
            </a:extLst>
          </a:blip>
          <a:srcRect l="9049" t="8801" r="9082" b="9505"/>
          <a:stretch>
            <a:fillRect/>
          </a:stretch>
        </p:blipFill>
        <p:spPr>
          <a:xfrm>
            <a:off x="6435796" y="1472034"/>
            <a:ext cx="3525279" cy="3517815"/>
          </a:xfrm>
          <a:prstGeom prst="rect">
            <a:avLst/>
          </a:prstGeom>
        </p:spPr>
      </p:pic>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0549" y="1534026"/>
            <a:ext cx="1498270" cy="1663978"/>
          </a:xfrm>
          <a:prstGeom prst="rect">
            <a:avLst/>
          </a:prstGeom>
        </p:spPr>
      </p:pic>
      <p:sp>
        <p:nvSpPr>
          <p:cNvPr id="3" name="TextBox 2">
            <a:extLst>
              <a:ext uri="{FF2B5EF4-FFF2-40B4-BE49-F238E27FC236}">
                <a16:creationId xmlns:a16="http://schemas.microsoft.com/office/drawing/2014/main" id="{5BB82792-E8A7-C72D-000B-A202DC9A59A4}"/>
              </a:ext>
            </a:extLst>
          </p:cNvPr>
          <p:cNvSpPr txBox="1"/>
          <p:nvPr/>
        </p:nvSpPr>
        <p:spPr>
          <a:xfrm>
            <a:off x="247972" y="4825141"/>
            <a:ext cx="7857473" cy="1815882"/>
          </a:xfrm>
          <a:prstGeom prst="rect">
            <a:avLst/>
          </a:prstGeom>
          <a:noFill/>
        </p:spPr>
        <p:txBody>
          <a:bodyPr wrap="square">
            <a:spAutoFit/>
          </a:bodyPr>
          <a:lstStyle/>
          <a:p>
            <a:r>
              <a:rPr lang="en-US" sz="2800" dirty="0" err="1">
                <a:solidFill>
                  <a:srgbClr val="346297"/>
                </a:solidFill>
              </a:rPr>
              <a:t>powershellgallery.com</a:t>
            </a:r>
            <a:r>
              <a:rPr lang="en-US" sz="2800" dirty="0">
                <a:solidFill>
                  <a:srgbClr val="346297"/>
                </a:solidFill>
              </a:rPr>
              <a:t>/packages/Bicep</a:t>
            </a:r>
            <a:br>
              <a:rPr lang="en-US" sz="2800" dirty="0">
                <a:solidFill>
                  <a:srgbClr val="346297"/>
                </a:solidFill>
              </a:rPr>
            </a:br>
            <a:r>
              <a:rPr lang="en-US" sz="2800" dirty="0" err="1">
                <a:solidFill>
                  <a:srgbClr val="346297"/>
                </a:solidFill>
              </a:rPr>
              <a:t>powershellgallery.com</a:t>
            </a:r>
            <a:r>
              <a:rPr lang="en-US" sz="2800" dirty="0">
                <a:solidFill>
                  <a:srgbClr val="346297"/>
                </a:solidFill>
              </a:rPr>
              <a:t>/packages/</a:t>
            </a:r>
            <a:r>
              <a:rPr lang="en-US" sz="2800" dirty="0" err="1">
                <a:solidFill>
                  <a:srgbClr val="346297"/>
                </a:solidFill>
              </a:rPr>
              <a:t>AzAuth</a:t>
            </a:r>
            <a:br>
              <a:rPr lang="en-US" sz="2800" dirty="0">
                <a:solidFill>
                  <a:srgbClr val="346297"/>
                </a:solidFill>
              </a:rPr>
            </a:br>
            <a:r>
              <a:rPr lang="en-US" sz="2800" dirty="0" err="1">
                <a:solidFill>
                  <a:srgbClr val="346297"/>
                </a:solidFill>
              </a:rPr>
              <a:t>powershellgallery.com</a:t>
            </a:r>
            <a:r>
              <a:rPr lang="en-US" sz="2800" dirty="0">
                <a:solidFill>
                  <a:srgbClr val="346297"/>
                </a:solidFill>
              </a:rPr>
              <a:t>/packages/</a:t>
            </a:r>
            <a:r>
              <a:rPr lang="en-US" sz="2800" dirty="0" err="1">
                <a:solidFill>
                  <a:srgbClr val="346297"/>
                </a:solidFill>
              </a:rPr>
              <a:t>AzBobbyTables</a:t>
            </a:r>
            <a:br>
              <a:rPr lang="en-US" sz="2800" dirty="0">
                <a:solidFill>
                  <a:srgbClr val="346297"/>
                </a:solidFill>
              </a:rPr>
            </a:br>
            <a:r>
              <a:rPr lang="en-US" sz="2800" dirty="0" err="1">
                <a:solidFill>
                  <a:srgbClr val="CEA551"/>
                </a:solidFill>
              </a:rPr>
              <a:t>powershellgallery.com</a:t>
            </a:r>
            <a:r>
              <a:rPr lang="en-US" sz="2800" dirty="0">
                <a:solidFill>
                  <a:srgbClr val="CEA551"/>
                </a:solidFill>
              </a:rPr>
              <a:t>/packages/</a:t>
            </a:r>
            <a:r>
              <a:rPr lang="en-US" sz="2800" dirty="0" err="1">
                <a:solidFill>
                  <a:srgbClr val="CEA551"/>
                </a:solidFill>
              </a:rPr>
              <a:t>AzPigeon</a:t>
            </a:r>
            <a:endParaRPr lang="en-US" sz="2800" dirty="0">
              <a:solidFill>
                <a:srgbClr val="CEA551"/>
              </a:solidFill>
            </a:endParaRPr>
          </a:p>
        </p:txBody>
      </p:sp>
    </p:spTree>
    <p:extLst>
      <p:ext uri="{BB962C8B-B14F-4D97-AF65-F5344CB8AC3E}">
        <p14:creationId xmlns:p14="http://schemas.microsoft.com/office/powerpoint/2010/main" val="923274605"/>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2.xml><?xml version="1.0" encoding="utf-8"?>
<ds:datastoreItem xmlns:ds="http://schemas.openxmlformats.org/officeDocument/2006/customXml" ds:itemID="{AA9C06E3-346E-408E-B352-32E922A070CE}">
  <ds:schemaRefs>
    <ds:schemaRef ds:uri="2347cc20-e10c-452d-848a-c18e83138525"/>
    <ds:schemaRef ds:uri="58c243a5-121d-4837-b81c-114e1b569ece"/>
    <ds:schemaRef ds:uri="77f18391-c91f-4725-9130-63caf76c1806"/>
    <ds:schemaRef ds:uri="85c0ce47-fe9c-4809-bf88-519c39a738e6"/>
    <ds:schemaRef ds:uri="abdc9a1f-962e-4235-838d-61f9c438f4db"/>
    <ds:schemaRef ds:uri="de47e97d-64fd-4aef-b10e-fd7d6cfcfcf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9068</TotalTime>
  <Words>1701</Words>
  <Application>Microsoft Macintosh PowerPoint</Application>
  <PresentationFormat>Widescreen</PresentationFormat>
  <Paragraphs>301</Paragraphs>
  <Slides>25</Slides>
  <Notes>11</Notes>
  <HiddenSlides>1</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25</vt:i4>
      </vt:variant>
    </vt:vector>
  </HeadingPairs>
  <TitlesOfParts>
    <vt:vector size="38" baseType="lpstr">
      <vt:lpstr>Aptos</vt:lpstr>
      <vt:lpstr>Arial</vt:lpstr>
      <vt:lpstr>Calibri</vt:lpstr>
      <vt:lpstr>Cascadia Code</vt:lpstr>
      <vt:lpstr>CaskaydiaCove NF</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Building Open Source Modules in C#</vt:lpstr>
      <vt:lpstr>Previous PSConfEU sessions</vt:lpstr>
      <vt:lpstr>Many thanks to our sponsors:</vt:lpstr>
      <vt:lpstr>Emanuel Palm</vt:lpstr>
      <vt:lpstr>Ways to Write a Module</vt:lpstr>
      <vt:lpstr>Why?</vt:lpstr>
      <vt:lpstr>Examples of C# Modules</vt:lpstr>
      <vt:lpstr>What tooling do we need?</vt:lpstr>
      <vt:lpstr>Version Targeting</vt:lpstr>
      <vt:lpstr>PowerPoint Presentation</vt:lpstr>
      <vt:lpstr>Version Targeting Considerations</vt:lpstr>
      <vt:lpstr>Advanced Functions vs Cmdlets</vt:lpstr>
      <vt:lpstr>Advanced Functions vs Cmdlets</vt:lpstr>
      <vt:lpstr>Advanced Functions vs Cmdlets</vt:lpstr>
      <vt:lpstr>Advanced Functions vs Cmdlets</vt:lpstr>
      <vt:lpstr>Advanced Functions vs Cmdlets</vt:lpstr>
      <vt:lpstr>What are we making today?</vt:lpstr>
      <vt:lpstr>PowerPoint Presentation</vt:lpstr>
      <vt:lpstr>Takeaways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Emanuel Palm</cp:lastModifiedBy>
  <cp:revision>96</cp:revision>
  <dcterms:created xsi:type="dcterms:W3CDTF">2024-03-26T13:08:23Z</dcterms:created>
  <dcterms:modified xsi:type="dcterms:W3CDTF">2026-05-12T16:25:33Z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