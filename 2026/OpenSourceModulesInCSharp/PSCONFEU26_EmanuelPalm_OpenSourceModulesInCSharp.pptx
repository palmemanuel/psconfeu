
<file path=[Content_Types].xml><?xml version="1.0" encoding="utf-8"?>
<Types xmlns="http://schemas.openxmlformats.org/package/2006/content-types">
  <Default Extension="jpeg" ContentType="image/jpeg"/>
  <Default Extension="jpg" ContentType="image/pn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theme/theme3.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3.xml" ContentType="application/inkml+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97" r:id="rId5"/>
    <p:sldMasterId id="2147483695" r:id="rId6"/>
    <p:sldMasterId id="2147483684" r:id="rId7"/>
  </p:sldMasterIdLst>
  <p:notesMasterIdLst>
    <p:notesMasterId r:id="rId34"/>
  </p:notesMasterIdLst>
  <p:handoutMasterIdLst>
    <p:handoutMasterId r:id="rId35"/>
  </p:handoutMasterIdLst>
  <p:sldIdLst>
    <p:sldId id="271" r:id="rId8"/>
    <p:sldId id="272" r:id="rId9"/>
    <p:sldId id="259" r:id="rId10"/>
    <p:sldId id="269" r:id="rId11"/>
    <p:sldId id="270" r:id="rId12"/>
    <p:sldId id="326" r:id="rId13"/>
    <p:sldId id="337" r:id="rId14"/>
    <p:sldId id="331" r:id="rId15"/>
    <p:sldId id="313" r:id="rId16"/>
    <p:sldId id="333" r:id="rId17"/>
    <p:sldId id="342" r:id="rId18"/>
    <p:sldId id="334" r:id="rId19"/>
    <p:sldId id="335" r:id="rId20"/>
    <p:sldId id="338" r:id="rId21"/>
    <p:sldId id="340" r:id="rId22"/>
    <p:sldId id="339" r:id="rId23"/>
    <p:sldId id="277" r:id="rId24"/>
    <p:sldId id="279" r:id="rId25"/>
    <p:sldId id="281" r:id="rId26"/>
    <p:sldId id="284" r:id="rId27"/>
    <p:sldId id="287" r:id="rId28"/>
    <p:sldId id="341" r:id="rId29"/>
    <p:sldId id="344" r:id="rId30"/>
    <p:sldId id="345" r:id="rId31"/>
    <p:sldId id="346" r:id="rId32"/>
    <p:sldId id="274"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the session" id="{9248E0E9-B469-42C5-B521-34DBB63F9E0C}">
          <p14:sldIdLst>
            <p14:sldId id="271"/>
            <p14:sldId id="272"/>
            <p14:sldId id="259"/>
            <p14:sldId id="269"/>
            <p14:sldId id="270"/>
          </p14:sldIdLst>
        </p14:section>
        <p14:section name="The session" id="{9BCE8471-468A-4538-82B3-E4E62B0A593E}">
          <p14:sldIdLst>
            <p14:sldId id="326"/>
            <p14:sldId id="337"/>
            <p14:sldId id="331"/>
            <p14:sldId id="313"/>
            <p14:sldId id="333"/>
            <p14:sldId id="342"/>
            <p14:sldId id="334"/>
            <p14:sldId id="335"/>
            <p14:sldId id="338"/>
            <p14:sldId id="340"/>
            <p14:sldId id="339"/>
            <p14:sldId id="277"/>
            <p14:sldId id="279"/>
            <p14:sldId id="281"/>
            <p14:sldId id="284"/>
            <p14:sldId id="287"/>
            <p14:sldId id="341"/>
            <p14:sldId id="344"/>
            <p14:sldId id="345"/>
            <p14:sldId id="346"/>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6297"/>
    <a:srgbClr val="CEA551"/>
    <a:srgbClr val="4C4C5E"/>
    <a:srgbClr val="3B2B45"/>
    <a:srgbClr val="3A2B45"/>
    <a:srgbClr val="9443C1"/>
    <a:srgbClr val="4674D6"/>
    <a:srgbClr val="002BFA"/>
    <a:srgbClr val="C7605E"/>
    <a:srgbClr val="248C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882"/>
    <p:restoredTop sz="89432"/>
  </p:normalViewPr>
  <p:slideViewPr>
    <p:cSldViewPr snapToGrid="0">
      <p:cViewPr varScale="1">
        <p:scale>
          <a:sx n="138" d="100"/>
          <a:sy n="138" d="100"/>
        </p:scale>
        <p:origin x="49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tableStyles" Target="tableStyles.xml"/><Relationship Id="rId21" Type="http://schemas.openxmlformats.org/officeDocument/2006/relationships/slide" Target="slides/slide14.xml"/><Relationship Id="rId34" Type="http://schemas.openxmlformats.org/officeDocument/2006/relationships/notesMaster" Target="notesMasters/notesMaster1.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presProps" Target="presProp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handoutMaster" Target="handoutMasters/handoutMaster1.xml"/><Relationship Id="rId8" Type="http://schemas.openxmlformats.org/officeDocument/2006/relationships/slide" Target="slides/slide1.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ABDC4E67-8CB2-26CB-9842-22F9A691D93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CE31EB5F-53B0-CDA3-72A4-3FA9BE40D0E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440670-43D7-400A-ABC5-B69E064DBB37}" type="datetimeFigureOut">
              <a:rPr lang="en-GB" smtClean="0"/>
              <a:t>14/05/2026</a:t>
            </a:fld>
            <a:endParaRPr lang="en-GB"/>
          </a:p>
        </p:txBody>
      </p:sp>
      <p:sp>
        <p:nvSpPr>
          <p:cNvPr id="4" name="Espace réservé du pied de page 3">
            <a:extLst>
              <a:ext uri="{FF2B5EF4-FFF2-40B4-BE49-F238E27FC236}">
                <a16:creationId xmlns:a16="http://schemas.microsoft.com/office/drawing/2014/main" id="{00EB1E06-E4F0-A1A2-1EFB-AD58FA1AF7A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47061963-6110-4C16-C593-C8C56E4881C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8274045-2E90-4839-9E75-1C1FCF04B584}" type="slidenum">
              <a:rPr lang="en-GB" smtClean="0"/>
              <a:t>‹#›</a:t>
            </a:fld>
            <a:endParaRPr lang="en-GB"/>
          </a:p>
        </p:txBody>
      </p:sp>
    </p:spTree>
    <p:extLst>
      <p:ext uri="{BB962C8B-B14F-4D97-AF65-F5344CB8AC3E}">
        <p14:creationId xmlns:p14="http://schemas.microsoft.com/office/powerpoint/2010/main" val="214018307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0T18:36:15.915"/>
    </inkml:context>
    <inkml:brush xml:id="br0">
      <inkml:brushProperty name="width" value="0.1" units="cm"/>
      <inkml:brushProperty name="height" value="0.1" units="cm"/>
    </inkml:brush>
  </inkml:definitions>
  <inkml:trace contextRef="#ctx0" brushRef="#br0">0 1 24575,'3'0'0,"-1"0"0,0 0 0,1 1 0,-1 0 0,0-1 0,1 1 0,-1 0 0,0 0 0,0 0 0,0 0 0,1 0 0,-1 1 0,1 1 0,8 4 0,66 45 0,73 68 0,35 38-498,-7 8 0,197 239 0,-273-280 367,-6 5 0,-5 4 1,-6 3-1,97 216 0,-145-260 130,-4 0-1,-4 2 1,-5 1-1,-3 2 1,-5 0-1,-4 0 1,-2 161-1,-14-42-500,-34 226-1,25-361-4523</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0T18:36:15.916"/>
    </inkml:context>
    <inkml:brush xml:id="br0">
      <inkml:brushProperty name="width" value="0.1" units="cm"/>
      <inkml:brushProperty name="height" value="0.1" units="cm"/>
    </inkml:brush>
  </inkml:definitions>
  <inkml:trace contextRef="#ctx0" brushRef="#br0">1 0 24575,'5'1'0,"1"-1"0,-1 1 0,0 1 0,1-1 0,-1 1 0,0 0 0,0 0 0,0 0 0,0 1 0,0 0 0,-1 0 0,8 5 0,50 51 0,-49-45 0,29 28 0,-2 2 0,-3 1 0,50 78 0,-21-5 0,-35-59 0,55 76 0,-85-133 0,1 1 0,-1-1 0,1 1 0,0-1 0,0 0 0,1 1 0,-1-1 0,0 0 0,1-1 0,-1 1 0,1 0 0,-1-1 0,1 1 0,0-1 0,0 0 0,0 0 0,0 0 0,-1 0 0,1 0 0,0-1 0,1 1 0,-1-1 0,0 0 0,0 0 0,0 0 0,0-1 0,0 1 0,0 0 0,0-1 0,0 0 0,0 0 0,0 0 0,-1 0 0,1 0 0,0-1 0,0 1 0,-1-1 0,1 0 0,2-3 0,11-8 0,-1-1 0,0-1 0,-1-1 0,22-32 0,-17 23 0,289-389 0,-303 408-195,-1 1 0,1-1 0,0 1 0,1 0 0,-1 0 0,7-4 0,4 1-6631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15:06:32.422"/>
    </inkml:context>
    <inkml:brush xml:id="br0">
      <inkml:brushProperty name="width" value="0.1" units="cm"/>
      <inkml:brushProperty name="height" value="0.1" units="cm"/>
      <inkml:brushProperty name="color" value="#CEA551"/>
    </inkml:brush>
  </inkml:definitions>
  <inkml:trace contextRef="#ctx0" brushRef="#br0">8642 1905 24575,'-62'0'0,"1"0"0,-14 3 0,-12 1 0,-15 1 0,26-1 0,-9 1 0,-7 0 0,-6 0 0,-3 0 0,-3 1 0,-1-1 0,2 1-984,11-2 1,-2 1 0,-1 0 0,-1 0 0,-2 0 0,-1 0 0,-2 0 0,-1 0 0,-3-1 0,-2 1 876,14-2 1,-2 1-1,-3 0 1,-1 0 0,-2-1-1,-1 1 1,-1-1-1,-1 1 1,0-1 0,1 0-1,-1 0 1,1-1-1,1 0 1,1 0-60,-5-1 0,1 1 0,-1 0 1,0-1-1,1 0 0,0 0 1,0-1-1,-1 0 0,1 0 0,0-1 1,1-1-1,-1 0 0,0-1 166,0-1 0,0 0 0,-1-1 0,0 0 0,0-1 0,0 0 0,1-1 0,0 0 0,1-1 0,1 0 0,2-1 0,1 0 0,1 0-42,-3-2 1,0 0 0,2-1 0,1 0-1,0 0 1,2-1 0,1-1 0,2 0 0,0-1-1,2 0 1,1-1 41,-8-2 0,-1 1 0,1-1 0,1-1 0,2 0 0,4-2 0,5-2 0,6-1 0,6-2-62,-13-10 0,7-4 0,7-1 1,10-3-1,10 0 62,-3-11 0,15-3 0,24-3 0,34 0 0,24-5 0,11 0 0,-6 5 0,-8 5 0,1 4 0,9-2 0,6 4 0,10-3 0,5 0 0,1 1 0,-3 4 0,1-1 0,-1 3 0,1 3 0,4 0 0,11 0 0,3 1 0,5 3 0,6 2 180,-15 8 0,4 0 0,3 2 0,3 2 1,1 3-1,2 3-180,-8 6 0,0 3 0,2 3 0,1 1 0,3 2 0,2-1 0,4 0 0,-4-1 0,3 1 0,3 0 0,1 0 0,3 1 0,1 0 0,1 1 0,1 0 0,0 1 0,-10 1 0,1 0 0,1 1 0,1 1 0,1 0 0,0 0 0,1 1 0,1 0 0,0 0 0,1 1 0,-1 1-40,-1-1 0,0 1 1,1 1-1,1 0 1,1 1-1,0-1 1,0 2-1,-1-1 1,0 1-1,0 0 0,-1 0 1,-2 1 39,5 0 0,-1-1 0,0 1 0,0 0 0,-1 0 0,-1 1 0,0 0 0,-1 2 0,-1 0 0,0 2 0,-2 1-69,4 2 1,1 1 0,0 1 0,0 0-1,-2 2 1,-2 1 0,-3 1 0,-3 2 0,-4 1-1,-5 2 69,20 10 0,-5 3 0,-6 3 0,-5 1 0,-6 2 0,-6 2 242,-3 0 1,-4 3 0,-7 1 0,-9 2 0,-12 2-243,-14 9 0,-13 4 0,-10-1 0,-6-5 1827,-13 24 0,-12-7-1827,1-15 0,-4-5 2732,-1-12 0,-2-6-2732,-11 15 2735,-20 1-2735,7-26 312,0-13 0,18-9 0,14-6 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1B03A4-75C9-4E3D-9183-2102CA9AEC33}" type="datetimeFigureOut">
              <a:rPr lang="en-GB" smtClean="0"/>
              <a:t>14/05/2026</a:t>
            </a:fld>
            <a:endParaRPr lang="en-GB"/>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839206-A81D-4F76-8486-302187992F73}" type="slidenum">
              <a:rPr lang="en-GB" smtClean="0"/>
              <a:t>‹#›</a:t>
            </a:fld>
            <a:endParaRPr lang="en-GB"/>
          </a:p>
        </p:txBody>
      </p:sp>
    </p:spTree>
    <p:extLst>
      <p:ext uri="{BB962C8B-B14F-4D97-AF65-F5344CB8AC3E}">
        <p14:creationId xmlns:p14="http://schemas.microsoft.com/office/powerpoint/2010/main" val="3230807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en.wikipedia.org/wiki/High-bandwidth_Digital_Content_Protection" TargetMode="External"/><Relationship Id="rId2" Type="http://schemas.openxmlformats.org/officeDocument/2006/relationships/slide" Target="../slides/slide1.xml"/><Relationship Id="rId1" Type="http://schemas.openxmlformats.org/officeDocument/2006/relationships/notesMaster" Target="../notesMasters/notesMaster1.xml"/><Relationship Id="rId5" Type="http://schemas.openxmlformats.org/officeDocument/2006/relationships/hyperlink" Target="https://vimeo.com/thorstenbutz/byourself" TargetMode="External"/><Relationship Id="rId4" Type="http://schemas.openxmlformats.org/officeDocument/2006/relationships/image" Target="../media/image11.png"/></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learn.microsoft.com/en-us/powershell/scripting/install/powershell-support-lifecycle#powershell-end-of-support-dates"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learn.microsoft.com/en-us/powershell/scripting/install/powershell-support-lifecycle#powershell-end-of-support-dates" TargetMode="External"/><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learn.microsoft.com/en-us/powershell/scripting/install/powershell-support-lifecycle#powershell-end-of-support-dates" TargetMode="External"/><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a:xfrm>
            <a:off x="685800" y="4400549"/>
            <a:ext cx="2743200" cy="4467225"/>
          </a:xfrm>
        </p:spPr>
        <p:txBody>
          <a:bodyPr/>
          <a:lstStyle/>
          <a:p>
            <a:pPr>
              <a:lnSpc>
                <a:spcPct val="110000"/>
              </a:lnSpc>
            </a:pPr>
            <a:r>
              <a:rPr lang="en-US" sz="900" b="1">
                <a:latin typeface="Aptos" panose="020B0004020202020204" pitchFamily="34" charset="0"/>
              </a:rPr>
              <a:t>The fine print (additional information)</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Why should you care about HDCP? </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a:t>
            </a:r>
            <a:r>
              <a:rPr lang="en-US" sz="900" i="1">
                <a:latin typeface="Aptos" panose="020B0004020202020204" pitchFamily="34" charset="0"/>
              </a:rPr>
              <a:t>High-bandwidth Digital Content Protection (HDCP) is a form of digital copy protection developed by Intel Corporation to prevent copying of digital audio and video content as it travels across connections. Types of connections include DisplayPort (DP), Digital Visual Interface (DVI), and High-Definition Multimedia Interface (HDMI), as well as less popular or now deprecated protocols like Gigabit Video Interface (GVIF) and Unified Display Interface (UDI).</a:t>
            </a:r>
            <a:r>
              <a:rPr lang="en-US" sz="900">
                <a:latin typeface="Aptos" panose="020B0004020202020204" pitchFamily="34" charset="0"/>
              </a:rPr>
              <a:t>"</a:t>
            </a:r>
          </a:p>
          <a:p>
            <a:pPr>
              <a:lnSpc>
                <a:spcPct val="110000"/>
              </a:lnSpc>
            </a:pPr>
            <a:r>
              <a:rPr lang="de-DE" sz="900">
                <a:latin typeface="Aptos" panose="020B0004020202020204" pitchFamily="34" charset="0"/>
                <a:hlinkClick r:id="rId3"/>
              </a:rPr>
              <a:t>https://en.wikipedia.org/wiki/High-bandwidth_Digital_Content_Protection</a:t>
            </a:r>
            <a:endParaRPr lang="de-DE"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Some notebooks ignore the HDCP standard, some vendors comply with the standard. Apple and Microsoft are somehow famous for strictly following the HDCP guidelines. Sadly, we will not be able to guarantee, that your session can be recorded in the latter case.</a:t>
            </a: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But you can do simple things, to  overcome these problems. </a:t>
            </a:r>
            <a:r>
              <a:rPr lang="en-US" sz="900">
                <a:latin typeface="Aptos" panose="020B0004020202020204" pitchFamily="34" charset="0"/>
              </a:rPr>
              <a:t>It is also very likely that you presented with your notebook before. So you will know, if this worked fine.If you are in doubt and if the agenda allows, try a dry-run a day before and connect everything.</a:t>
            </a: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p:txBody>
      </p:sp>
      <p:sp>
        <p:nvSpPr>
          <p:cNvPr id="4" name="Foliennummernplatzhalter 3"/>
          <p:cNvSpPr>
            <a:spLocks noGrp="1"/>
          </p:cNvSpPr>
          <p:nvPr>
            <p:ph type="sldNum" sz="quarter" idx="5"/>
          </p:nvPr>
        </p:nvSpPr>
        <p:spPr/>
        <p:txBody>
          <a:bodyPr/>
          <a:lstStyle/>
          <a:p>
            <a:fld id="{A7839206-A81D-4F76-8486-302187992F73}" type="slidenum">
              <a:rPr lang="en-GB" smtClean="0"/>
              <a:t>1</a:t>
            </a:fld>
            <a:endParaRPr lang="en-GB"/>
          </a:p>
        </p:txBody>
      </p:sp>
      <p:pic>
        <p:nvPicPr>
          <p:cNvPr id="5" name="Grafik 4" descr="https://www.amazon.de/gp/product/B09F2N17H5/ref=ppx_yo_dt_b_asin_title_o09_s00">
            <a:extLst>
              <a:ext uri="{FF2B5EF4-FFF2-40B4-BE49-F238E27FC236}">
                <a16:creationId xmlns:a16="http://schemas.microsoft.com/office/drawing/2014/main" id="{E466A8E6-289E-2C4E-027A-1D532F5BF0BF}"/>
              </a:ext>
            </a:extLst>
          </p:cNvPr>
          <p:cNvPicPr>
            <a:picLocks noChangeAspect="1"/>
          </p:cNvPicPr>
          <p:nvPr/>
        </p:nvPicPr>
        <p:blipFill>
          <a:blip r:embed="rId4"/>
          <a:stretch>
            <a:fillRect/>
          </a:stretch>
        </p:blipFill>
        <p:spPr>
          <a:xfrm>
            <a:off x="3699256" y="5256530"/>
            <a:ext cx="2202687" cy="1967734"/>
          </a:xfrm>
          <a:prstGeom prst="rect">
            <a:avLst/>
          </a:prstGeom>
        </p:spPr>
      </p:pic>
      <p:sp>
        <p:nvSpPr>
          <p:cNvPr id="6" name="Notizenplatzhalter 2">
            <a:extLst>
              <a:ext uri="{FF2B5EF4-FFF2-40B4-BE49-F238E27FC236}">
                <a16:creationId xmlns:a16="http://schemas.microsoft.com/office/drawing/2014/main" id="{6C2E4E82-CC92-21BA-6CC9-5E1EC16B971C}"/>
              </a:ext>
            </a:extLst>
          </p:cNvPr>
          <p:cNvSpPr txBox="1">
            <a:spLocks/>
          </p:cNvSpPr>
          <p:nvPr/>
        </p:nvSpPr>
        <p:spPr>
          <a:xfrm>
            <a:off x="3429000" y="4400548"/>
            <a:ext cx="2743200" cy="4467225"/>
          </a:xfrm>
          <a:prstGeom prst="rect">
            <a:avLst/>
          </a:prstGeom>
        </p:spPr>
        <p:txBody>
          <a:bodyPr vert="horz" lIns="91440" tIns="45720" rIns="91440" bIns="45720" rtlCol="0"/>
          <a:lst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a:lstStyle>
          <a:p>
            <a:pPr>
              <a:lnSpc>
                <a:spcPct val="110000"/>
              </a:lnSpc>
            </a:pPr>
            <a:r>
              <a:rPr lang="en-US" sz="900">
                <a:latin typeface="Aptos" panose="020B0004020202020204" pitchFamily="34" charset="0"/>
              </a:rPr>
              <a:t>In general you can easily bypass HDCP restrictions with a cheap splitter (the cheaper the better), just like the one you see below. This is an example device that we bought for 16 euros (in Germany). </a:t>
            </a:r>
          </a:p>
          <a:p>
            <a:pPr>
              <a:lnSpc>
                <a:spcPct val="110000"/>
              </a:lnSpc>
            </a:pPr>
            <a:r>
              <a:rPr lang="en-US" sz="900">
                <a:latin typeface="Aptos" panose="020B0004020202020204" pitchFamily="34" charset="0"/>
              </a:rPr>
              <a:t>Ask us, we will lend you such a device.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Thorsten also gave a whole presentation about "Broadcasting yourself" -  easy steps to record yourself and create a (backup) session recording on your own. If you want to invest your time and dive deeper, take a look at his recordings and notes:</a:t>
            </a:r>
            <a:endParaRPr lang="de-DE" sz="900">
              <a:latin typeface="Aptos" panose="020B0004020202020204" pitchFamily="34" charset="0"/>
            </a:endParaRPr>
          </a:p>
          <a:p>
            <a:pPr>
              <a:lnSpc>
                <a:spcPct val="110000"/>
              </a:lnSpc>
              <a:spcAft>
                <a:spcPts val="1000"/>
              </a:spcAft>
            </a:pPr>
            <a:r>
              <a:rPr lang="de-DE" sz="900">
                <a:latin typeface="Aptos" panose="020B0004020202020204" pitchFamily="34" charset="0"/>
                <a:hlinkClick r:id="rId5"/>
              </a:rPr>
              <a:t>https://vimeo.com/thorstenbutz/byourself</a:t>
            </a:r>
            <a:endParaRPr lang="de-DE" sz="900">
              <a:latin typeface="Aptos" panose="020B0004020202020204" pitchFamily="34" charset="0"/>
            </a:endParaRPr>
          </a:p>
          <a:p>
            <a:pPr>
              <a:lnSpc>
                <a:spcPct val="110000"/>
              </a:lnSpc>
            </a:pPr>
            <a:r>
              <a:rPr lang="en-US" sz="900">
                <a:latin typeface="Aptos" panose="020B0004020202020204" pitchFamily="34" charset="0"/>
              </a:rPr>
              <a:t>This is of course completely voluntary, but perhaps you will find it helpful.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endParaRPr lang="en-DE" sz="900">
              <a:latin typeface="Aptos" panose="020B0004020202020204" pitchFamily="34" charset="0"/>
            </a:endParaRPr>
          </a:p>
        </p:txBody>
      </p:sp>
    </p:spTree>
    <p:extLst>
      <p:ext uri="{BB962C8B-B14F-4D97-AF65-F5344CB8AC3E}">
        <p14:creationId xmlns:p14="http://schemas.microsoft.com/office/powerpoint/2010/main" val="414027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2</a:t>
            </a:fld>
            <a:endParaRPr lang="en-GB"/>
          </a:p>
        </p:txBody>
      </p:sp>
    </p:spTree>
    <p:extLst>
      <p:ext uri="{BB962C8B-B14F-4D97-AF65-F5344CB8AC3E}">
        <p14:creationId xmlns:p14="http://schemas.microsoft.com/office/powerpoint/2010/main" val="3020269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3</a:t>
            </a:fld>
            <a:endParaRPr lang="en-GB"/>
          </a:p>
        </p:txBody>
      </p:sp>
    </p:spTree>
    <p:extLst>
      <p:ext uri="{BB962C8B-B14F-4D97-AF65-F5344CB8AC3E}">
        <p14:creationId xmlns:p14="http://schemas.microsoft.com/office/powerpoint/2010/main" val="41985348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4</a:t>
            </a:fld>
            <a:endParaRPr lang="en-GB"/>
          </a:p>
        </p:txBody>
      </p:sp>
    </p:spTree>
    <p:extLst>
      <p:ext uri="{BB962C8B-B14F-4D97-AF65-F5344CB8AC3E}">
        <p14:creationId xmlns:p14="http://schemas.microsoft.com/office/powerpoint/2010/main" val="188273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5</a:t>
            </a:fld>
            <a:endParaRPr lang="en-GB"/>
          </a:p>
        </p:txBody>
      </p:sp>
    </p:spTree>
    <p:extLst>
      <p:ext uri="{BB962C8B-B14F-4D97-AF65-F5344CB8AC3E}">
        <p14:creationId xmlns:p14="http://schemas.microsoft.com/office/powerpoint/2010/main" val="21667267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8</a:t>
            </a:fld>
            <a:endParaRPr lang="en-GB"/>
          </a:p>
        </p:txBody>
      </p:sp>
    </p:spTree>
    <p:extLst>
      <p:ext uri="{BB962C8B-B14F-4D97-AF65-F5344CB8AC3E}">
        <p14:creationId xmlns:p14="http://schemas.microsoft.com/office/powerpoint/2010/main" val="529600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
              </a:rPr>
              <a:t>https://learn.microsoft.com/en-us/powershell/scripting/install/powershell-support-lifecycle#powershell-end-of-support-dates</a:t>
            </a:r>
            <a:endParaRPr lang="en-US" sz="1200" dirty="0"/>
          </a:p>
        </p:txBody>
      </p:sp>
      <p:sp>
        <p:nvSpPr>
          <p:cNvPr id="4" name="Slide Number Placeholder 3"/>
          <p:cNvSpPr>
            <a:spLocks noGrp="1"/>
          </p:cNvSpPr>
          <p:nvPr>
            <p:ph type="sldNum" sz="quarter" idx="5"/>
          </p:nvPr>
        </p:nvSpPr>
        <p:spPr/>
        <p:txBody>
          <a:bodyPr/>
          <a:lstStyle/>
          <a:p>
            <a:fld id="{A7839206-A81D-4F76-8486-302187992F73}" type="slidenum">
              <a:rPr lang="en-GB" smtClean="0"/>
              <a:t>14</a:t>
            </a:fld>
            <a:endParaRPr lang="en-GB"/>
          </a:p>
        </p:txBody>
      </p:sp>
    </p:spTree>
    <p:extLst>
      <p:ext uri="{BB962C8B-B14F-4D97-AF65-F5344CB8AC3E}">
        <p14:creationId xmlns:p14="http://schemas.microsoft.com/office/powerpoint/2010/main" val="13368514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C993E-7461-CA32-DB34-9E05B7B8B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76D87B-8600-94BD-8C36-079EAED7EE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25D61-E72B-9EE7-962E-0E44C9B61C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
              </a:rPr>
              <a:t>https://learn.microsoft.com/en-us/powershell/scripting/install/powershell-support-lifecycle#powershell-end-of-support-dates</a:t>
            </a:r>
            <a:endParaRPr lang="en-US" sz="1200" dirty="0"/>
          </a:p>
        </p:txBody>
      </p:sp>
      <p:sp>
        <p:nvSpPr>
          <p:cNvPr id="4" name="Slide Number Placeholder 3">
            <a:extLst>
              <a:ext uri="{FF2B5EF4-FFF2-40B4-BE49-F238E27FC236}">
                <a16:creationId xmlns:a16="http://schemas.microsoft.com/office/drawing/2014/main" id="{EF5B8B01-51B6-A420-AB06-2B987D26FF8F}"/>
              </a:ext>
            </a:extLst>
          </p:cNvPr>
          <p:cNvSpPr>
            <a:spLocks noGrp="1"/>
          </p:cNvSpPr>
          <p:nvPr>
            <p:ph type="sldNum" sz="quarter" idx="5"/>
          </p:nvPr>
        </p:nvSpPr>
        <p:spPr/>
        <p:txBody>
          <a:bodyPr/>
          <a:lstStyle/>
          <a:p>
            <a:fld id="{A7839206-A81D-4F76-8486-302187992F73}" type="slidenum">
              <a:rPr lang="en-GB" smtClean="0"/>
              <a:t>15</a:t>
            </a:fld>
            <a:endParaRPr lang="en-GB"/>
          </a:p>
        </p:txBody>
      </p:sp>
    </p:spTree>
    <p:extLst>
      <p:ext uri="{BB962C8B-B14F-4D97-AF65-F5344CB8AC3E}">
        <p14:creationId xmlns:p14="http://schemas.microsoft.com/office/powerpoint/2010/main" val="28776261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69F1D-78C2-5F13-3125-69143D89C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24258-9484-C565-E864-7BD7A44A11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66AF1A-8BDC-9D78-35AE-026E4099980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
              </a:rPr>
              <a:t>https://learn.microsoft.com/en-us/powershell/scripting/install/powershell-support-lifecycle#powershell-end-of-support-dates</a:t>
            </a:r>
            <a:endParaRPr lang="en-US" sz="1200" dirty="0"/>
          </a:p>
        </p:txBody>
      </p:sp>
      <p:sp>
        <p:nvSpPr>
          <p:cNvPr id="4" name="Slide Number Placeholder 3">
            <a:extLst>
              <a:ext uri="{FF2B5EF4-FFF2-40B4-BE49-F238E27FC236}">
                <a16:creationId xmlns:a16="http://schemas.microsoft.com/office/drawing/2014/main" id="{3C592EB7-3B1E-6452-890B-284DFCC58A20}"/>
              </a:ext>
            </a:extLst>
          </p:cNvPr>
          <p:cNvSpPr>
            <a:spLocks noGrp="1"/>
          </p:cNvSpPr>
          <p:nvPr>
            <p:ph type="sldNum" sz="quarter" idx="5"/>
          </p:nvPr>
        </p:nvSpPr>
        <p:spPr/>
        <p:txBody>
          <a:bodyPr/>
          <a:lstStyle/>
          <a:p>
            <a:fld id="{A7839206-A81D-4F76-8486-302187992F73}" type="slidenum">
              <a:rPr lang="en-GB" smtClean="0"/>
              <a:t>16</a:t>
            </a:fld>
            <a:endParaRPr lang="en-GB"/>
          </a:p>
        </p:txBody>
      </p:sp>
    </p:spTree>
    <p:extLst>
      <p:ext uri="{BB962C8B-B14F-4D97-AF65-F5344CB8AC3E}">
        <p14:creationId xmlns:p14="http://schemas.microsoft.com/office/powerpoint/2010/main" val="31004274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26</a:t>
            </a:fld>
            <a:endParaRPr lang="en-GB"/>
          </a:p>
        </p:txBody>
      </p:sp>
    </p:spTree>
    <p:extLst>
      <p:ext uri="{BB962C8B-B14F-4D97-AF65-F5344CB8AC3E}">
        <p14:creationId xmlns:p14="http://schemas.microsoft.com/office/powerpoint/2010/main" val="1686308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3421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nly black">
    <p:bg>
      <p:bgPr>
        <a:solidFill>
          <a:srgbClr val="000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341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ly blue">
    <p:bg>
      <p:bgPr>
        <a:solidFill>
          <a:srgbClr val="346297"/>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86150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ly whit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6667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285659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044C786-AD10-7D88-1933-9D7659D256DF}"/>
              </a:ext>
            </a:extLst>
          </p:cNvPr>
          <p:cNvSpPr>
            <a:spLocks noGrp="1"/>
          </p:cNvSpPr>
          <p:nvPr>
            <p:ph idx="1"/>
          </p:nvPr>
        </p:nvSpPr>
        <p:spPr>
          <a:xfrm>
            <a:off x="3467314" y="1852863"/>
            <a:ext cx="7886486" cy="4324100"/>
          </a:xfrm>
          <a:prstGeom prst="rect">
            <a:avLst/>
          </a:prstGeom>
        </p:spPr>
        <p:txBody>
          <a:bodyPr vert="horz" lIns="91440" tIns="45720" rIns="91440" bIns="45720" rtlCol="0">
            <a:normAutofit/>
          </a:bodyPr>
          <a:lstStyle/>
          <a:p>
            <a:pPr lvl="0"/>
            <a:r>
              <a:rPr lang="en-US"/>
              <a:t>Your bio</a:t>
            </a:r>
            <a:endParaRPr lang="en-GB"/>
          </a:p>
        </p:txBody>
      </p:sp>
      <p:sp>
        <p:nvSpPr>
          <p:cNvPr id="4" name="Title Placeholder 1">
            <a:extLst>
              <a:ext uri="{FF2B5EF4-FFF2-40B4-BE49-F238E27FC236}">
                <a16:creationId xmlns:a16="http://schemas.microsoft.com/office/drawing/2014/main" id="{1BA7B894-6BCA-2B29-BA04-8AAB1735BFFD}"/>
              </a:ext>
            </a:extLst>
          </p:cNvPr>
          <p:cNvSpPr>
            <a:spLocks noGrp="1"/>
          </p:cNvSpPr>
          <p:nvPr>
            <p:ph type="title"/>
          </p:nvPr>
        </p:nvSpPr>
        <p:spPr>
          <a:xfrm>
            <a:off x="3467313" y="324853"/>
            <a:ext cx="7886485" cy="1325563"/>
          </a:xfrm>
          <a:prstGeom prst="rect">
            <a:avLst/>
          </a:prstGeom>
        </p:spPr>
        <p:txBody>
          <a:bodyPr vert="horz" lIns="91440" tIns="45720" rIns="91440" bIns="45720" rtlCol="0" anchor="ctr">
            <a:normAutofit/>
          </a:bodyPr>
          <a:lstStyle/>
          <a:p>
            <a:r>
              <a:rPr lang="en-US"/>
              <a:t>Speaker’s name</a:t>
            </a:r>
            <a:endParaRPr lang="en-GB"/>
          </a:p>
        </p:txBody>
      </p:sp>
    </p:spTree>
    <p:extLst>
      <p:ext uri="{BB962C8B-B14F-4D97-AF65-F5344CB8AC3E}">
        <p14:creationId xmlns:p14="http://schemas.microsoft.com/office/powerpoint/2010/main" val="16033740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FF0C1-723F-8331-7203-2AD1CA3085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200EBD9-8D5A-98D4-BC92-CE5E1C7560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1417239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3D202-8931-7832-6C93-86B82B6865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5BBC0C-D418-7F75-653D-7BD01A94CB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328024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3987-4D9C-734A-F0DD-FA7C5E5BFD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48C8F2A-06F7-926F-11A3-0E18B5E012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5476032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9D26B-2105-B752-1559-A5E7E35806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0CB2030-5E24-3C76-AF6E-BEABDB29D9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0EF88D-DEBE-FA6D-7C2B-49DE203B99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453025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0F04B-2070-B32A-26F9-689ACEB1798E}"/>
              </a:ext>
            </a:extLst>
          </p:cNvPr>
          <p:cNvSpPr>
            <a:spLocks noGrp="1"/>
          </p:cNvSpPr>
          <p:nvPr>
            <p:ph type="title"/>
          </p:nvPr>
        </p:nvSpPr>
        <p:spPr>
          <a:xfrm>
            <a:off x="839788" y="365125"/>
            <a:ext cx="9721532"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351C8F-389D-6D1D-529E-8F7B5D2561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27AB8FD-3AC0-420A-CD1A-4BB2C4DEB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42E0881B-0B39-A9CB-08B8-7FA6C0D98A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7CCB1-27F7-D503-AC18-183950FAE8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547285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E4D49-1A5A-DFCF-8CA7-93B2889E2B5F}"/>
              </a:ext>
            </a:extLst>
          </p:cNvPr>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11650198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047082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1FA22-F0C4-1510-0E4C-953C802C4E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786368D-1D41-F3F9-3D07-85EFF2CFBC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B83765E-1500-5380-7D29-9BED9AFAF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9641347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19606-9316-A7A0-65BC-635A494F0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23637042-5D0D-C650-5659-376D12BF8F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9EF090A-47F3-1576-D5A3-105EE33762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074897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B042-3840-06BB-E1DF-E9094D81989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DCC1C5E-7112-083E-8A66-4B30A4DD391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0273646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Disposition personnalisé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044C786-AD10-7D88-1933-9D7659D256DF}"/>
              </a:ext>
            </a:extLst>
          </p:cNvPr>
          <p:cNvSpPr>
            <a:spLocks noGrp="1"/>
          </p:cNvSpPr>
          <p:nvPr>
            <p:ph idx="1"/>
          </p:nvPr>
        </p:nvSpPr>
        <p:spPr>
          <a:xfrm>
            <a:off x="3467314" y="1852863"/>
            <a:ext cx="7886486" cy="4324100"/>
          </a:xfrm>
          <a:prstGeom prst="rect">
            <a:avLst/>
          </a:prstGeom>
        </p:spPr>
        <p:txBody>
          <a:bodyPr vert="horz" lIns="91440" tIns="45720" rIns="91440" bIns="45720" rtlCol="0">
            <a:normAutofit/>
          </a:bodyPr>
          <a:lstStyle/>
          <a:p>
            <a:pPr lvl="0"/>
            <a:r>
              <a:rPr lang="en-US"/>
              <a:t>Your bio</a:t>
            </a:r>
            <a:endParaRPr lang="en-GB"/>
          </a:p>
        </p:txBody>
      </p:sp>
      <p:sp>
        <p:nvSpPr>
          <p:cNvPr id="4" name="Title Placeholder 1">
            <a:extLst>
              <a:ext uri="{FF2B5EF4-FFF2-40B4-BE49-F238E27FC236}">
                <a16:creationId xmlns:a16="http://schemas.microsoft.com/office/drawing/2014/main" id="{1BA7B894-6BCA-2B29-BA04-8AAB1735BFFD}"/>
              </a:ext>
            </a:extLst>
          </p:cNvPr>
          <p:cNvSpPr>
            <a:spLocks noGrp="1"/>
          </p:cNvSpPr>
          <p:nvPr>
            <p:ph type="title"/>
          </p:nvPr>
        </p:nvSpPr>
        <p:spPr>
          <a:xfrm>
            <a:off x="3467313" y="324853"/>
            <a:ext cx="7886485" cy="1325563"/>
          </a:xfrm>
          <a:prstGeom prst="rect">
            <a:avLst/>
          </a:prstGeom>
        </p:spPr>
        <p:txBody>
          <a:bodyPr vert="horz" lIns="91440" tIns="45720" rIns="91440" bIns="45720" rtlCol="0" anchor="ctr">
            <a:normAutofit/>
          </a:bodyPr>
          <a:lstStyle/>
          <a:p>
            <a:r>
              <a:rPr lang="en-US"/>
              <a:t>Speaker’s name</a:t>
            </a:r>
            <a:endParaRPr lang="en-GB"/>
          </a:p>
        </p:txBody>
      </p:sp>
    </p:spTree>
    <p:extLst>
      <p:ext uri="{BB962C8B-B14F-4D97-AF65-F5344CB8AC3E}">
        <p14:creationId xmlns:p14="http://schemas.microsoft.com/office/powerpoint/2010/main" val="141372952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theme" Target="../theme/theme2.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1.png"/><Relationship Id="rId7" Type="http://schemas.openxmlformats.org/officeDocument/2006/relationships/image" Target="../media/image7.png"/><Relationship Id="rId2" Type="http://schemas.openxmlformats.org/officeDocument/2006/relationships/theme" Target="../theme/theme3.xml"/><Relationship Id="rId1" Type="http://schemas.openxmlformats.org/officeDocument/2006/relationships/slideLayout" Target="../slideLayouts/slideLayout6.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 Id="rId9" Type="http://schemas.openxmlformats.org/officeDocument/2006/relationships/image" Target="../media/image8.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4.xml"/><Relationship Id="rId13" Type="http://schemas.openxmlformats.org/officeDocument/2006/relationships/image" Target="../media/image1.png"/><Relationship Id="rId18" Type="http://schemas.openxmlformats.org/officeDocument/2006/relationships/image" Target="../media/image6.svg"/><Relationship Id="rId3" Type="http://schemas.openxmlformats.org/officeDocument/2006/relationships/slideLayout" Target="../slideLayouts/slideLayout9.xml"/><Relationship Id="rId21" Type="http://schemas.openxmlformats.org/officeDocument/2006/relationships/image" Target="../media/image8.png"/><Relationship Id="rId7" Type="http://schemas.openxmlformats.org/officeDocument/2006/relationships/slideLayout" Target="../slideLayouts/slideLayout13.xml"/><Relationship Id="rId12" Type="http://schemas.openxmlformats.org/officeDocument/2006/relationships/theme" Target="../theme/theme4.xml"/><Relationship Id="rId17" Type="http://schemas.openxmlformats.org/officeDocument/2006/relationships/image" Target="../media/image5.png"/><Relationship Id="rId2" Type="http://schemas.openxmlformats.org/officeDocument/2006/relationships/slideLayout" Target="../slideLayouts/slideLayout8.xml"/><Relationship Id="rId16" Type="http://schemas.openxmlformats.org/officeDocument/2006/relationships/image" Target="../media/image4.svg"/><Relationship Id="rId20" Type="http://schemas.microsoft.com/office/2007/relationships/hdphoto" Target="../media/hdphoto1.wdp"/><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slideLayout" Target="../slideLayouts/slideLayout17.xml"/><Relationship Id="rId5" Type="http://schemas.openxmlformats.org/officeDocument/2006/relationships/slideLayout" Target="../slideLayouts/slideLayout11.xml"/><Relationship Id="rId15" Type="http://schemas.openxmlformats.org/officeDocument/2006/relationships/image" Target="../media/image10.png"/><Relationship Id="rId10" Type="http://schemas.openxmlformats.org/officeDocument/2006/relationships/slideLayout" Target="../slideLayouts/slideLayout16.xml"/><Relationship Id="rId19" Type="http://schemas.openxmlformats.org/officeDocument/2006/relationships/image" Target="../media/image7.png"/><Relationship Id="rId4" Type="http://schemas.openxmlformats.org/officeDocument/2006/relationships/slideLayout" Target="../slideLayouts/slideLayout10.xml"/><Relationship Id="rId9" Type="http://schemas.openxmlformats.org/officeDocument/2006/relationships/slideLayout" Target="../slideLayouts/slideLayout15.xml"/><Relationship Id="rId14" Type="http://schemas.openxmlformats.org/officeDocument/2006/relationships/image" Target="../media/image9.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4" name="Image 13" descr="Une image contenant texte&#10;&#10;Description générée automatiquement">
            <a:extLst>
              <a:ext uri="{FF2B5EF4-FFF2-40B4-BE49-F238E27FC236}">
                <a16:creationId xmlns:a16="http://schemas.microsoft.com/office/drawing/2014/main" id="{46B6AA1A-3151-3AC2-83FB-1C6A4D626CEE}"/>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tretch>
            <a:fillRect/>
          </a:stretch>
        </p:blipFill>
        <p:spPr>
          <a:xfrm>
            <a:off x="1184" y="0"/>
            <a:ext cx="12189631" cy="6858000"/>
          </a:xfrm>
          <a:prstGeom prst="rect">
            <a:avLst/>
          </a:prstGeom>
        </p:spPr>
      </p:pic>
      <p:pic>
        <p:nvPicPr>
          <p:cNvPr id="3" name="Image 2">
            <a:extLst>
              <a:ext uri="{FF2B5EF4-FFF2-40B4-BE49-F238E27FC236}">
                <a16:creationId xmlns:a16="http://schemas.microsoft.com/office/drawing/2014/main" id="{E38E8CAF-D224-9556-511F-8D65E9383F2C}"/>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10591" y="137310"/>
            <a:ext cx="4166241" cy="1426795"/>
          </a:xfrm>
          <a:prstGeom prst="rect">
            <a:avLst/>
          </a:prstGeom>
        </p:spPr>
      </p:pic>
      <p:pic>
        <p:nvPicPr>
          <p:cNvPr id="8" name="Image 7" descr="Une image contenant Police, Graphique, typographie, graphisme&#10;&#10;Le contenu généré par l’IA peut être incorrect.">
            <a:extLst>
              <a:ext uri="{FF2B5EF4-FFF2-40B4-BE49-F238E27FC236}">
                <a16:creationId xmlns:a16="http://schemas.microsoft.com/office/drawing/2014/main" id="{B287398A-20D9-4E87-9997-CB57AB2CCE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08900" y="6074646"/>
            <a:ext cx="2471121" cy="372258"/>
          </a:xfrm>
          <a:prstGeom prst="rect">
            <a:avLst/>
          </a:prstGeom>
        </p:spPr>
      </p:pic>
    </p:spTree>
    <p:extLst>
      <p:ext uri="{BB962C8B-B14F-4D97-AF65-F5344CB8AC3E}">
        <p14:creationId xmlns:p14="http://schemas.microsoft.com/office/powerpoint/2010/main" val="1739929472"/>
      </p:ext>
    </p:extLst>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 1">
            <a:extLst>
              <a:ext uri="{FF2B5EF4-FFF2-40B4-BE49-F238E27FC236}">
                <a16:creationId xmlns:a16="http://schemas.microsoft.com/office/drawing/2014/main" id="{427B60B6-58D4-7B9F-C29A-CE66AF93F596}"/>
              </a:ext>
            </a:extLst>
          </p:cNvPr>
          <p:cNvSpPr txBox="1">
            <a:spLocks/>
          </p:cNvSpPr>
          <p:nvPr userDrawn="1"/>
        </p:nvSpPr>
        <p:spPr>
          <a:xfrm>
            <a:off x="0" y="1"/>
            <a:ext cx="12192000" cy="6858000"/>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de-DE" sz="25000">
                <a:latin typeface="Stencil" panose="040409050D0802020404" pitchFamily="82" charset="0"/>
              </a:rPr>
              <a:t> </a:t>
            </a:r>
            <a:endParaRPr lang="en-DE" sz="25000">
              <a:latin typeface="Stencil" panose="040409050D0802020404" pitchFamily="82" charset="0"/>
            </a:endParaRPr>
          </a:p>
        </p:txBody>
      </p:sp>
    </p:spTree>
    <p:extLst>
      <p:ext uri="{BB962C8B-B14F-4D97-AF65-F5344CB8AC3E}">
        <p14:creationId xmlns:p14="http://schemas.microsoft.com/office/powerpoint/2010/main" val="2018877621"/>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E6A8F4F5-7628-E9E8-23A7-09169C6794F7}"/>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pic>
        <p:nvPicPr>
          <p:cNvPr id="5" name="Graphique 4">
            <a:extLst>
              <a:ext uri="{FF2B5EF4-FFF2-40B4-BE49-F238E27FC236}">
                <a16:creationId xmlns:a16="http://schemas.microsoft.com/office/drawing/2014/main" id="{5940FBC8-A0C6-2B5F-1902-D32A817C999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6702387" y="6400644"/>
            <a:ext cx="233674" cy="233674"/>
          </a:xfrm>
          <a:prstGeom prst="rect">
            <a:avLst/>
          </a:prstGeom>
        </p:spPr>
      </p:pic>
      <p:sp>
        <p:nvSpPr>
          <p:cNvPr id="2" name="Espace réservé du numéro de diapositive 5">
            <a:extLst>
              <a:ext uri="{FF2B5EF4-FFF2-40B4-BE49-F238E27FC236}">
                <a16:creationId xmlns:a16="http://schemas.microsoft.com/office/drawing/2014/main" id="{7E956AE5-463F-2CA7-0F10-40FD22C9A157}"/>
              </a:ext>
            </a:extLst>
          </p:cNvPr>
          <p:cNvSpPr txBox="1">
            <a:spLocks/>
          </p:cNvSpPr>
          <p:nvPr userDrawn="1"/>
        </p:nvSpPr>
        <p:spPr>
          <a:xfrm>
            <a:off x="8143986"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a:t>
            </a:r>
            <a:r>
              <a:rPr lang="en-GB" b="1" dirty="0" err="1">
                <a:solidFill>
                  <a:srgbClr val="346296"/>
                </a:solidFill>
              </a:rPr>
              <a:t>PalmEmanuel</a:t>
            </a:r>
            <a:endParaRPr lang="en-GB" b="1" dirty="0">
              <a:solidFill>
                <a:srgbClr val="346296"/>
              </a:solidFill>
            </a:endParaRPr>
          </a:p>
        </p:txBody>
      </p:sp>
      <p:pic>
        <p:nvPicPr>
          <p:cNvPr id="6" name="Image 10" descr="Une image contenant capture d’écran, ligne, Graphique, Bleu électrique&#10;&#10;Description générée automatiquement">
            <a:extLst>
              <a:ext uri="{FF2B5EF4-FFF2-40B4-BE49-F238E27FC236}">
                <a16:creationId xmlns:a16="http://schemas.microsoft.com/office/drawing/2014/main" id="{04C92A29-27F1-23CA-A950-F868560CAE64}"/>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10863" y="6405925"/>
            <a:ext cx="248745" cy="254529"/>
          </a:xfrm>
          <a:prstGeom prst="rect">
            <a:avLst/>
          </a:prstGeom>
        </p:spPr>
      </p:pic>
      <p:pic>
        <p:nvPicPr>
          <p:cNvPr id="8" name="Graphic 56">
            <a:extLst>
              <a:ext uri="{FF2B5EF4-FFF2-40B4-BE49-F238E27FC236}">
                <a16:creationId xmlns:a16="http://schemas.microsoft.com/office/drawing/2014/main" id="{729514D9-8B11-4B59-6F59-631E5730CF72}"/>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7501865" y="6368594"/>
            <a:ext cx="327439" cy="320756"/>
          </a:xfrm>
          <a:prstGeom prst="rect">
            <a:avLst/>
          </a:prstGeom>
          <a:effectLst/>
        </p:spPr>
      </p:pic>
      <p:pic>
        <p:nvPicPr>
          <p:cNvPr id="9" name="Picture 8" descr="A blue and black logo&#10;&#10;Description automatically generated">
            <a:extLst>
              <a:ext uri="{FF2B5EF4-FFF2-40B4-BE49-F238E27FC236}">
                <a16:creationId xmlns:a16="http://schemas.microsoft.com/office/drawing/2014/main" id="{61AD0133-BB3C-FAE9-89A3-02C48415F64E}"/>
              </a:ext>
            </a:extLst>
          </p:cNvPr>
          <p:cNvPicPr>
            <a:picLocks noChangeAspect="1"/>
          </p:cNvPicPr>
          <p:nvPr userDrawn="1"/>
        </p:nvPicPr>
        <p:blipFill>
          <a:blip r:embed="rId7">
            <a:extLst>
              <a:ext uri="{BEBA8EAE-BF5A-486C-A8C5-ECC9F3942E4B}">
                <a14:imgProps xmlns:a14="http://schemas.microsoft.com/office/drawing/2010/main">
                  <a14:imgLayer r:embed="rId8">
                    <a14:imgEffect>
                      <a14:colorTemperature colorTemp="11500"/>
                    </a14:imgEffect>
                    <a14:imgEffect>
                      <a14:saturation sat="82000"/>
                    </a14:imgEffect>
                    <a14:imgEffect>
                      <a14:brightnessContrast bright="-5000" contrast="-1000"/>
                    </a14:imgEffect>
                  </a14:imgLayer>
                </a14:imgProps>
              </a:ext>
              <a:ext uri="{28A0092B-C50C-407E-A947-70E740481C1C}">
                <a14:useLocalDpi xmlns:a14="http://schemas.microsoft.com/office/drawing/2010/main" val="0"/>
              </a:ext>
            </a:extLst>
          </a:blip>
          <a:stretch>
            <a:fillRect/>
          </a:stretch>
        </p:blipFill>
        <p:spPr>
          <a:xfrm>
            <a:off x="7888187" y="6381655"/>
            <a:ext cx="299384" cy="299382"/>
          </a:xfrm>
          <a:prstGeom prst="rect">
            <a:avLst/>
          </a:prstGeom>
        </p:spPr>
      </p:pic>
      <p:pic>
        <p:nvPicPr>
          <p:cNvPr id="10" name="Picture 9" descr="A blue butterfly on a black background&#10;&#10;AI-generated content may be incorrect.">
            <a:extLst>
              <a:ext uri="{FF2B5EF4-FFF2-40B4-BE49-F238E27FC236}">
                <a16:creationId xmlns:a16="http://schemas.microsoft.com/office/drawing/2014/main" id="{0827C68E-851E-36D5-3B0B-062C081B896F}"/>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6804136" y="6381655"/>
            <a:ext cx="344286" cy="300336"/>
          </a:xfrm>
          <a:prstGeom prst="rect">
            <a:avLst/>
          </a:prstGeom>
        </p:spPr>
      </p:pic>
    </p:spTree>
    <p:extLst>
      <p:ext uri="{BB962C8B-B14F-4D97-AF65-F5344CB8AC3E}">
        <p14:creationId xmlns:p14="http://schemas.microsoft.com/office/powerpoint/2010/main" val="1520531744"/>
      </p:ext>
    </p:extLst>
  </p:cSld>
  <p:clrMap bg1="lt1" tx1="dk1" bg2="lt2" tx2="dk2" accent1="accent1" accent2="accent2" accent3="accent3" accent4="accent4" accent5="accent5" accent6="accent6" hlink="hlink" folHlink="folHlink"/>
  <p:sldLayoutIdLst>
    <p:sldLayoutId id="2147483696" r:id="rId1"/>
  </p:sldLayoutIdLst>
  <p:txStyles>
    <p:title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1B01AB94-EEA2-3211-2551-34A16625A107}"/>
              </a:ext>
            </a:extLst>
          </p:cNvPr>
          <p:cNvPicPr>
            <a:picLocks noGrp="1" noRot="1" noChangeAspect="1" noMove="1" noResize="1" noEditPoints="1" noAdjustHandles="1" noChangeArrowheads="1" noChangeShapeType="1" noCrop="1"/>
          </p:cNvPicPr>
          <p:nvPr userDrawn="1"/>
        </p:nvPicPr>
        <p:blipFill>
          <a:blip r:embed="rId13">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sp>
        <p:nvSpPr>
          <p:cNvPr id="2" name="Title Placeholder 1">
            <a:extLst>
              <a:ext uri="{FF2B5EF4-FFF2-40B4-BE49-F238E27FC236}">
                <a16:creationId xmlns:a16="http://schemas.microsoft.com/office/drawing/2014/main" id="{4157010D-0C09-8FBA-F719-A4ED7C3FC593}"/>
              </a:ext>
            </a:extLst>
          </p:cNvPr>
          <p:cNvSpPr>
            <a:spLocks noGrp="1"/>
          </p:cNvSpPr>
          <p:nvPr>
            <p:ph type="title"/>
          </p:nvPr>
        </p:nvSpPr>
        <p:spPr>
          <a:xfrm>
            <a:off x="838200" y="365125"/>
            <a:ext cx="973328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BC054D6-CB61-3142-2199-DDEA2FD483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Graphique 7">
            <a:extLst>
              <a:ext uri="{FF2B5EF4-FFF2-40B4-BE49-F238E27FC236}">
                <a16:creationId xmlns:a16="http://schemas.microsoft.com/office/drawing/2014/main" id="{59BD5C5E-FB1B-A32E-1927-AB6A3C9A6664}"/>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10822738" y="196674"/>
            <a:ext cx="1062038" cy="904875"/>
          </a:xfrm>
          <a:prstGeom prst="rect">
            <a:avLst/>
          </a:prstGeom>
        </p:spPr>
      </p:pic>
      <p:pic>
        <p:nvPicPr>
          <p:cNvPr id="12" name="Image 11" descr="Une image contenant Police, Graphique, capture d’écran, graphisme&#10;&#10;Le contenu généré par l’IA peut être incorrect.">
            <a:extLst>
              <a:ext uri="{FF2B5EF4-FFF2-40B4-BE49-F238E27FC236}">
                <a16:creationId xmlns:a16="http://schemas.microsoft.com/office/drawing/2014/main" id="{9DA822DC-EA6F-C834-636F-0CFA0983C12B}"/>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0799716" y="1147469"/>
            <a:ext cx="1169451" cy="376843"/>
          </a:xfrm>
          <a:prstGeom prst="rect">
            <a:avLst/>
          </a:prstGeom>
        </p:spPr>
      </p:pic>
      <p:pic>
        <p:nvPicPr>
          <p:cNvPr id="24" name="Graphique 23">
            <a:extLst>
              <a:ext uri="{FF2B5EF4-FFF2-40B4-BE49-F238E27FC236}">
                <a16:creationId xmlns:a16="http://schemas.microsoft.com/office/drawing/2014/main" id="{14057C36-7CA7-EB30-FD33-9F60CDAC5026}"/>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702387" y="6400644"/>
            <a:ext cx="233674" cy="233674"/>
          </a:xfrm>
          <a:prstGeom prst="rect">
            <a:avLst/>
          </a:prstGeom>
        </p:spPr>
      </p:pic>
      <p:sp>
        <p:nvSpPr>
          <p:cNvPr id="4" name="Espace réservé du numéro de diapositive 5">
            <a:extLst>
              <a:ext uri="{FF2B5EF4-FFF2-40B4-BE49-F238E27FC236}">
                <a16:creationId xmlns:a16="http://schemas.microsoft.com/office/drawing/2014/main" id="{C90A4D89-6DDA-98F5-5988-356E7336010B}"/>
              </a:ext>
            </a:extLst>
          </p:cNvPr>
          <p:cNvSpPr txBox="1">
            <a:spLocks/>
          </p:cNvSpPr>
          <p:nvPr userDrawn="1"/>
        </p:nvSpPr>
        <p:spPr>
          <a:xfrm>
            <a:off x="8143986"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a:t>
            </a:r>
            <a:r>
              <a:rPr lang="en-GB" b="1" dirty="0" err="1">
                <a:solidFill>
                  <a:srgbClr val="346296"/>
                </a:solidFill>
              </a:rPr>
              <a:t>PalmEmanuel</a:t>
            </a:r>
            <a:endParaRPr lang="en-GB" b="1" dirty="0">
              <a:solidFill>
                <a:srgbClr val="346296"/>
              </a:solidFill>
            </a:endParaRPr>
          </a:p>
        </p:txBody>
      </p:sp>
      <p:pic>
        <p:nvPicPr>
          <p:cNvPr id="5" name="Image 10" descr="Une image contenant capture d’écran, ligne, Graphique, Bleu électrique&#10;&#10;Description générée automatiquement">
            <a:extLst>
              <a:ext uri="{FF2B5EF4-FFF2-40B4-BE49-F238E27FC236}">
                <a16:creationId xmlns:a16="http://schemas.microsoft.com/office/drawing/2014/main" id="{E03B0DAE-A785-6DA0-BF26-61009CC65B5F}"/>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210863" y="6405925"/>
            <a:ext cx="248745" cy="254529"/>
          </a:xfrm>
          <a:prstGeom prst="rect">
            <a:avLst/>
          </a:prstGeom>
        </p:spPr>
      </p:pic>
      <p:pic>
        <p:nvPicPr>
          <p:cNvPr id="6" name="Graphic 56">
            <a:extLst>
              <a:ext uri="{FF2B5EF4-FFF2-40B4-BE49-F238E27FC236}">
                <a16:creationId xmlns:a16="http://schemas.microsoft.com/office/drawing/2014/main" id="{357E8442-4C45-BEEC-9FC8-3C018EF3ED16}"/>
              </a:ext>
            </a:extLst>
          </p:cNvPr>
          <p:cNvPicPr>
            <a:picLocks noChangeAspect="1"/>
          </p:cNvPicPr>
          <p:nvPr userDrawn="1"/>
        </p:nvPicPr>
        <p:blipFill>
          <a:blip>
            <a:extLst>
              <a:ext uri="{96DAC541-7B7A-43D3-8B79-37D633B846F1}">
                <asvg:svgBlip xmlns:asvg="http://schemas.microsoft.com/office/drawing/2016/SVG/main" r:embed="rId18"/>
              </a:ext>
            </a:extLst>
          </a:blip>
          <a:srcRect/>
          <a:stretch/>
        </p:blipFill>
        <p:spPr>
          <a:xfrm>
            <a:off x="7501865" y="6368594"/>
            <a:ext cx="327439" cy="320756"/>
          </a:xfrm>
          <a:prstGeom prst="rect">
            <a:avLst/>
          </a:prstGeom>
          <a:effectLst/>
        </p:spPr>
      </p:pic>
      <p:pic>
        <p:nvPicPr>
          <p:cNvPr id="9" name="Picture 8" descr="A blue and black logo&#10;&#10;Description automatically generated">
            <a:extLst>
              <a:ext uri="{FF2B5EF4-FFF2-40B4-BE49-F238E27FC236}">
                <a16:creationId xmlns:a16="http://schemas.microsoft.com/office/drawing/2014/main" id="{00343B52-63FF-5962-24A0-33E05E14BE13}"/>
              </a:ext>
            </a:extLst>
          </p:cNvPr>
          <p:cNvPicPr>
            <a:picLocks noChangeAspect="1"/>
          </p:cNvPicPr>
          <p:nvPr userDrawn="1"/>
        </p:nvPicPr>
        <p:blipFill>
          <a:blip r:embed="rId19">
            <a:extLst>
              <a:ext uri="{BEBA8EAE-BF5A-486C-A8C5-ECC9F3942E4B}">
                <a14:imgProps xmlns:a14="http://schemas.microsoft.com/office/drawing/2010/main">
                  <a14:imgLayer r:embed="rId20">
                    <a14:imgEffect>
                      <a14:colorTemperature colorTemp="11500"/>
                    </a14:imgEffect>
                    <a14:imgEffect>
                      <a14:saturation sat="82000"/>
                    </a14:imgEffect>
                    <a14:imgEffect>
                      <a14:brightnessContrast bright="-5000" contrast="-1000"/>
                    </a14:imgEffect>
                  </a14:imgLayer>
                </a14:imgProps>
              </a:ext>
              <a:ext uri="{28A0092B-C50C-407E-A947-70E740481C1C}">
                <a14:useLocalDpi xmlns:a14="http://schemas.microsoft.com/office/drawing/2010/main" val="0"/>
              </a:ext>
            </a:extLst>
          </a:blip>
          <a:stretch>
            <a:fillRect/>
          </a:stretch>
        </p:blipFill>
        <p:spPr>
          <a:xfrm>
            <a:off x="7888187" y="6381655"/>
            <a:ext cx="299384" cy="299382"/>
          </a:xfrm>
          <a:prstGeom prst="rect">
            <a:avLst/>
          </a:prstGeom>
        </p:spPr>
      </p:pic>
      <p:pic>
        <p:nvPicPr>
          <p:cNvPr id="11" name="Picture 10" descr="A blue butterfly on a black background&#10;&#10;AI-generated content may be incorrect.">
            <a:extLst>
              <a:ext uri="{FF2B5EF4-FFF2-40B4-BE49-F238E27FC236}">
                <a16:creationId xmlns:a16="http://schemas.microsoft.com/office/drawing/2014/main" id="{29C3A7CF-7948-0BAB-159D-6A4CA435DF0B}"/>
              </a:ext>
            </a:extLst>
          </p:cNvPr>
          <p:cNvPicPr>
            <a:picLocks noChangeAspect="1"/>
          </p:cNvPicPr>
          <p:nvPr userDrawn="1"/>
        </p:nvPicPr>
        <p:blipFill>
          <a:blip r:embed="rId21">
            <a:extLst>
              <a:ext uri="{28A0092B-C50C-407E-A947-70E740481C1C}">
                <a14:useLocalDpi xmlns:a14="http://schemas.microsoft.com/office/drawing/2010/main" val="0"/>
              </a:ext>
            </a:extLst>
          </a:blip>
          <a:stretch>
            <a:fillRect/>
          </a:stretch>
        </p:blipFill>
        <p:spPr>
          <a:xfrm>
            <a:off x="6804136" y="6381655"/>
            <a:ext cx="344286" cy="300336"/>
          </a:xfrm>
          <a:prstGeom prst="rect">
            <a:avLst/>
          </a:prstGeom>
        </p:spPr>
      </p:pic>
    </p:spTree>
    <p:extLst>
      <p:ext uri="{BB962C8B-B14F-4D97-AF65-F5344CB8AC3E}">
        <p14:creationId xmlns:p14="http://schemas.microsoft.com/office/powerpoint/2010/main" val="257769973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707" r:id="rId11"/>
  </p:sldLayoutIdLst>
  <p:txStyles>
    <p:titleStyle>
      <a:lvl1pPr algn="l" defTabSz="914400" rtl="0" eaLnBrk="1" latinLnBrk="0" hangingPunct="1">
        <a:lnSpc>
          <a:spcPct val="90000"/>
        </a:lnSpc>
        <a:spcBef>
          <a:spcPct val="0"/>
        </a:spcBef>
        <a:buNone/>
        <a:defRPr sz="5400" b="1" kern="120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KV3D2wP_Uug" TargetMode="External"/><Relationship Id="rId7" Type="http://schemas.openxmlformats.org/officeDocument/2006/relationships/hyperlink" Target="https://www.youtube.com/watch?v=DLGet2ljmIU" TargetMode="External"/><Relationship Id="rId2" Type="http://schemas.openxmlformats.org/officeDocument/2006/relationships/hyperlink" Target="https://www.youtube.com/watch?v=6jQqf-LTRGI" TargetMode="External"/><Relationship Id="rId1" Type="http://schemas.openxmlformats.org/officeDocument/2006/relationships/slideLayout" Target="../slideLayouts/slideLayout8.xml"/><Relationship Id="rId6" Type="http://schemas.openxmlformats.org/officeDocument/2006/relationships/hyperlink" Target="https://www.youtube.com/watch?v=uFrTJIAEuS0" TargetMode="External"/><Relationship Id="rId5" Type="http://schemas.openxmlformats.org/officeDocument/2006/relationships/hyperlink" Target="https://www.youtube.com/watch?v=__J7b84BAmQ" TargetMode="External"/><Relationship Id="rId4" Type="http://schemas.openxmlformats.org/officeDocument/2006/relationships/hyperlink" Target="https://www.youtube.com/watch?v=aftyz5jzaz0"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14.jpg"/><Relationship Id="rId7" Type="http://schemas.openxmlformats.org/officeDocument/2006/relationships/image" Target="../media/image130.png"/><Relationship Id="rId2" Type="http://schemas.openxmlformats.org/officeDocument/2006/relationships/image" Target="../media/image13.png"/><Relationship Id="rId1" Type="http://schemas.openxmlformats.org/officeDocument/2006/relationships/slideLayout" Target="../slideLayouts/slideLayout6.xml"/><Relationship Id="rId5" Type="http://schemas.openxmlformats.org/officeDocument/2006/relationships/customXml" Target="../ink/ink1.xml"/><Relationship Id="rId4" Type="http://schemas.openxmlformats.org/officeDocument/2006/relationships/image" Target="../media/image15.png"/><Relationship Id="rId9" Type="http://schemas.openxmlformats.org/officeDocument/2006/relationships/image" Target="../media/image14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8" Type="http://schemas.openxmlformats.org/officeDocument/2006/relationships/hyperlink" Target="https://github.com/dotnet/core/blob/main/release-notes/6.0/supported-os.md" TargetMode="External"/><Relationship Id="rId3" Type="http://schemas.openxmlformats.org/officeDocument/2006/relationships/hyperlink" Target="https://github.com/dotnet/core/blob/main/release-notes/11.0/supported-os.md" TargetMode="External"/><Relationship Id="rId7" Type="http://schemas.openxmlformats.org/officeDocument/2006/relationships/hyperlink" Target="https://github.com/dotnet/core/blob/main/release-notes/7.0/supported-os.md" TargetMode="External"/><Relationship Id="rId12" Type="http://schemas.openxmlformats.org/officeDocument/2006/relationships/hyperlink" Target="https://github.com/dotnet/core/blob/main/release-notes/2.0/2.0-supported-os.md" TargetMode="External"/><Relationship Id="rId2" Type="http://schemas.openxmlformats.org/officeDocument/2006/relationships/notesSlide" Target="../notesSlides/notesSlide8.xml"/><Relationship Id="rId1" Type="http://schemas.openxmlformats.org/officeDocument/2006/relationships/slideLayout" Target="../slideLayouts/slideLayout8.xml"/><Relationship Id="rId6" Type="http://schemas.openxmlformats.org/officeDocument/2006/relationships/hyperlink" Target="https://github.com/dotnet/core/blob/main/release-notes/8.0/supported-os.md" TargetMode="External"/><Relationship Id="rId11" Type="http://schemas.openxmlformats.org/officeDocument/2006/relationships/hyperlink" Target="https://github.com/dotnet/core/blob/main/release-notes/2.1/2.1-supported-os.md" TargetMode="External"/><Relationship Id="rId5" Type="http://schemas.openxmlformats.org/officeDocument/2006/relationships/hyperlink" Target="https://github.com/dotnet/core/blob/main/release-notes/9.0/supported-os.md" TargetMode="External"/><Relationship Id="rId10" Type="http://schemas.openxmlformats.org/officeDocument/2006/relationships/hyperlink" Target="https://github.com/dotnet/core/blob/main/release-notes/3.1/3.1-supported-os.md" TargetMode="External"/><Relationship Id="rId4" Type="http://schemas.openxmlformats.org/officeDocument/2006/relationships/hyperlink" Target="https://github.com/dotnet/core/blob/main/release-notes/10.0/supported-os.md" TargetMode="External"/><Relationship Id="rId9" Type="http://schemas.openxmlformats.org/officeDocument/2006/relationships/hyperlink" Target="https://github.com/dotnet/core/blob/main/release-notes/5.0/5.0-supported-os.md" TargetMode="Externa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3.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image" Target="../media/image21.svg"/></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feld 2">
            <a:extLst>
              <a:ext uri="{FF2B5EF4-FFF2-40B4-BE49-F238E27FC236}">
                <a16:creationId xmlns:a16="http://schemas.microsoft.com/office/drawing/2014/main" id="{A13D084F-E8FE-14E3-7A60-1AB8B95A44C2}"/>
              </a:ext>
            </a:extLst>
          </p:cNvPr>
          <p:cNvSpPr txBox="1"/>
          <p:nvPr/>
        </p:nvSpPr>
        <p:spPr>
          <a:xfrm>
            <a:off x="1046162" y="1057275"/>
            <a:ext cx="4892675" cy="5187830"/>
          </a:xfrm>
          <a:prstGeom prst="rect">
            <a:avLst/>
          </a:prstGeom>
          <a:noFill/>
        </p:spPr>
        <p:txBody>
          <a:bodyPr wrap="square" rtlCol="0">
            <a:spAutoFit/>
          </a:bodyPr>
          <a:lstStyle/>
          <a:p>
            <a:pPr>
              <a:lnSpc>
                <a:spcPct val="110000"/>
              </a:lnSpc>
            </a:pPr>
            <a:r>
              <a:rPr lang="en-US" sz="1400"/>
              <a:t>Dear Speaker, we are thrilled and honored to have you with us in Wiesbaden in 2026. Take your time and read this before you prepare your session. </a:t>
            </a:r>
          </a:p>
          <a:p>
            <a:pPr>
              <a:lnSpc>
                <a:spcPct val="110000"/>
              </a:lnSpc>
            </a:pPr>
            <a:endParaRPr lang="en-US" sz="1400"/>
          </a:p>
          <a:p>
            <a:pPr>
              <a:lnSpc>
                <a:spcPct val="110000"/>
              </a:lnSpc>
              <a:spcAft>
                <a:spcPts val="1000"/>
              </a:spcAft>
            </a:pPr>
            <a:r>
              <a:rPr lang="en-US" sz="1400"/>
              <a:t>Since most of you have been with us before, you will already know a lot about </a:t>
            </a:r>
            <a:r>
              <a:rPr lang="en-US" sz="1400" err="1"/>
              <a:t>PSConfEU</a:t>
            </a:r>
            <a:r>
              <a:rPr lang="en-US" sz="1400"/>
              <a:t>. You know that we try to capture all sessions carefully and publish your work on YouTube. </a:t>
            </a:r>
            <a:r>
              <a:rPr lang="en-US" sz="1400" b="1" u="sng"/>
              <a:t>There are a few easily avoidable stumbling blocks that we would like to draw your attention to: </a:t>
            </a:r>
          </a:p>
          <a:p>
            <a:pPr marL="285750" indent="-285750">
              <a:lnSpc>
                <a:spcPct val="110000"/>
              </a:lnSpc>
              <a:buClr>
                <a:srgbClr val="C00000"/>
              </a:buClr>
              <a:buFont typeface="Arial" panose="020B0604020202020204" pitchFamily="34" charset="0"/>
              <a:buChar char="•"/>
            </a:pPr>
            <a:r>
              <a:rPr lang="en-US" sz="1400"/>
              <a:t>Your screen resolution should be</a:t>
            </a:r>
            <a:br>
              <a:rPr lang="en-US" sz="1400"/>
            </a:br>
            <a:r>
              <a:rPr lang="en-US" sz="1400"/>
              <a:t>1920x1080 </a:t>
            </a:r>
            <a:r>
              <a:rPr lang="en-US" sz="1400" err="1"/>
              <a:t>px</a:t>
            </a:r>
            <a:r>
              <a:rPr lang="en-US" sz="1400"/>
              <a:t> (</a:t>
            </a:r>
            <a:r>
              <a:rPr lang="en-US" sz="1400" err="1"/>
              <a:t>FullHD</a:t>
            </a:r>
            <a:r>
              <a:rPr lang="en-US" sz="1400"/>
              <a:t>)</a:t>
            </a:r>
          </a:p>
          <a:p>
            <a:pPr marL="285750" indent="-285750">
              <a:lnSpc>
                <a:spcPct val="110000"/>
              </a:lnSpc>
              <a:buClr>
                <a:srgbClr val="C00000"/>
              </a:buClr>
              <a:buFont typeface="Arial" panose="020B0604020202020204" pitchFamily="34" charset="0"/>
              <a:buChar char="•"/>
            </a:pPr>
            <a:r>
              <a:rPr lang="en-US" sz="1400"/>
              <a:t>You should provide a full size HDMI socket</a:t>
            </a:r>
          </a:p>
          <a:p>
            <a:pPr marL="285750" indent="-285750">
              <a:lnSpc>
                <a:spcPct val="110000"/>
              </a:lnSpc>
              <a:buClr>
                <a:srgbClr val="C00000"/>
              </a:buClr>
              <a:buFont typeface="Arial" panose="020B0604020202020204" pitchFamily="34" charset="0"/>
              <a:buChar char="•"/>
            </a:pPr>
            <a:r>
              <a:rPr lang="en-US" sz="1400"/>
              <a:t>Mirror your screen</a:t>
            </a:r>
          </a:p>
          <a:p>
            <a:pPr marL="285750" indent="-285750">
              <a:lnSpc>
                <a:spcPct val="110000"/>
              </a:lnSpc>
              <a:buClr>
                <a:srgbClr val="C00000"/>
              </a:buClr>
              <a:buFont typeface="Arial" panose="020B0604020202020204" pitchFamily="34" charset="0"/>
              <a:buChar char="•"/>
            </a:pPr>
            <a:r>
              <a:rPr lang="en-US" sz="1400"/>
              <a:t>Disable "Presenter View" in PowerPoint</a:t>
            </a:r>
          </a:p>
          <a:p>
            <a:pPr marL="285750" indent="-285750">
              <a:lnSpc>
                <a:spcPct val="110000"/>
              </a:lnSpc>
              <a:buClr>
                <a:srgbClr val="C00000"/>
              </a:buClr>
              <a:buFont typeface="Arial" panose="020B0604020202020204" pitchFamily="34" charset="0"/>
              <a:buChar char="•"/>
            </a:pPr>
            <a:r>
              <a:rPr lang="en-US" sz="1400"/>
              <a:t>Using MAC or Surface book? </a:t>
            </a:r>
            <a:br>
              <a:rPr lang="en-US" sz="1400"/>
            </a:br>
            <a:r>
              <a:rPr lang="en-US" sz="1400"/>
              <a:t>Be aware of HDCP!</a:t>
            </a:r>
          </a:p>
          <a:p>
            <a:pPr marL="285750" indent="-285750">
              <a:lnSpc>
                <a:spcPct val="110000"/>
              </a:lnSpc>
              <a:buClr>
                <a:srgbClr val="C00000"/>
              </a:buClr>
              <a:buFont typeface="Arial" panose="020B0604020202020204" pitchFamily="34" charset="0"/>
              <a:buChar char="•"/>
            </a:pPr>
            <a:r>
              <a:rPr lang="en-US" sz="1400"/>
              <a:t>Disable the ‘Night Light’ Mode</a:t>
            </a:r>
          </a:p>
          <a:p>
            <a:pPr marL="285750" indent="-285750">
              <a:lnSpc>
                <a:spcPct val="110000"/>
              </a:lnSpc>
              <a:buClr>
                <a:srgbClr val="C00000"/>
              </a:buClr>
              <a:buFont typeface="Arial" panose="020B0604020202020204" pitchFamily="34" charset="0"/>
              <a:buChar char="•"/>
            </a:pPr>
            <a:r>
              <a:rPr lang="en-GB" sz="1400"/>
              <a:t>Enable the presentation setting</a:t>
            </a:r>
            <a:br>
              <a:rPr lang="en-GB" sz="1400"/>
            </a:br>
            <a:r>
              <a:rPr lang="en-GB" sz="1400" i="1"/>
              <a:t>(presentationsettings.exe in Windows)</a:t>
            </a:r>
          </a:p>
          <a:p>
            <a:pPr marL="285750" indent="-285750">
              <a:lnSpc>
                <a:spcPct val="110000"/>
              </a:lnSpc>
              <a:buClr>
                <a:srgbClr val="C00000"/>
              </a:buClr>
              <a:buFont typeface="Arial" panose="020B0604020202020204" pitchFamily="34" charset="0"/>
              <a:buChar char="•"/>
            </a:pPr>
            <a:r>
              <a:rPr lang="en-GB" sz="1400"/>
              <a:t>If you present sensitive information on web portals, consider using something like "</a:t>
            </a:r>
            <a:r>
              <a:rPr lang="en-GB" sz="1400" err="1"/>
              <a:t>CloudCloak</a:t>
            </a:r>
            <a:r>
              <a:rPr lang="en-GB" sz="1400"/>
              <a:t>"</a:t>
            </a:r>
            <a:endParaRPr lang="en-US" sz="1400" i="1"/>
          </a:p>
        </p:txBody>
      </p:sp>
      <p:sp>
        <p:nvSpPr>
          <p:cNvPr id="4" name="Rechteck 3">
            <a:extLst>
              <a:ext uri="{FF2B5EF4-FFF2-40B4-BE49-F238E27FC236}">
                <a16:creationId xmlns:a16="http://schemas.microsoft.com/office/drawing/2014/main" id="{CBA44082-0847-F389-B219-CBA49C7725C2}"/>
              </a:ext>
            </a:extLst>
          </p:cNvPr>
          <p:cNvSpPr/>
          <p:nvPr/>
        </p:nvSpPr>
        <p:spPr>
          <a:xfrm>
            <a:off x="0" y="0"/>
            <a:ext cx="889000" cy="6858000"/>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4400">
                <a:latin typeface="Calibri" panose="020F0502020204030204" pitchFamily="34" charset="0"/>
                <a:ea typeface="Calibri" panose="020F0502020204030204" pitchFamily="34" charset="0"/>
                <a:cs typeface="Calibri" panose="020F0502020204030204" pitchFamily="34" charset="0"/>
              </a:rPr>
              <a:t>BURN AFTER READING</a:t>
            </a:r>
            <a:endParaRPr lang="en-DE" sz="4400">
              <a:latin typeface="Calibri" panose="020F0502020204030204" pitchFamily="34" charset="0"/>
              <a:ea typeface="Calibri" panose="020F0502020204030204" pitchFamily="34" charset="0"/>
              <a:cs typeface="Calibri" panose="020F0502020204030204" pitchFamily="34" charset="0"/>
            </a:endParaRPr>
          </a:p>
        </p:txBody>
      </p:sp>
      <p:sp>
        <p:nvSpPr>
          <p:cNvPr id="2" name="Textfeld 1">
            <a:extLst>
              <a:ext uri="{FF2B5EF4-FFF2-40B4-BE49-F238E27FC236}">
                <a16:creationId xmlns:a16="http://schemas.microsoft.com/office/drawing/2014/main" id="{A196BBFD-A430-8F6F-DBB7-52C55DB3DA2F}"/>
              </a:ext>
            </a:extLst>
          </p:cNvPr>
          <p:cNvSpPr txBox="1"/>
          <p:nvPr/>
        </p:nvSpPr>
        <p:spPr>
          <a:xfrm>
            <a:off x="5938836" y="663834"/>
            <a:ext cx="5972175" cy="5087290"/>
          </a:xfrm>
          <a:prstGeom prst="rect">
            <a:avLst/>
          </a:prstGeom>
          <a:noFill/>
        </p:spPr>
        <p:txBody>
          <a:bodyPr wrap="square" rtlCol="0">
            <a:spAutoFit/>
          </a:bodyPr>
          <a:lstStyle/>
          <a:p>
            <a:pPr>
              <a:lnSpc>
                <a:spcPct val="110000"/>
              </a:lnSpc>
              <a:spcAft>
                <a:spcPts val="800"/>
              </a:spcAft>
            </a:pPr>
            <a:r>
              <a:rPr lang="en-US" sz="1600" b="1" err="1">
                <a:highlight>
                  <a:srgbClr val="00FF00"/>
                </a:highlight>
              </a:rPr>
              <a:t>about_SlideDeck</a:t>
            </a:r>
            <a:endParaRPr lang="en-US" sz="1600" b="1">
              <a:highlight>
                <a:srgbClr val="00FF00"/>
              </a:highlight>
            </a:endParaRPr>
          </a:p>
          <a:p>
            <a:pPr>
              <a:lnSpc>
                <a:spcPct val="110000"/>
              </a:lnSpc>
            </a:pPr>
            <a:r>
              <a:rPr lang="en-US" sz="1400"/>
              <a:t>The actual presentation starts with slide 6 ("Session title"). The first five slides have a purely </a:t>
            </a:r>
            <a:r>
              <a:rPr lang="en-US" sz="1400" err="1"/>
              <a:t>organisational</a:t>
            </a:r>
            <a:r>
              <a:rPr lang="en-US" sz="1400"/>
              <a:t> purpose. During the break before your session, you should start the presentation with slide 2 ("Next up"), so that the audience knows that they are in the right room. It's fine if you start chatting with the audience during this break, </a:t>
            </a:r>
            <a:r>
              <a:rPr lang="en-US" sz="1400" b="1"/>
              <a:t>but</a:t>
            </a:r>
            <a:r>
              <a:rPr lang="en-US" sz="1400"/>
              <a:t> </a:t>
            </a:r>
            <a:r>
              <a:rPr lang="en-US" sz="1400" b="1"/>
              <a:t>we need a precise starting point for your presentation </a:t>
            </a:r>
            <a:r>
              <a:rPr lang="en-US" sz="1400"/>
              <a:t>in terms of editing your video. That means: </a:t>
            </a:r>
          </a:p>
          <a:p>
            <a:pPr>
              <a:lnSpc>
                <a:spcPct val="110000"/>
              </a:lnSpc>
            </a:pPr>
            <a:r>
              <a:rPr lang="en-US" sz="1400"/>
              <a:t>The recording of your presentation will start after the countdown. </a:t>
            </a:r>
            <a:r>
              <a:rPr lang="en-US" sz="1400" b="1"/>
              <a:t>Please  (RE)START talking after the countdown</a:t>
            </a:r>
            <a:r>
              <a:rPr lang="en-US" sz="1400"/>
              <a:t>, not during it! Otherwise your recording will start with a half sentence.  </a:t>
            </a:r>
          </a:p>
          <a:p>
            <a:pPr>
              <a:lnSpc>
                <a:spcPct val="110000"/>
              </a:lnSpc>
            </a:pPr>
            <a:r>
              <a:rPr lang="en-US" sz="1400"/>
              <a:t>It is not necessary to explicitly signal to the PA operator, this is your signal! </a:t>
            </a:r>
          </a:p>
          <a:p>
            <a:pPr>
              <a:lnSpc>
                <a:spcPct val="110000"/>
              </a:lnSpc>
            </a:pPr>
            <a:endParaRPr lang="en-US" sz="1400"/>
          </a:p>
          <a:p>
            <a:pPr>
              <a:lnSpc>
                <a:spcPct val="110000"/>
              </a:lnSpc>
            </a:pPr>
            <a:r>
              <a:rPr lang="en-US" sz="1400"/>
              <a:t>Finally, do you have to use this slide deck? </a:t>
            </a:r>
            <a:br>
              <a:rPr lang="en-US" sz="1400"/>
            </a:br>
            <a:r>
              <a:rPr lang="en-US" sz="1400"/>
              <a:t>No, you are free to present the way you like it. But you are asked </a:t>
            </a:r>
            <a:br>
              <a:rPr lang="en-US" sz="1400"/>
            </a:br>
            <a:r>
              <a:rPr lang="en-US" sz="1400"/>
              <a:t>to use the intro slides: countdown, session title, sponsor slide.</a:t>
            </a:r>
            <a:br>
              <a:rPr lang="en-US" sz="1400"/>
            </a:br>
            <a:r>
              <a:rPr lang="en-US" sz="1400"/>
              <a:t>Beyond that, use what is good for the cause – from no slides to sketches from your children, from </a:t>
            </a:r>
            <a:r>
              <a:rPr lang="en-US" sz="1400" err="1"/>
              <a:t>Jupyter</a:t>
            </a:r>
            <a:r>
              <a:rPr lang="en-US" sz="1400"/>
              <a:t> to $</a:t>
            </a:r>
            <a:r>
              <a:rPr lang="en-US" sz="1400" err="1"/>
              <a:t>youNameIt</a:t>
            </a:r>
            <a:r>
              <a:rPr lang="en-US" sz="1400"/>
              <a:t>. </a:t>
            </a:r>
          </a:p>
          <a:p>
            <a:pPr>
              <a:lnSpc>
                <a:spcPct val="110000"/>
              </a:lnSpc>
              <a:spcAft>
                <a:spcPts val="1000"/>
              </a:spcAft>
            </a:pPr>
            <a:r>
              <a:rPr lang="en-US" sz="1400"/>
              <a:t>You will find additional information in the notes below.</a:t>
            </a:r>
          </a:p>
          <a:p>
            <a:pPr>
              <a:lnSpc>
                <a:spcPct val="110000"/>
              </a:lnSpc>
            </a:pPr>
            <a:r>
              <a:rPr lang="en-US" sz="1400" i="1"/>
              <a:t>Sincerely, your hosts!</a:t>
            </a:r>
          </a:p>
        </p:txBody>
      </p:sp>
      <p:sp>
        <p:nvSpPr>
          <p:cNvPr id="5" name="Titel 4">
            <a:extLst>
              <a:ext uri="{FF2B5EF4-FFF2-40B4-BE49-F238E27FC236}">
                <a16:creationId xmlns:a16="http://schemas.microsoft.com/office/drawing/2014/main" id="{E2CFEAF8-3999-F242-E154-0BD39B8675DC}"/>
              </a:ext>
            </a:extLst>
          </p:cNvPr>
          <p:cNvSpPr>
            <a:spLocks noGrp="1"/>
          </p:cNvSpPr>
          <p:nvPr>
            <p:ph type="title" idx="4294967295"/>
          </p:nvPr>
        </p:nvSpPr>
        <p:spPr>
          <a:xfrm>
            <a:off x="1046161" y="66675"/>
            <a:ext cx="4892675" cy="662782"/>
          </a:xfrm>
          <a:prstGeom prst="rect">
            <a:avLst/>
          </a:prstGeom>
        </p:spPr>
        <p:txBody>
          <a:bodyPr/>
          <a:lstStyle/>
          <a:p>
            <a:r>
              <a:rPr lang="en-DE" sz="4200">
                <a:latin typeface="Calibri" panose="020F0502020204030204" pitchFamily="34" charset="0"/>
                <a:ea typeface="Calibri" panose="020F0502020204030204" pitchFamily="34" charset="0"/>
                <a:cs typeface="Calibri" panose="020F0502020204030204" pitchFamily="34" charset="0"/>
              </a:rPr>
              <a:t>R</a:t>
            </a:r>
            <a:r>
              <a:rPr lang="en-US" sz="4200">
                <a:latin typeface="Calibri" panose="020F0502020204030204" pitchFamily="34" charset="0"/>
                <a:ea typeface="Calibri" panose="020F0502020204030204" pitchFamily="34" charset="0"/>
                <a:cs typeface="Calibri" panose="020F0502020204030204" pitchFamily="34" charset="0"/>
              </a:rPr>
              <a:t>EADME</a:t>
            </a:r>
            <a:endParaRPr lang="en-DE" sz="420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31095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512BD2B3-5213-AE89-B245-3E2067844782}"/>
              </a:ext>
            </a:extLst>
          </p:cNvPr>
          <p:cNvSpPr txBox="1">
            <a:spLocks/>
          </p:cNvSpPr>
          <p:nvPr/>
        </p:nvSpPr>
        <p:spPr>
          <a:xfrm>
            <a:off x="1524000" y="4271395"/>
            <a:ext cx="9144000" cy="631759"/>
          </a:xfrm>
          <a:prstGeom prst="rect">
            <a:avLst/>
          </a:prstGeom>
        </p:spPr>
        <p:txBody>
          <a:bodyPr>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i="1" dirty="0">
                <a:latin typeface="Segoe UI" panose="020B0502040204020203" pitchFamily="34" charset="0"/>
                <a:cs typeface="Segoe UI" panose="020B0502040204020203" pitchFamily="34" charset="0"/>
              </a:rPr>
              <a:t>Emanuel Palm</a:t>
            </a:r>
            <a:endParaRPr lang="en-GB" b="1" i="1" dirty="0">
              <a:latin typeface="Segoe UI" panose="020B0502040204020203" pitchFamily="34" charset="0"/>
              <a:cs typeface="Segoe UI" panose="020B0502040204020203" pitchFamily="34" charset="0"/>
            </a:endParaRPr>
          </a:p>
        </p:txBody>
      </p:sp>
      <p:cxnSp>
        <p:nvCxnSpPr>
          <p:cNvPr id="4" name="Connecteur droit 5">
            <a:extLst>
              <a:ext uri="{FF2B5EF4-FFF2-40B4-BE49-F238E27FC236}">
                <a16:creationId xmlns:a16="http://schemas.microsoft.com/office/drawing/2014/main" id="{E9631884-5100-1BA8-2365-47609B2977D7}"/>
              </a:ext>
            </a:extLst>
          </p:cNvPr>
          <p:cNvCxnSpPr/>
          <p:nvPr/>
        </p:nvCxnSpPr>
        <p:spPr>
          <a:xfrm>
            <a:off x="3867150" y="408940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5" name="Titel 4">
            <a:extLst>
              <a:ext uri="{FF2B5EF4-FFF2-40B4-BE49-F238E27FC236}">
                <a16:creationId xmlns:a16="http://schemas.microsoft.com/office/drawing/2014/main" id="{EC34FE26-AFCF-2A09-DB2E-84FFA4D454A5}"/>
              </a:ext>
            </a:extLst>
          </p:cNvPr>
          <p:cNvSpPr>
            <a:spLocks noGrp="1"/>
          </p:cNvSpPr>
          <p:nvPr>
            <p:ph type="title" idx="4294967295"/>
          </p:nvPr>
        </p:nvSpPr>
        <p:spPr>
          <a:xfrm>
            <a:off x="863600" y="2672840"/>
            <a:ext cx="10515600" cy="1325563"/>
          </a:xfrm>
          <a:prstGeom prst="rect">
            <a:avLst/>
          </a:prstGeom>
        </p:spPr>
        <p:txBody>
          <a:bodyPr anchor="b" anchorCtr="0"/>
          <a:lstStyle/>
          <a:p>
            <a:pPr algn="ctr"/>
            <a:r>
              <a:rPr lang="en-DE" sz="6000" b="1">
                <a:solidFill>
                  <a:srgbClr val="346296"/>
                </a:solidFill>
                <a:latin typeface="Segoe UI Light" panose="020B0502040204020203" pitchFamily="34" charset="0"/>
                <a:cs typeface="Segoe UI Light" panose="020B0502040204020203" pitchFamily="34" charset="0"/>
              </a:rPr>
              <a:t>N</a:t>
            </a:r>
            <a:r>
              <a:rPr lang="en-US" sz="6000" b="1" err="1">
                <a:solidFill>
                  <a:srgbClr val="346296"/>
                </a:solidFill>
                <a:latin typeface="Segoe UI Light" panose="020B0502040204020203" pitchFamily="34" charset="0"/>
                <a:cs typeface="Segoe UI Light" panose="020B0502040204020203" pitchFamily="34" charset="0"/>
              </a:rPr>
              <a:t>ext</a:t>
            </a:r>
            <a:r>
              <a:rPr lang="en-US" sz="6000" b="1">
                <a:solidFill>
                  <a:srgbClr val="346296"/>
                </a:solidFill>
                <a:latin typeface="Segoe UI Light" panose="020B0502040204020203" pitchFamily="34" charset="0"/>
                <a:cs typeface="Segoe UI Light" panose="020B0502040204020203" pitchFamily="34" charset="0"/>
              </a:rPr>
              <a:t> Up:</a:t>
            </a:r>
            <a:endParaRPr lang="en-DE" sz="6000" b="1">
              <a:solidFill>
                <a:srgbClr val="346296"/>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3158865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1">
            <a:extLst>
              <a:ext uri="{FF2B5EF4-FFF2-40B4-BE49-F238E27FC236}">
                <a16:creationId xmlns:a16="http://schemas.microsoft.com/office/drawing/2014/main" id="{82643D59-896E-68AE-5BCA-3F8558F198EF}"/>
              </a:ext>
            </a:extLst>
          </p:cNvPr>
          <p:cNvSpPr txBox="1">
            <a:spLocks/>
          </p:cNvSpPr>
          <p:nvPr/>
        </p:nvSpPr>
        <p:spPr>
          <a:xfrm>
            <a:off x="838200" y="365125"/>
            <a:ext cx="973328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a:t>3</a:t>
            </a:r>
            <a:endParaRPr lang="en-GB"/>
          </a:p>
        </p:txBody>
      </p:sp>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3</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2970004164"/>
      </p:ext>
    </p:extLst>
  </p:cSld>
  <p:clrMapOvr>
    <a:masterClrMapping/>
  </p:clrMapOvr>
  <p:transition spd="slow" advTm="1000">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2</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986012733"/>
      </p:ext>
    </p:extLst>
  </p:cSld>
  <p:clrMapOvr>
    <a:masterClrMapping/>
  </p:clrMapOvr>
  <p:transition spd="slow" advTm="1000">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latin typeface="Stencil" panose="040409050D0802020404" pitchFamily="82" charset="0"/>
              </a:rPr>
              <a:t>1</a:t>
            </a:r>
            <a:endParaRPr lang="en-DE" sz="25000">
              <a:latin typeface="Stencil" panose="040409050D0802020404" pitchFamily="82" charset="0"/>
            </a:endParaRPr>
          </a:p>
        </p:txBody>
      </p:sp>
    </p:spTree>
    <p:extLst>
      <p:ext uri="{BB962C8B-B14F-4D97-AF65-F5344CB8AC3E}">
        <p14:creationId xmlns:p14="http://schemas.microsoft.com/office/powerpoint/2010/main" val="73231530"/>
      </p:ext>
    </p:extLst>
  </p:cSld>
  <p:clrMapOvr>
    <a:masterClrMapping/>
  </p:clrMapOvr>
  <p:transition spd="slow" advTm="1000">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145A3-D453-0047-C772-ED03164FD26F}"/>
            </a:ext>
          </a:extLst>
        </p:cNvPr>
        <p:cNvGrpSpPr/>
        <p:nvPr/>
      </p:nvGrpSpPr>
      <p:grpSpPr>
        <a:xfrm>
          <a:off x="0" y="0"/>
          <a:ext cx="0" cy="0"/>
          <a:chOff x="0" y="0"/>
          <a:chExt cx="0" cy="0"/>
        </a:xfrm>
      </p:grpSpPr>
      <p:sp>
        <p:nvSpPr>
          <p:cNvPr id="3" name="Sous-titre 2">
            <a:extLst>
              <a:ext uri="{FF2B5EF4-FFF2-40B4-BE49-F238E27FC236}">
                <a16:creationId xmlns:a16="http://schemas.microsoft.com/office/drawing/2014/main" id="{3D337DCC-7275-13FA-F9E0-7DCE8E6A9B87}"/>
              </a:ext>
            </a:extLst>
          </p:cNvPr>
          <p:cNvSpPr txBox="1">
            <a:spLocks/>
          </p:cNvSpPr>
          <p:nvPr/>
        </p:nvSpPr>
        <p:spPr>
          <a:xfrm>
            <a:off x="1524000" y="4597215"/>
            <a:ext cx="9144000" cy="631759"/>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sz="3600" b="1" i="1" dirty="0"/>
              <a:t>Emanuel Palm</a:t>
            </a:r>
            <a:endParaRPr lang="en-GB" sz="3600" b="1" i="1" dirty="0"/>
          </a:p>
        </p:txBody>
      </p:sp>
      <p:cxnSp>
        <p:nvCxnSpPr>
          <p:cNvPr id="6" name="Connecteur droit 5">
            <a:extLst>
              <a:ext uri="{FF2B5EF4-FFF2-40B4-BE49-F238E27FC236}">
                <a16:creationId xmlns:a16="http://schemas.microsoft.com/office/drawing/2014/main" id="{A675592C-4C3B-EAB9-2582-2F213947B3F7}"/>
              </a:ext>
            </a:extLst>
          </p:cNvPr>
          <p:cNvCxnSpPr/>
          <p:nvPr/>
        </p:nvCxnSpPr>
        <p:spPr>
          <a:xfrm>
            <a:off x="3867150" y="441522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4" name="Titel 3">
            <a:extLst>
              <a:ext uri="{FF2B5EF4-FFF2-40B4-BE49-F238E27FC236}">
                <a16:creationId xmlns:a16="http://schemas.microsoft.com/office/drawing/2014/main" id="{46D77E42-4AD5-2F55-8E85-0363A48920EA}"/>
              </a:ext>
            </a:extLst>
          </p:cNvPr>
          <p:cNvSpPr>
            <a:spLocks noGrp="1"/>
          </p:cNvSpPr>
          <p:nvPr>
            <p:ph type="title" idx="4294967295"/>
          </p:nvPr>
        </p:nvSpPr>
        <p:spPr>
          <a:xfrm>
            <a:off x="105103" y="1978492"/>
            <a:ext cx="11981794" cy="2436728"/>
          </a:xfrm>
          <a:prstGeom prst="rect">
            <a:avLst/>
          </a:prstGeom>
          <a:ln>
            <a:noFill/>
          </a:ln>
        </p:spPr>
        <p:txBody>
          <a:bodyPr anchor="b" anchorCtr="0"/>
          <a:lstStyle/>
          <a:p>
            <a:pPr algn="ctr"/>
            <a:r>
              <a:rPr lang="en-US" sz="6000" i="1" dirty="0">
                <a:solidFill>
                  <a:srgbClr val="346297"/>
                </a:solidFill>
                <a:effectLst/>
                <a:latin typeface="+mn-lt"/>
              </a:rPr>
              <a:t>Buildin</a:t>
            </a:r>
            <a:r>
              <a:rPr lang="en-US" sz="6000" i="1" dirty="0">
                <a:solidFill>
                  <a:srgbClr val="346297"/>
                </a:solidFill>
                <a:latin typeface="+mn-lt"/>
              </a:rPr>
              <a:t>g </a:t>
            </a:r>
            <a:r>
              <a:rPr lang="en-US" sz="6000" i="1" dirty="0">
                <a:solidFill>
                  <a:srgbClr val="CEA551"/>
                </a:solidFill>
                <a:latin typeface="+mn-lt"/>
              </a:rPr>
              <a:t>Open Source</a:t>
            </a:r>
            <a:br>
              <a:rPr lang="en-US" sz="6000" i="1" dirty="0">
                <a:solidFill>
                  <a:srgbClr val="346297"/>
                </a:solidFill>
                <a:latin typeface="+mn-lt"/>
              </a:rPr>
            </a:br>
            <a:r>
              <a:rPr lang="en-US" sz="6000" i="1" dirty="0">
                <a:solidFill>
                  <a:srgbClr val="336297"/>
                </a:solidFill>
                <a:latin typeface="+mn-lt"/>
              </a:rPr>
              <a:t>Modules</a:t>
            </a:r>
            <a:r>
              <a:rPr lang="en-US" sz="6000" i="1" dirty="0">
                <a:solidFill>
                  <a:srgbClr val="336297"/>
                </a:solidFill>
                <a:effectLst/>
                <a:latin typeface="+mn-lt"/>
              </a:rPr>
              <a:t> </a:t>
            </a:r>
            <a:r>
              <a:rPr lang="en-US" sz="6000" i="1" dirty="0">
                <a:solidFill>
                  <a:srgbClr val="336297"/>
                </a:solidFill>
                <a:latin typeface="+mn-lt"/>
              </a:rPr>
              <a:t>in </a:t>
            </a:r>
            <a:r>
              <a:rPr lang="en-US" sz="6000" i="1" dirty="0">
                <a:solidFill>
                  <a:srgbClr val="336297"/>
                </a:solidFill>
                <a:effectLst/>
                <a:latin typeface="+mn-lt"/>
              </a:rPr>
              <a:t>C</a:t>
            </a:r>
            <a:r>
              <a:rPr lang="en-US" sz="6000" i="1" dirty="0">
                <a:solidFill>
                  <a:srgbClr val="346297"/>
                </a:solidFill>
                <a:effectLst/>
                <a:latin typeface="+mn-lt"/>
              </a:rPr>
              <a:t>#</a:t>
            </a:r>
            <a:endParaRPr lang="en-DE" sz="6000" i="1" dirty="0">
              <a:solidFill>
                <a:srgbClr val="346297"/>
              </a:solidFill>
              <a:effectLst/>
              <a:latin typeface="+mn-lt"/>
            </a:endParaRPr>
          </a:p>
        </p:txBody>
      </p:sp>
    </p:spTree>
    <p:extLst>
      <p:ext uri="{BB962C8B-B14F-4D97-AF65-F5344CB8AC3E}">
        <p14:creationId xmlns:p14="http://schemas.microsoft.com/office/powerpoint/2010/main" val="1552906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369C4-2E66-2CA1-F9AA-A92CED74B202}"/>
              </a:ext>
            </a:extLst>
          </p:cNvPr>
          <p:cNvSpPr>
            <a:spLocks noGrp="1"/>
          </p:cNvSpPr>
          <p:nvPr>
            <p:ph type="title"/>
          </p:nvPr>
        </p:nvSpPr>
        <p:spPr/>
        <p:txBody>
          <a:bodyPr/>
          <a:lstStyle/>
          <a:p>
            <a:r>
              <a:rPr lang="en-US" dirty="0"/>
              <a:t>Previous </a:t>
            </a:r>
            <a:r>
              <a:rPr lang="en-US" dirty="0" err="1"/>
              <a:t>PSConfEU</a:t>
            </a:r>
            <a:r>
              <a:rPr lang="en-US" dirty="0"/>
              <a:t> sessions</a:t>
            </a:r>
          </a:p>
        </p:txBody>
      </p:sp>
      <p:sp>
        <p:nvSpPr>
          <p:cNvPr id="3" name="Content Placeholder 2">
            <a:extLst>
              <a:ext uri="{FF2B5EF4-FFF2-40B4-BE49-F238E27FC236}">
                <a16:creationId xmlns:a16="http://schemas.microsoft.com/office/drawing/2014/main" id="{94D11C5C-42F5-CD4F-41BC-DCD41EAB8065}"/>
              </a:ext>
            </a:extLst>
          </p:cNvPr>
          <p:cNvSpPr>
            <a:spLocks noGrp="1"/>
          </p:cNvSpPr>
          <p:nvPr>
            <p:ph idx="1"/>
          </p:nvPr>
        </p:nvSpPr>
        <p:spPr>
          <a:xfrm>
            <a:off x="838199" y="1825625"/>
            <a:ext cx="11538527" cy="4351338"/>
          </a:xfrm>
        </p:spPr>
        <p:txBody>
          <a:bodyPr>
            <a:normAutofit fontScale="92500" lnSpcReduction="20000"/>
          </a:bodyPr>
          <a:lstStyle/>
          <a:p>
            <a:r>
              <a:rPr lang="en-US" sz="2400" dirty="0"/>
              <a:t>2023</a:t>
            </a:r>
          </a:p>
          <a:p>
            <a:pPr lvl="1"/>
            <a:r>
              <a:rPr lang="en-US" sz="2400" dirty="0">
                <a:hlinkClick r:id="rId2"/>
              </a:rPr>
              <a:t>Creating your first PowerShell module in C#</a:t>
            </a:r>
            <a:endParaRPr lang="en-US" sz="2400" dirty="0"/>
          </a:p>
          <a:p>
            <a:pPr lvl="2"/>
            <a:r>
              <a:rPr lang="en-US" sz="2000" dirty="0"/>
              <a:t>Emanuel Palm &amp; Justin Grote</a:t>
            </a:r>
          </a:p>
          <a:p>
            <a:pPr lvl="1"/>
            <a:r>
              <a:rPr lang="en-US" sz="2400" dirty="0">
                <a:hlinkClick r:id="rId3"/>
              </a:rPr>
              <a:t>Write PowerShell modules without conflicts - Introducing Assembly Load Contexts</a:t>
            </a:r>
            <a:endParaRPr lang="en-US" sz="2400" dirty="0"/>
          </a:p>
          <a:p>
            <a:pPr lvl="2"/>
            <a:r>
              <a:rPr lang="en-US" sz="2000" dirty="0"/>
              <a:t>Emanuel Palm</a:t>
            </a:r>
          </a:p>
          <a:p>
            <a:pPr lvl="1"/>
            <a:r>
              <a:rPr lang="en-US" sz="2400" dirty="0">
                <a:hlinkClick r:id="rId4"/>
              </a:rPr>
              <a:t>Building a PowerShell module for Bicep in C# - almost 1.000.000 downloads later</a:t>
            </a:r>
            <a:endParaRPr lang="en-US" sz="2400" dirty="0"/>
          </a:p>
          <a:p>
            <a:pPr lvl="2"/>
            <a:r>
              <a:rPr lang="en-US" sz="2000" dirty="0"/>
              <a:t>Emanuel Palm &amp; Simon Wåhlin</a:t>
            </a:r>
          </a:p>
          <a:p>
            <a:pPr lvl="1"/>
            <a:r>
              <a:rPr lang="en-US" sz="2400" dirty="0">
                <a:hlinkClick r:id="rId5"/>
              </a:rPr>
              <a:t>Resolving PowerShell Module Assembly Dependency Conflicts</a:t>
            </a:r>
            <a:endParaRPr lang="en-US" sz="2400" dirty="0"/>
          </a:p>
          <a:p>
            <a:pPr lvl="2"/>
            <a:r>
              <a:rPr lang="en-US" sz="2000" dirty="0"/>
              <a:t>Andy Jordan</a:t>
            </a:r>
          </a:p>
          <a:p>
            <a:r>
              <a:rPr lang="en-US" sz="2400" dirty="0"/>
              <a:t>2025</a:t>
            </a:r>
          </a:p>
          <a:p>
            <a:pPr lvl="1"/>
            <a:r>
              <a:rPr lang="en-US" sz="2400" dirty="0">
                <a:hlinkClick r:id="rId6"/>
              </a:rPr>
              <a:t>Creating My First C# Module: Lessons Learned</a:t>
            </a:r>
            <a:endParaRPr lang="en-US" sz="2400" dirty="0"/>
          </a:p>
          <a:p>
            <a:pPr lvl="2"/>
            <a:r>
              <a:rPr lang="en-US" sz="2000" dirty="0"/>
              <a:t>Andree </a:t>
            </a:r>
            <a:r>
              <a:rPr lang="en-US" sz="2000" dirty="0" err="1"/>
              <a:t>Renneus</a:t>
            </a:r>
            <a:endParaRPr lang="en-US" sz="2000" dirty="0"/>
          </a:p>
          <a:p>
            <a:pPr lvl="1"/>
            <a:r>
              <a:rPr lang="en-US" sz="2400" dirty="0">
                <a:hlinkClick r:id="rId7"/>
              </a:rPr>
              <a:t>Defeating the assembly conflict dragon with Assembly Load Contexts</a:t>
            </a:r>
            <a:endParaRPr lang="en-US" sz="2400" dirty="0"/>
          </a:p>
          <a:p>
            <a:pPr lvl="2"/>
            <a:r>
              <a:rPr lang="en-US" sz="2000" dirty="0"/>
              <a:t>Jordan </a:t>
            </a:r>
            <a:r>
              <a:rPr lang="en-US" sz="2000" dirty="0" err="1"/>
              <a:t>Borean</a:t>
            </a:r>
            <a:endParaRPr lang="en-US" sz="2000" dirty="0"/>
          </a:p>
          <a:p>
            <a:endParaRPr lang="en-US" sz="2400" dirty="0"/>
          </a:p>
        </p:txBody>
      </p:sp>
    </p:spTree>
    <p:extLst>
      <p:ext uri="{BB962C8B-B14F-4D97-AF65-F5344CB8AC3E}">
        <p14:creationId xmlns:p14="http://schemas.microsoft.com/office/powerpoint/2010/main" val="1811997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531CB4D-40EE-4CEA-4C1F-A86C158A8A50}"/>
              </a:ext>
            </a:extLst>
          </p:cNvPr>
          <p:cNvSpPr>
            <a:spLocks noGrp="1"/>
          </p:cNvSpPr>
          <p:nvPr>
            <p:ph type="title" idx="4294967295"/>
          </p:nvPr>
        </p:nvSpPr>
        <p:spPr>
          <a:xfrm>
            <a:off x="1009061" y="630961"/>
            <a:ext cx="9733280" cy="1325563"/>
          </a:xfrm>
        </p:spPr>
        <p:txBody>
          <a:bodyPr/>
          <a:lstStyle/>
          <a:p>
            <a:pPr rtl="0" eaLnBrk="1" latinLnBrk="0" hangingPunct="1"/>
            <a:r>
              <a:rPr lang="fr-FR" sz="4000" b="1" kern="1200" err="1">
                <a:solidFill>
                  <a:srgbClr val="3B2A47"/>
                </a:solidFill>
                <a:effectLst/>
                <a:latin typeface="Calibri" panose="020F0502020204030204" pitchFamily="34" charset="0"/>
                <a:ea typeface="+mn-ea"/>
                <a:cs typeface="+mn-cs"/>
              </a:rPr>
              <a:t>Many</a:t>
            </a:r>
            <a:r>
              <a:rPr lang="fr-FR" sz="4000" b="1" kern="1200">
                <a:solidFill>
                  <a:srgbClr val="3B2A47"/>
                </a:solidFill>
                <a:effectLst/>
                <a:latin typeface="Calibri" panose="020F0502020204030204" pitchFamily="34" charset="0"/>
                <a:ea typeface="+mn-ea"/>
                <a:cs typeface="+mn-cs"/>
              </a:rPr>
              <a:t> </a:t>
            </a:r>
            <a:r>
              <a:rPr lang="fr-FR" sz="4000" b="1" kern="1200" err="1">
                <a:solidFill>
                  <a:srgbClr val="3B2A47"/>
                </a:solidFill>
                <a:effectLst/>
                <a:latin typeface="Calibri" panose="020F0502020204030204" pitchFamily="34" charset="0"/>
                <a:ea typeface="+mn-ea"/>
                <a:cs typeface="+mn-cs"/>
              </a:rPr>
              <a:t>thanks</a:t>
            </a:r>
            <a:r>
              <a:rPr lang="fr-FR" sz="4000" b="1" kern="1200">
                <a:solidFill>
                  <a:srgbClr val="3B2A47"/>
                </a:solidFill>
                <a:effectLst/>
                <a:latin typeface="Calibri" panose="020F0502020204030204" pitchFamily="34" charset="0"/>
                <a:ea typeface="+mn-ea"/>
                <a:cs typeface="+mn-cs"/>
              </a:rPr>
              <a:t> to </a:t>
            </a:r>
            <a:r>
              <a:rPr lang="fr-FR" sz="4000" b="1" kern="1200" err="1">
                <a:solidFill>
                  <a:srgbClr val="3B2A47"/>
                </a:solidFill>
                <a:effectLst/>
                <a:latin typeface="Calibri" panose="020F0502020204030204" pitchFamily="34" charset="0"/>
                <a:ea typeface="+mn-ea"/>
                <a:cs typeface="+mn-cs"/>
              </a:rPr>
              <a:t>our</a:t>
            </a:r>
            <a:r>
              <a:rPr lang="fr-FR" sz="4000" b="1" kern="1200">
                <a:solidFill>
                  <a:srgbClr val="3B2A47"/>
                </a:solidFill>
                <a:effectLst/>
                <a:latin typeface="Calibri" panose="020F0502020204030204" pitchFamily="34" charset="0"/>
                <a:ea typeface="+mn-ea"/>
                <a:cs typeface="+mn-cs"/>
              </a:rPr>
              <a:t> sponsors:</a:t>
            </a:r>
            <a:endParaRPr lang="en-DE">
              <a:solidFill>
                <a:srgbClr val="3B2A47"/>
              </a:solidFill>
            </a:endParaRPr>
          </a:p>
        </p:txBody>
      </p:sp>
      <p:pic>
        <p:nvPicPr>
          <p:cNvPr id="7" name="Graphique 6">
            <a:extLst>
              <a:ext uri="{FF2B5EF4-FFF2-40B4-BE49-F238E27FC236}">
                <a16:creationId xmlns:a16="http://schemas.microsoft.com/office/drawing/2014/main" id="{56B20C8F-B2CB-B1F9-8E7F-3897FE369D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42212" y="2226290"/>
            <a:ext cx="8666977" cy="2650633"/>
          </a:xfrm>
          <a:prstGeom prst="rect">
            <a:avLst/>
          </a:prstGeom>
        </p:spPr>
      </p:pic>
    </p:spTree>
    <p:extLst>
      <p:ext uri="{BB962C8B-B14F-4D97-AF65-F5344CB8AC3E}">
        <p14:creationId xmlns:p14="http://schemas.microsoft.com/office/powerpoint/2010/main" val="3210427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63F84C9-7486-D81C-EDE7-12CE856D5B81}"/>
              </a:ext>
            </a:extLst>
          </p:cNvPr>
          <p:cNvSpPr>
            <a:spLocks noGrp="1"/>
          </p:cNvSpPr>
          <p:nvPr>
            <p:ph type="title"/>
          </p:nvPr>
        </p:nvSpPr>
        <p:spPr>
          <a:xfrm>
            <a:off x="3467312" y="324852"/>
            <a:ext cx="7886485" cy="1325563"/>
          </a:xfrm>
        </p:spPr>
        <p:txBody>
          <a:bodyPr>
            <a:normAutofit/>
          </a:bodyPr>
          <a:lstStyle/>
          <a:p>
            <a:r>
              <a:rPr lang="sv-SE" sz="6600" dirty="0">
                <a:solidFill>
                  <a:srgbClr val="346296"/>
                </a:solidFill>
                <a:latin typeface="+mn-lt"/>
                <a:ea typeface="+mn-ea"/>
                <a:cs typeface="+mn-cs"/>
              </a:rPr>
              <a:t>Emanuel Palm</a:t>
            </a:r>
            <a:endParaRPr lang="en-DE" sz="6600" dirty="0">
              <a:solidFill>
                <a:srgbClr val="346296"/>
              </a:solidFill>
              <a:latin typeface="+mn-lt"/>
              <a:ea typeface="+mn-ea"/>
              <a:cs typeface="+mn-cs"/>
            </a:endParaRPr>
          </a:p>
        </p:txBody>
      </p:sp>
      <p:pic>
        <p:nvPicPr>
          <p:cNvPr id="4" name="Image 3">
            <a:extLst>
              <a:ext uri="{FF2B5EF4-FFF2-40B4-BE49-F238E27FC236}">
                <a16:creationId xmlns:a16="http://schemas.microsoft.com/office/drawing/2014/main" id="{E6BA0E72-B9E1-A0C6-F8B0-8254DF100C1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4464" y="210232"/>
            <a:ext cx="3218768" cy="3218768"/>
          </a:xfrm>
          <a:prstGeom prst="rect">
            <a:avLst/>
          </a:prstGeom>
        </p:spPr>
      </p:pic>
      <p:pic>
        <p:nvPicPr>
          <p:cNvPr id="3" name="Picture 2" descr="A blue and white diamond with letters&#10;&#10;Description automatically generated">
            <a:extLst>
              <a:ext uri="{FF2B5EF4-FFF2-40B4-BE49-F238E27FC236}">
                <a16:creationId xmlns:a16="http://schemas.microsoft.com/office/drawing/2014/main" id="{F97277A8-B1FA-11C6-BBB6-F4A3EFCAC185}"/>
              </a:ext>
            </a:extLst>
          </p:cNvPr>
          <p:cNvPicPr>
            <a:picLocks noChangeAspect="1"/>
          </p:cNvPicPr>
          <p:nvPr/>
        </p:nvPicPr>
        <p:blipFill>
          <a:blip r:embed="rId3"/>
          <a:stretch>
            <a:fillRect/>
          </a:stretch>
        </p:blipFill>
        <p:spPr>
          <a:xfrm rot="21448086">
            <a:off x="2973506" y="2873177"/>
            <a:ext cx="456337" cy="456335"/>
          </a:xfrm>
          <a:prstGeom prst="rect">
            <a:avLst/>
          </a:prstGeom>
        </p:spPr>
      </p:pic>
      <p:pic>
        <p:nvPicPr>
          <p:cNvPr id="6" name="Picture 5" descr="A logo with a white cloud and a colorful circle&#10;&#10;Description automatically generated">
            <a:extLst>
              <a:ext uri="{FF2B5EF4-FFF2-40B4-BE49-F238E27FC236}">
                <a16:creationId xmlns:a16="http://schemas.microsoft.com/office/drawing/2014/main" id="{2BED39B6-1FCD-A92F-1634-0E73D80CDF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32147" y="324853"/>
            <a:ext cx="1930668" cy="1930668"/>
          </a:xfrm>
          <a:prstGeom prst="rect">
            <a:avLst/>
          </a:prstGeom>
        </p:spPr>
      </p:pic>
      <p:sp>
        <p:nvSpPr>
          <p:cNvPr id="7" name="Text Placeholder 2">
            <a:extLst>
              <a:ext uri="{FF2B5EF4-FFF2-40B4-BE49-F238E27FC236}">
                <a16:creationId xmlns:a16="http://schemas.microsoft.com/office/drawing/2014/main" id="{EEF835CA-A013-16AF-30EB-7AC2D9709289}"/>
              </a:ext>
            </a:extLst>
          </p:cNvPr>
          <p:cNvSpPr txBox="1">
            <a:spLocks/>
          </p:cNvSpPr>
          <p:nvPr/>
        </p:nvSpPr>
        <p:spPr>
          <a:xfrm>
            <a:off x="3619714" y="2005263"/>
            <a:ext cx="7886486" cy="43241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 Everything-as-Code</a:t>
            </a:r>
          </a:p>
          <a:p>
            <a:pPr marL="0" indent="0">
              <a:buNone/>
            </a:pPr>
            <a:r>
              <a:rPr lang="en-US" dirty="0"/>
              <a:t>📦 Makes modules &amp; tools</a:t>
            </a:r>
          </a:p>
          <a:p>
            <a:pPr marL="0" indent="0">
              <a:buNone/>
            </a:pPr>
            <a:r>
              <a:rPr lang="en-US" dirty="0"/>
              <a:t>📃 Fan of Open Source</a:t>
            </a:r>
            <a:endParaRPr lang="en-US" dirty="0">
              <a:solidFill>
                <a:srgbClr val="346296"/>
              </a:solidFill>
            </a:endParaRPr>
          </a:p>
        </p:txBody>
      </p:sp>
      <p:sp>
        <p:nvSpPr>
          <p:cNvPr id="9" name="TextBox 8">
            <a:extLst>
              <a:ext uri="{FF2B5EF4-FFF2-40B4-BE49-F238E27FC236}">
                <a16:creationId xmlns:a16="http://schemas.microsoft.com/office/drawing/2014/main" id="{D27D671E-CAF7-7B95-3408-E5D8C5DC5333}"/>
              </a:ext>
            </a:extLst>
          </p:cNvPr>
          <p:cNvSpPr txBox="1"/>
          <p:nvPr/>
        </p:nvSpPr>
        <p:spPr>
          <a:xfrm>
            <a:off x="3723927" y="1202611"/>
            <a:ext cx="6154056" cy="461665"/>
          </a:xfrm>
          <a:prstGeom prst="rect">
            <a:avLst/>
          </a:prstGeom>
          <a:noFill/>
        </p:spPr>
        <p:txBody>
          <a:bodyPr wrap="square">
            <a:spAutoFit/>
          </a:bodyPr>
          <a:lstStyle/>
          <a:p>
            <a:r>
              <a:rPr lang="en-US" sz="2400" dirty="0"/>
              <a:t>Cloud Specialist @ Unwonted</a:t>
            </a:r>
            <a:endParaRPr lang="en-SE" sz="2400" dirty="0"/>
          </a:p>
        </p:txBody>
      </p:sp>
      <p:sp>
        <p:nvSpPr>
          <p:cNvPr id="10" name="TextBox 9">
            <a:extLst>
              <a:ext uri="{FF2B5EF4-FFF2-40B4-BE49-F238E27FC236}">
                <a16:creationId xmlns:a16="http://schemas.microsoft.com/office/drawing/2014/main" id="{55401B36-322C-52C1-E68F-A2CE3FC6EC2B}"/>
              </a:ext>
            </a:extLst>
          </p:cNvPr>
          <p:cNvSpPr txBox="1"/>
          <p:nvPr/>
        </p:nvSpPr>
        <p:spPr>
          <a:xfrm rot="21397328">
            <a:off x="376066" y="3456631"/>
            <a:ext cx="2812637" cy="523220"/>
          </a:xfrm>
          <a:prstGeom prst="rect">
            <a:avLst/>
          </a:prstGeom>
          <a:noFill/>
        </p:spPr>
        <p:txBody>
          <a:bodyPr wrap="square" rtlCol="0">
            <a:spAutoFit/>
          </a:bodyPr>
          <a:lstStyle/>
          <a:p>
            <a:pPr algn="ctr"/>
            <a:r>
              <a:rPr lang="sv-SE" sz="2800" dirty="0"/>
              <a:t>🏃</a:t>
            </a:r>
            <a:r>
              <a:rPr lang="en-US" sz="2800" dirty="0"/>
              <a:t>🧗🥏🍰🧙</a:t>
            </a:r>
          </a:p>
        </p:txBody>
      </p:sp>
      <p:grpSp>
        <p:nvGrpSpPr>
          <p:cNvPr id="11" name="Group 10">
            <a:extLst>
              <a:ext uri="{FF2B5EF4-FFF2-40B4-BE49-F238E27FC236}">
                <a16:creationId xmlns:a16="http://schemas.microsoft.com/office/drawing/2014/main" id="{DD9907D7-6CEF-C079-6C32-2211DA521DCF}"/>
              </a:ext>
            </a:extLst>
          </p:cNvPr>
          <p:cNvGrpSpPr/>
          <p:nvPr/>
        </p:nvGrpSpPr>
        <p:grpSpPr>
          <a:xfrm>
            <a:off x="8438899" y="5016209"/>
            <a:ext cx="817560" cy="1278360"/>
            <a:chOff x="8375688" y="4864248"/>
            <a:chExt cx="817560" cy="1278360"/>
          </a:xfrm>
        </p:grpSpPr>
        <mc:AlternateContent xmlns:mc="http://schemas.openxmlformats.org/markup-compatibility/2006" xmlns:p14="http://schemas.microsoft.com/office/powerpoint/2010/main">
          <mc:Choice Requires="p14">
            <p:contentPart p14:bwMode="auto" r:id="rId5">
              <p14:nvContentPartPr>
                <p14:cNvPr id="12" name="Ink 11">
                  <a:extLst>
                    <a:ext uri="{FF2B5EF4-FFF2-40B4-BE49-F238E27FC236}">
                      <a16:creationId xmlns:a16="http://schemas.microsoft.com/office/drawing/2014/main" id="{7746B6E0-A707-2122-282D-0CF3A782A007}"/>
                    </a:ext>
                  </a:extLst>
                </p14:cNvPr>
                <p14:cNvContentPartPr/>
                <p14:nvPr/>
              </p14:nvContentPartPr>
              <p14:xfrm>
                <a:off x="8375688" y="4864248"/>
                <a:ext cx="629280" cy="1250640"/>
              </p14:xfrm>
            </p:contentPart>
          </mc:Choice>
          <mc:Fallback xmlns="">
            <p:pic>
              <p:nvPicPr>
                <p:cNvPr id="8" name="Ink 7">
                  <a:extLst>
                    <a:ext uri="{FF2B5EF4-FFF2-40B4-BE49-F238E27FC236}">
                      <a16:creationId xmlns:a16="http://schemas.microsoft.com/office/drawing/2014/main" id="{D6169C14-5151-D4D9-8FAD-0FA4BFFCA066}"/>
                    </a:ext>
                  </a:extLst>
                </p:cNvPr>
                <p:cNvPicPr/>
                <p:nvPr/>
              </p:nvPicPr>
              <p:blipFill>
                <a:blip r:embed="rId7"/>
                <a:stretch>
                  <a:fillRect/>
                </a:stretch>
              </p:blipFill>
              <p:spPr>
                <a:xfrm>
                  <a:off x="8357688" y="4846608"/>
                  <a:ext cx="66492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3" name="Ink 12">
                  <a:extLst>
                    <a:ext uri="{FF2B5EF4-FFF2-40B4-BE49-F238E27FC236}">
                      <a16:creationId xmlns:a16="http://schemas.microsoft.com/office/drawing/2014/main" id="{ACA3077A-727F-F221-4162-F97E8A04264A}"/>
                    </a:ext>
                  </a:extLst>
                </p14:cNvPr>
                <p14:cNvContentPartPr/>
                <p14:nvPr/>
              </p14:nvContentPartPr>
              <p14:xfrm>
                <a:off x="8787168" y="5888448"/>
                <a:ext cx="406080" cy="254160"/>
              </p14:xfrm>
            </p:contentPart>
          </mc:Choice>
          <mc:Fallback xmlns="">
            <p:pic>
              <p:nvPicPr>
                <p:cNvPr id="15" name="Ink 14">
                  <a:extLst>
                    <a:ext uri="{FF2B5EF4-FFF2-40B4-BE49-F238E27FC236}">
                      <a16:creationId xmlns:a16="http://schemas.microsoft.com/office/drawing/2014/main" id="{3C995D08-6431-7C2F-14FC-D6475CE53A6A}"/>
                    </a:ext>
                  </a:extLst>
                </p:cNvPr>
                <p:cNvPicPr/>
                <p:nvPr/>
              </p:nvPicPr>
              <p:blipFill>
                <a:blip r:embed="rId9"/>
                <a:stretch>
                  <a:fillRect/>
                </a:stretch>
              </p:blipFill>
              <p:spPr>
                <a:xfrm>
                  <a:off x="8769528" y="5870448"/>
                  <a:ext cx="441720" cy="289800"/>
                </a:xfrm>
                <a:prstGeom prst="rect">
                  <a:avLst/>
                </a:prstGeom>
              </p:spPr>
            </p:pic>
          </mc:Fallback>
        </mc:AlternateContent>
      </p:grpSp>
      <p:sp>
        <p:nvSpPr>
          <p:cNvPr id="15" name="TextBox 14">
            <a:extLst>
              <a:ext uri="{FF2B5EF4-FFF2-40B4-BE49-F238E27FC236}">
                <a16:creationId xmlns:a16="http://schemas.microsoft.com/office/drawing/2014/main" id="{6A14B45C-ABDC-982F-9C12-AA46B13D0BBC}"/>
              </a:ext>
            </a:extLst>
          </p:cNvPr>
          <p:cNvSpPr txBox="1"/>
          <p:nvPr/>
        </p:nvSpPr>
        <p:spPr>
          <a:xfrm>
            <a:off x="93158" y="5786064"/>
            <a:ext cx="6096000" cy="923330"/>
          </a:xfrm>
          <a:prstGeom prst="rect">
            <a:avLst/>
          </a:prstGeom>
          <a:noFill/>
        </p:spPr>
        <p:txBody>
          <a:bodyPr wrap="square">
            <a:spAutoFit/>
          </a:bodyPr>
          <a:lstStyle/>
          <a:p>
            <a:r>
              <a:rPr lang="en-US" dirty="0">
                <a:solidFill>
                  <a:srgbClr val="346297"/>
                </a:solidFill>
              </a:rPr>
              <a:t>https://</a:t>
            </a:r>
            <a:r>
              <a:rPr lang="en-US" dirty="0" err="1">
                <a:solidFill>
                  <a:srgbClr val="346297"/>
                </a:solidFill>
              </a:rPr>
              <a:t>www.powershellgallery.com</a:t>
            </a:r>
            <a:r>
              <a:rPr lang="en-US" dirty="0">
                <a:solidFill>
                  <a:srgbClr val="346297"/>
                </a:solidFill>
              </a:rPr>
              <a:t>/packages/Bicep</a:t>
            </a:r>
            <a:br>
              <a:rPr lang="en-US" dirty="0">
                <a:solidFill>
                  <a:srgbClr val="346297"/>
                </a:solidFill>
              </a:rPr>
            </a:br>
            <a:r>
              <a:rPr lang="en-US" dirty="0">
                <a:solidFill>
                  <a:srgbClr val="346297"/>
                </a:solidFill>
              </a:rPr>
              <a:t>https://</a:t>
            </a:r>
            <a:r>
              <a:rPr lang="en-US" dirty="0" err="1">
                <a:solidFill>
                  <a:srgbClr val="346297"/>
                </a:solidFill>
              </a:rPr>
              <a:t>www.powershellgallery.com</a:t>
            </a:r>
            <a:r>
              <a:rPr lang="en-US" dirty="0">
                <a:solidFill>
                  <a:srgbClr val="346297"/>
                </a:solidFill>
              </a:rPr>
              <a:t>/packages/</a:t>
            </a:r>
            <a:r>
              <a:rPr lang="en-US" dirty="0" err="1">
                <a:solidFill>
                  <a:srgbClr val="346297"/>
                </a:solidFill>
              </a:rPr>
              <a:t>AzAuth</a:t>
            </a:r>
            <a:br>
              <a:rPr lang="en-US" dirty="0">
                <a:solidFill>
                  <a:srgbClr val="346297"/>
                </a:solidFill>
              </a:rPr>
            </a:br>
            <a:r>
              <a:rPr lang="en-US" dirty="0">
                <a:solidFill>
                  <a:srgbClr val="346297"/>
                </a:solidFill>
              </a:rPr>
              <a:t>https://</a:t>
            </a:r>
            <a:r>
              <a:rPr lang="en-US" dirty="0" err="1">
                <a:solidFill>
                  <a:srgbClr val="346297"/>
                </a:solidFill>
              </a:rPr>
              <a:t>www.powershellgallery.com</a:t>
            </a:r>
            <a:r>
              <a:rPr lang="en-US" dirty="0">
                <a:solidFill>
                  <a:srgbClr val="346297"/>
                </a:solidFill>
              </a:rPr>
              <a:t>/packages/</a:t>
            </a:r>
            <a:r>
              <a:rPr lang="en-US" dirty="0" err="1">
                <a:solidFill>
                  <a:srgbClr val="346297"/>
                </a:solidFill>
              </a:rPr>
              <a:t>AzBobbyTables</a:t>
            </a:r>
            <a:endParaRPr lang="en-US" dirty="0">
              <a:solidFill>
                <a:srgbClr val="346297"/>
              </a:solidFill>
            </a:endParaRPr>
          </a:p>
        </p:txBody>
      </p:sp>
    </p:spTree>
    <p:extLst>
      <p:ext uri="{BB962C8B-B14F-4D97-AF65-F5344CB8AC3E}">
        <p14:creationId xmlns:p14="http://schemas.microsoft.com/office/powerpoint/2010/main" val="492384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1" end="1"/>
                                            </p:txEl>
                                          </p:spTgt>
                                        </p:tgtEl>
                                        <p:attrNameLst>
                                          <p:attrName>style.visibility</p:attrName>
                                        </p:attrNameLst>
                                      </p:cBhvr>
                                      <p:to>
                                        <p:strVal val="visible"/>
                                      </p:to>
                                    </p:set>
                                    <p:animEffect transition="in" filter="fade">
                                      <p:cBhvr>
                                        <p:cTn id="12" dur="500"/>
                                        <p:tgtEl>
                                          <p:spTgt spid="7">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7">
                                            <p:txEl>
                                              <p:pRg st="2" end="2"/>
                                            </p:txEl>
                                          </p:spTgt>
                                        </p:tgtEl>
                                        <p:attrNameLst>
                                          <p:attrName>style.visibility</p:attrName>
                                        </p:attrNameLst>
                                      </p:cBhvr>
                                      <p:to>
                                        <p:strVal val="visible"/>
                                      </p:to>
                                    </p:set>
                                    <p:animEffect transition="in" filter="fade">
                                      <p:cBhvr>
                                        <p:cTn id="20" dur="500"/>
                                        <p:tgtEl>
                                          <p:spTgt spid="7">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100"/>
                                  </p:stCondLst>
                                  <p:iterate type="lt">
                                    <p:tmAbs val="500"/>
                                  </p:iterate>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63" presetClass="entr" presetSubtype="0" fill="hold" nodeType="clickEffect">
                                  <p:stCondLst>
                                    <p:cond delay="0"/>
                                  </p:stCondLst>
                                  <p:childTnLst>
                                    <p:set>
                                      <p:cBhvr>
                                        <p:cTn id="28" dur="1" fill="hold">
                                          <p:stCondLst>
                                            <p:cond delay="0"/>
                                          </p:stCondLst>
                                        </p:cTn>
                                        <p:tgtEl>
                                          <p:spTgt spid="11"/>
                                        </p:tgtEl>
                                        <p:attrNameLst>
                                          <p:attrName>style.visibility</p:attrName>
                                        </p:attrNameLst>
                                      </p:cBhvr>
                                      <p:to>
                                        <p:strVal val="visible"/>
                                      </p:to>
                                    </p:set>
                                    <p:anim calcmode="lin" valueType="num">
                                      <p:cBhvr>
                                        <p:cTn id="29" dur="500" fill="hold"/>
                                        <p:tgtEl>
                                          <p:spTgt spid="11"/>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CDF05-CEB4-1864-E317-D7B1B9CCDF9A}"/>
              </a:ext>
            </a:extLst>
          </p:cNvPr>
          <p:cNvSpPr>
            <a:spLocks noGrp="1"/>
          </p:cNvSpPr>
          <p:nvPr>
            <p:ph type="title"/>
          </p:nvPr>
        </p:nvSpPr>
        <p:spPr/>
        <p:txBody>
          <a:bodyPr/>
          <a:lstStyle/>
          <a:p>
            <a:r>
              <a:rPr lang="en-US" dirty="0"/>
              <a:t>Ways to Write a Module</a:t>
            </a:r>
          </a:p>
        </p:txBody>
      </p:sp>
      <p:sp>
        <p:nvSpPr>
          <p:cNvPr id="3" name="Content Placeholder 2">
            <a:extLst>
              <a:ext uri="{FF2B5EF4-FFF2-40B4-BE49-F238E27FC236}">
                <a16:creationId xmlns:a16="http://schemas.microsoft.com/office/drawing/2014/main" id="{2856E28A-3E69-BF12-0715-780F0E8BFBDF}"/>
              </a:ext>
            </a:extLst>
          </p:cNvPr>
          <p:cNvSpPr>
            <a:spLocks noGrp="1"/>
          </p:cNvSpPr>
          <p:nvPr>
            <p:ph idx="1"/>
          </p:nvPr>
        </p:nvSpPr>
        <p:spPr/>
        <p:txBody>
          <a:bodyPr>
            <a:normAutofit/>
          </a:bodyPr>
          <a:lstStyle/>
          <a:p>
            <a:r>
              <a:rPr lang="en-US" dirty="0"/>
              <a:t>Script modules (.psm1)</a:t>
            </a:r>
          </a:p>
          <a:p>
            <a:r>
              <a:rPr lang="en-US" dirty="0"/>
              <a:t>Binary modules (.NET)</a:t>
            </a:r>
          </a:p>
          <a:p>
            <a:r>
              <a:rPr lang="en-US" dirty="0"/>
              <a:t>Hybrid modules (both)</a:t>
            </a:r>
          </a:p>
        </p:txBody>
      </p:sp>
    </p:spTree>
    <p:extLst>
      <p:ext uri="{BB962C8B-B14F-4D97-AF65-F5344CB8AC3E}">
        <p14:creationId xmlns:p14="http://schemas.microsoft.com/office/powerpoint/2010/main" val="37594538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92111-D65B-E82B-462A-FBFD2E6AD5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19E4EC-5D7D-268D-C04D-E91FF2E744C7}"/>
              </a:ext>
            </a:extLst>
          </p:cNvPr>
          <p:cNvSpPr>
            <a:spLocks noGrp="1"/>
          </p:cNvSpPr>
          <p:nvPr>
            <p:ph type="title"/>
          </p:nvPr>
        </p:nvSpPr>
        <p:spPr/>
        <p:txBody>
          <a:bodyPr/>
          <a:lstStyle/>
          <a:p>
            <a:r>
              <a:rPr lang="en-US" dirty="0"/>
              <a:t>Why?</a:t>
            </a:r>
          </a:p>
        </p:txBody>
      </p:sp>
      <p:sp>
        <p:nvSpPr>
          <p:cNvPr id="3" name="Content Placeholder 2">
            <a:extLst>
              <a:ext uri="{FF2B5EF4-FFF2-40B4-BE49-F238E27FC236}">
                <a16:creationId xmlns:a16="http://schemas.microsoft.com/office/drawing/2014/main" id="{41B7E2D1-95A0-DD95-ACF0-33783868D109}"/>
              </a:ext>
            </a:extLst>
          </p:cNvPr>
          <p:cNvSpPr>
            <a:spLocks noGrp="1"/>
          </p:cNvSpPr>
          <p:nvPr>
            <p:ph idx="1"/>
          </p:nvPr>
        </p:nvSpPr>
        <p:spPr/>
        <p:txBody>
          <a:bodyPr>
            <a:normAutofit fontScale="85000" lnSpcReduction="20000"/>
          </a:bodyPr>
          <a:lstStyle/>
          <a:p>
            <a:r>
              <a:rPr lang="en-US" dirty="0"/>
              <a:t>.NET ecosystem</a:t>
            </a:r>
          </a:p>
          <a:p>
            <a:pPr lvl="1"/>
            <a:r>
              <a:rPr lang="en-US" dirty="0"/>
              <a:t>NuGet packages &amp; SDKs</a:t>
            </a:r>
          </a:p>
          <a:p>
            <a:r>
              <a:rPr lang="en-US" dirty="0"/>
              <a:t>Not re-inventing the wheel</a:t>
            </a:r>
          </a:p>
          <a:p>
            <a:r>
              <a:rPr lang="en-US" dirty="0"/>
              <a:t>Features not available in PowerShell</a:t>
            </a:r>
          </a:p>
          <a:p>
            <a:pPr lvl="1"/>
            <a:r>
              <a:rPr lang="en-US" dirty="0"/>
              <a:t>Type safety</a:t>
            </a:r>
          </a:p>
          <a:p>
            <a:pPr lvl="1"/>
            <a:r>
              <a:rPr lang="en-US" dirty="0"/>
              <a:t>Generic methods</a:t>
            </a:r>
          </a:p>
          <a:p>
            <a:pPr lvl="1"/>
            <a:r>
              <a:rPr lang="en-US" dirty="0"/>
              <a:t>Interfaces</a:t>
            </a:r>
          </a:p>
          <a:p>
            <a:pPr lvl="1"/>
            <a:r>
              <a:rPr lang="en-US" dirty="0"/>
              <a:t>Proper Classes and Inheritance</a:t>
            </a:r>
          </a:p>
          <a:p>
            <a:pPr lvl="1"/>
            <a:r>
              <a:rPr lang="en-US" dirty="0"/>
              <a:t>…</a:t>
            </a:r>
          </a:p>
          <a:p>
            <a:r>
              <a:rPr lang="en-US" dirty="0"/>
              <a:t>Fun fact - You can build them in F# :)</a:t>
            </a:r>
          </a:p>
          <a:p>
            <a:pPr lvl="1"/>
            <a:r>
              <a:rPr lang="en-US" dirty="0"/>
              <a:t>Or VB.NET </a:t>
            </a:r>
            <a:r>
              <a:rPr lang="en-US" dirty="0">
                <a:sym typeface="Wingdings" pitchFamily="2" charset="2"/>
              </a:rPr>
              <a:t>:(</a:t>
            </a:r>
            <a:endParaRPr lang="en-US" dirty="0"/>
          </a:p>
        </p:txBody>
      </p:sp>
    </p:spTree>
    <p:extLst>
      <p:ext uri="{BB962C8B-B14F-4D97-AF65-F5344CB8AC3E}">
        <p14:creationId xmlns:p14="http://schemas.microsoft.com/office/powerpoint/2010/main" val="1165871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500"/>
                                        <p:tgtEl>
                                          <p:spTgt spid="3">
                                            <p:txEl>
                                              <p:pRg st="6" end="6"/>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500"/>
                                        <p:tgtEl>
                                          <p:spTgt spid="3">
                                            <p:txEl>
                                              <p:pRg st="9" end="9"/>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animEffect transition="in" filter="fade">
                                      <p:cBhvr>
                                        <p:cTn id="43"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23BF7-99DE-7C5F-C15E-A207AE05ECA0}"/>
              </a:ext>
            </a:extLst>
          </p:cNvPr>
          <p:cNvSpPr>
            <a:spLocks noGrp="1"/>
          </p:cNvSpPr>
          <p:nvPr>
            <p:ph type="title"/>
          </p:nvPr>
        </p:nvSpPr>
        <p:spPr/>
        <p:txBody>
          <a:bodyPr/>
          <a:lstStyle/>
          <a:p>
            <a:r>
              <a:rPr lang="en-US" dirty="0"/>
              <a:t>Examples of C# Modules</a:t>
            </a:r>
          </a:p>
        </p:txBody>
      </p:sp>
      <p:sp>
        <p:nvSpPr>
          <p:cNvPr id="3" name="Content Placeholder 2">
            <a:extLst>
              <a:ext uri="{FF2B5EF4-FFF2-40B4-BE49-F238E27FC236}">
                <a16:creationId xmlns:a16="http://schemas.microsoft.com/office/drawing/2014/main" id="{DB5F2ABC-7370-751C-B5F9-79F83961A6C8}"/>
              </a:ext>
            </a:extLst>
          </p:cNvPr>
          <p:cNvSpPr>
            <a:spLocks noGrp="1"/>
          </p:cNvSpPr>
          <p:nvPr>
            <p:ph idx="1"/>
          </p:nvPr>
        </p:nvSpPr>
        <p:spPr/>
        <p:txBody>
          <a:bodyPr/>
          <a:lstStyle/>
          <a:p>
            <a:r>
              <a:rPr lang="en-US" dirty="0"/>
              <a:t>Pester</a:t>
            </a:r>
          </a:p>
          <a:p>
            <a:r>
              <a:rPr lang="en-US" dirty="0"/>
              <a:t>Most of Microsoft’s official modules</a:t>
            </a:r>
          </a:p>
          <a:p>
            <a:r>
              <a:rPr lang="en-US" dirty="0"/>
              <a:t>More modules than you expect</a:t>
            </a:r>
          </a:p>
          <a:p>
            <a:r>
              <a:rPr lang="en-US" dirty="0"/>
              <a:t>Some of my modules</a:t>
            </a:r>
          </a:p>
          <a:p>
            <a:pPr lvl="1"/>
            <a:r>
              <a:rPr lang="en-US" dirty="0"/>
              <a:t>Bicep, </a:t>
            </a:r>
            <a:r>
              <a:rPr lang="en-US" dirty="0" err="1"/>
              <a:t>AzAuth</a:t>
            </a:r>
            <a:r>
              <a:rPr lang="en-US" dirty="0"/>
              <a:t>, </a:t>
            </a:r>
            <a:r>
              <a:rPr lang="en-US" dirty="0" err="1"/>
              <a:t>AzBobbyTables</a:t>
            </a:r>
            <a:endParaRPr lang="en-US" dirty="0"/>
          </a:p>
        </p:txBody>
      </p:sp>
    </p:spTree>
    <p:extLst>
      <p:ext uri="{BB962C8B-B14F-4D97-AF65-F5344CB8AC3E}">
        <p14:creationId xmlns:p14="http://schemas.microsoft.com/office/powerpoint/2010/main" val="3291489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12EE1-512C-DFD4-FCE5-8E80CD364FE7}"/>
              </a:ext>
            </a:extLst>
          </p:cNvPr>
          <p:cNvSpPr>
            <a:spLocks noGrp="1"/>
          </p:cNvSpPr>
          <p:nvPr>
            <p:ph type="title"/>
          </p:nvPr>
        </p:nvSpPr>
        <p:spPr/>
        <p:txBody>
          <a:bodyPr/>
          <a:lstStyle/>
          <a:p>
            <a:r>
              <a:rPr lang="en-US" dirty="0"/>
              <a:t>What tooling do we need?</a:t>
            </a:r>
          </a:p>
        </p:txBody>
      </p:sp>
      <p:sp>
        <p:nvSpPr>
          <p:cNvPr id="3" name="Content Placeholder 2">
            <a:extLst>
              <a:ext uri="{FF2B5EF4-FFF2-40B4-BE49-F238E27FC236}">
                <a16:creationId xmlns:a16="http://schemas.microsoft.com/office/drawing/2014/main" id="{443E5EC7-4471-3F3F-F260-A3AF0937F950}"/>
              </a:ext>
            </a:extLst>
          </p:cNvPr>
          <p:cNvSpPr>
            <a:spLocks noGrp="1"/>
          </p:cNvSpPr>
          <p:nvPr>
            <p:ph idx="1"/>
          </p:nvPr>
        </p:nvSpPr>
        <p:spPr/>
        <p:txBody>
          <a:bodyPr/>
          <a:lstStyle/>
          <a:p>
            <a:r>
              <a:rPr lang="en-US" dirty="0"/>
              <a:t>.NET SDK</a:t>
            </a:r>
          </a:p>
          <a:p>
            <a:r>
              <a:rPr lang="en-US" dirty="0"/>
              <a:t>PowerShell</a:t>
            </a:r>
          </a:p>
          <a:p>
            <a:r>
              <a:rPr lang="en-US" dirty="0"/>
              <a:t>Editor</a:t>
            </a:r>
          </a:p>
          <a:p>
            <a:pPr lvl="1"/>
            <a:r>
              <a:rPr lang="en-US" dirty="0"/>
              <a:t>Visual Studio Code + Extensions</a:t>
            </a:r>
          </a:p>
          <a:p>
            <a:pPr lvl="1"/>
            <a:r>
              <a:rPr lang="en-US" dirty="0"/>
              <a:t>… but you can also use Visual Studio</a:t>
            </a:r>
          </a:p>
          <a:p>
            <a:pPr lvl="1"/>
            <a:r>
              <a:rPr lang="en-US" dirty="0"/>
              <a:t>… or others like </a:t>
            </a:r>
            <a:r>
              <a:rPr lang="en-US" dirty="0" err="1"/>
              <a:t>Jetbrains</a:t>
            </a:r>
            <a:r>
              <a:rPr lang="en-US" dirty="0"/>
              <a:t> Rider</a:t>
            </a:r>
          </a:p>
        </p:txBody>
      </p:sp>
    </p:spTree>
    <p:extLst>
      <p:ext uri="{BB962C8B-B14F-4D97-AF65-F5344CB8AC3E}">
        <p14:creationId xmlns:p14="http://schemas.microsoft.com/office/powerpoint/2010/main" val="1329429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959C8-CD23-06B6-17CC-20B1D7E00B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8B28FD-7F98-2BF7-2222-851B57EF726B}"/>
              </a:ext>
            </a:extLst>
          </p:cNvPr>
          <p:cNvSpPr>
            <a:spLocks noGrp="1"/>
          </p:cNvSpPr>
          <p:nvPr>
            <p:ph type="title"/>
          </p:nvPr>
        </p:nvSpPr>
        <p:spPr/>
        <p:txBody>
          <a:bodyPr/>
          <a:lstStyle/>
          <a:p>
            <a:r>
              <a:rPr lang="en-US" dirty="0"/>
              <a:t>Version Targeting</a:t>
            </a:r>
          </a:p>
        </p:txBody>
      </p:sp>
      <p:grpSp>
        <p:nvGrpSpPr>
          <p:cNvPr id="15" name="Group 14">
            <a:extLst>
              <a:ext uri="{FF2B5EF4-FFF2-40B4-BE49-F238E27FC236}">
                <a16:creationId xmlns:a16="http://schemas.microsoft.com/office/drawing/2014/main" id="{7568B363-5C6C-176D-42D3-D4640A1A2256}"/>
              </a:ext>
            </a:extLst>
          </p:cNvPr>
          <p:cNvGrpSpPr/>
          <p:nvPr/>
        </p:nvGrpSpPr>
        <p:grpSpPr>
          <a:xfrm>
            <a:off x="2807853" y="2057670"/>
            <a:ext cx="2262909" cy="2622974"/>
            <a:chOff x="2807853" y="2057670"/>
            <a:chExt cx="2262909" cy="2622974"/>
          </a:xfrm>
        </p:grpSpPr>
        <p:pic>
          <p:nvPicPr>
            <p:cNvPr id="12" name="Picture 11">
              <a:extLst>
                <a:ext uri="{FF2B5EF4-FFF2-40B4-BE49-F238E27FC236}">
                  <a16:creationId xmlns:a16="http://schemas.microsoft.com/office/drawing/2014/main" id="{0E938C9B-41CD-129B-4F09-6D4F4A396A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07853" y="2057670"/>
              <a:ext cx="2262909" cy="2262909"/>
            </a:xfrm>
            <a:prstGeom prst="rect">
              <a:avLst/>
            </a:prstGeom>
          </p:spPr>
        </p:pic>
        <p:sp>
          <p:nvSpPr>
            <p:cNvPr id="13" name="TextBox 12">
              <a:extLst>
                <a:ext uri="{FF2B5EF4-FFF2-40B4-BE49-F238E27FC236}">
                  <a16:creationId xmlns:a16="http://schemas.microsoft.com/office/drawing/2014/main" id="{2228065F-0244-F789-54E1-A26501504824}"/>
                </a:ext>
              </a:extLst>
            </p:cNvPr>
            <p:cNvSpPr txBox="1"/>
            <p:nvPr/>
          </p:nvSpPr>
          <p:spPr>
            <a:xfrm>
              <a:off x="2849913" y="4034313"/>
              <a:ext cx="1857048" cy="646331"/>
            </a:xfrm>
            <a:prstGeom prst="rect">
              <a:avLst/>
            </a:prstGeom>
            <a:noFill/>
          </p:spPr>
          <p:txBody>
            <a:bodyPr wrap="none" rtlCol="0">
              <a:spAutoFit/>
            </a:bodyPr>
            <a:lstStyle/>
            <a:p>
              <a:pPr algn="ctr"/>
              <a:r>
                <a:rPr lang="en-US" dirty="0"/>
                <a:t>PowerShell 5.1+</a:t>
              </a:r>
              <a:br>
                <a:rPr lang="en-US" dirty="0"/>
              </a:br>
              <a:r>
                <a:rPr lang="en-US" dirty="0"/>
                <a:t>.NET Standard 2.0</a:t>
              </a:r>
            </a:p>
          </p:txBody>
        </p:sp>
      </p:grpSp>
      <p:grpSp>
        <p:nvGrpSpPr>
          <p:cNvPr id="16" name="Group 15">
            <a:extLst>
              <a:ext uri="{FF2B5EF4-FFF2-40B4-BE49-F238E27FC236}">
                <a16:creationId xmlns:a16="http://schemas.microsoft.com/office/drawing/2014/main" id="{2C26430E-677D-4848-93D1-1AE7FC682C5B}"/>
              </a:ext>
            </a:extLst>
          </p:cNvPr>
          <p:cNvGrpSpPr/>
          <p:nvPr/>
        </p:nvGrpSpPr>
        <p:grpSpPr>
          <a:xfrm>
            <a:off x="7121238" y="2057670"/>
            <a:ext cx="2262909" cy="2622974"/>
            <a:chOff x="7121238" y="2057670"/>
            <a:chExt cx="2262909" cy="2622974"/>
          </a:xfrm>
        </p:grpSpPr>
        <p:pic>
          <p:nvPicPr>
            <p:cNvPr id="10" name="Picture 9">
              <a:extLst>
                <a:ext uri="{FF2B5EF4-FFF2-40B4-BE49-F238E27FC236}">
                  <a16:creationId xmlns:a16="http://schemas.microsoft.com/office/drawing/2014/main" id="{532EA643-0B7B-4941-2500-99A314F0D8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21238" y="2057670"/>
              <a:ext cx="2262909" cy="2262909"/>
            </a:xfrm>
            <a:prstGeom prst="rect">
              <a:avLst/>
            </a:prstGeom>
          </p:spPr>
        </p:pic>
        <p:sp>
          <p:nvSpPr>
            <p:cNvPr id="14" name="TextBox 13">
              <a:extLst>
                <a:ext uri="{FF2B5EF4-FFF2-40B4-BE49-F238E27FC236}">
                  <a16:creationId xmlns:a16="http://schemas.microsoft.com/office/drawing/2014/main" id="{8288CC45-4AF5-E312-88B8-A9DAEDA7B26D}"/>
                </a:ext>
              </a:extLst>
            </p:cNvPr>
            <p:cNvSpPr txBox="1"/>
            <p:nvPr/>
          </p:nvSpPr>
          <p:spPr>
            <a:xfrm>
              <a:off x="7255162" y="4034313"/>
              <a:ext cx="1687130" cy="646331"/>
            </a:xfrm>
            <a:prstGeom prst="rect">
              <a:avLst/>
            </a:prstGeom>
            <a:noFill/>
          </p:spPr>
          <p:txBody>
            <a:bodyPr wrap="none" rtlCol="0">
              <a:spAutoFit/>
            </a:bodyPr>
            <a:lstStyle/>
            <a:p>
              <a:pPr algn="ctr"/>
              <a:r>
                <a:rPr lang="en-US" dirty="0"/>
                <a:t>PowerShell 7.6+</a:t>
              </a:r>
            </a:p>
            <a:p>
              <a:pPr algn="ctr"/>
              <a:r>
                <a:rPr lang="en-US" dirty="0"/>
                <a:t>.NET 10</a:t>
              </a:r>
            </a:p>
          </p:txBody>
        </p:sp>
      </p:grpSp>
    </p:spTree>
    <p:extLst>
      <p:ext uri="{BB962C8B-B14F-4D97-AF65-F5344CB8AC3E}">
        <p14:creationId xmlns:p14="http://schemas.microsoft.com/office/powerpoint/2010/main" val="28827013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0CC0-E56B-0776-47C2-2975345808FD}"/>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1551C1B3-8BBA-4475-70B6-6E8A2AE58522}"/>
              </a:ext>
            </a:extLst>
          </p:cNvPr>
          <p:cNvGraphicFramePr>
            <a:graphicFrameLocks noGrp="1"/>
          </p:cNvGraphicFramePr>
          <p:nvPr>
            <p:extLst>
              <p:ext uri="{D42A27DB-BD31-4B8C-83A1-F6EECF244321}">
                <p14:modId xmlns:p14="http://schemas.microsoft.com/office/powerpoint/2010/main" val="495198235"/>
              </p:ext>
            </p:extLst>
          </p:nvPr>
        </p:nvGraphicFramePr>
        <p:xfrm>
          <a:off x="2164772" y="738813"/>
          <a:ext cx="7862455" cy="4764072"/>
        </p:xfrm>
        <a:graphic>
          <a:graphicData uri="http://schemas.openxmlformats.org/drawingml/2006/table">
            <a:tbl>
              <a:tblPr/>
              <a:tblGrid>
                <a:gridCol w="2570018">
                  <a:extLst>
                    <a:ext uri="{9D8B030D-6E8A-4147-A177-3AD203B41FA5}">
                      <a16:colId xmlns:a16="http://schemas.microsoft.com/office/drawing/2014/main" val="1083063672"/>
                    </a:ext>
                  </a:extLst>
                </a:gridCol>
                <a:gridCol w="1588655">
                  <a:extLst>
                    <a:ext uri="{9D8B030D-6E8A-4147-A177-3AD203B41FA5}">
                      <a16:colId xmlns:a16="http://schemas.microsoft.com/office/drawing/2014/main" val="435836344"/>
                    </a:ext>
                  </a:extLst>
                </a:gridCol>
                <a:gridCol w="1801091">
                  <a:extLst>
                    <a:ext uri="{9D8B030D-6E8A-4147-A177-3AD203B41FA5}">
                      <a16:colId xmlns:a16="http://schemas.microsoft.com/office/drawing/2014/main" val="3555488845"/>
                    </a:ext>
                  </a:extLst>
                </a:gridCol>
                <a:gridCol w="1902691">
                  <a:extLst>
                    <a:ext uri="{9D8B030D-6E8A-4147-A177-3AD203B41FA5}">
                      <a16:colId xmlns:a16="http://schemas.microsoft.com/office/drawing/2014/main" val="1137362080"/>
                    </a:ext>
                  </a:extLst>
                </a:gridCol>
              </a:tblGrid>
              <a:tr h="397006">
                <a:tc>
                  <a:txBody>
                    <a:bodyPr/>
                    <a:lstStyle/>
                    <a:p>
                      <a:pPr algn="l" fontAlgn="t">
                        <a:buNone/>
                      </a:pPr>
                      <a:r>
                        <a:rPr lang="en-US" sz="1800" b="1" i="0" u="none" strike="noStrike" dirty="0">
                          <a:solidFill>
                            <a:srgbClr val="3B2B45"/>
                          </a:solidFill>
                          <a:effectLst/>
                          <a:latin typeface="+mn-lt"/>
                        </a:rPr>
                        <a:t>Version</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1" i="0" u="none" strike="noStrike">
                          <a:solidFill>
                            <a:srgbClr val="3B2B45"/>
                          </a:solidFill>
                          <a:effectLst/>
                          <a:latin typeface="+mn-lt"/>
                        </a:rPr>
                        <a:t>Release Date</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1" i="0" u="none" strike="noStrike">
                          <a:solidFill>
                            <a:srgbClr val="3B2B45"/>
                          </a:solidFill>
                          <a:effectLst/>
                          <a:latin typeface="+mn-lt"/>
                        </a:rPr>
                        <a:t>End-of-support</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1" i="0" u="none" strike="noStrike" dirty="0">
                          <a:solidFill>
                            <a:srgbClr val="3B2B45"/>
                          </a:solidFill>
                          <a:effectLst/>
                          <a:latin typeface="+mn-lt"/>
                        </a:rPr>
                        <a:t>.NET Version</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2105576548"/>
                  </a:ext>
                </a:extLst>
              </a:tr>
              <a:tr h="397006">
                <a:tc>
                  <a:txBody>
                    <a:bodyPr/>
                    <a:lstStyle/>
                    <a:p>
                      <a:pPr algn="l" fontAlgn="t">
                        <a:buNone/>
                      </a:pPr>
                      <a:r>
                        <a:rPr lang="en-US" dirty="0">
                          <a:solidFill>
                            <a:srgbClr val="336297"/>
                          </a:solidFill>
                          <a:effectLst/>
                          <a:latin typeface="+mn-lt"/>
                        </a:rPr>
                        <a:t>PowerShell 7.7 (preview)</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endParaRPr lang="en-US" dirty="0">
                        <a:solidFill>
                          <a:srgbClr val="336297"/>
                        </a:solidFill>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endParaRPr lang="en-US">
                        <a:solidFill>
                          <a:srgbClr val="336297"/>
                        </a:solidFill>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u="none" strike="noStrike" dirty="0">
                          <a:solidFill>
                            <a:srgbClr val="75B6E7"/>
                          </a:solidFill>
                          <a:effectLst/>
                          <a:latin typeface="+mn-lt"/>
                          <a:hlinkClick r:id="rId3"/>
                        </a:rPr>
                        <a:t>.NET 11.0</a:t>
                      </a:r>
                      <a:endParaRPr lang="en-US" dirty="0">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2198877151"/>
                  </a:ext>
                </a:extLst>
              </a:tr>
              <a:tr h="397006">
                <a:tc>
                  <a:txBody>
                    <a:bodyPr/>
                    <a:lstStyle/>
                    <a:p>
                      <a:pPr algn="l" fontAlgn="t">
                        <a:buNone/>
                      </a:pPr>
                      <a:r>
                        <a:rPr lang="en-US" dirty="0">
                          <a:solidFill>
                            <a:srgbClr val="336297"/>
                          </a:solidFill>
                          <a:effectLst/>
                          <a:latin typeface="+mn-lt"/>
                        </a:rPr>
                        <a:t>PowerShell 7.6 (LTS)</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a:solidFill>
                            <a:srgbClr val="336297"/>
                          </a:solidFill>
                          <a:effectLst/>
                          <a:latin typeface="+mn-lt"/>
                        </a:rPr>
                        <a:t>18-Mar-2026</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a:solidFill>
                            <a:srgbClr val="336297"/>
                          </a:solidFill>
                          <a:effectLst/>
                          <a:latin typeface="+mn-lt"/>
                        </a:rPr>
                        <a:t>14-Nov-2028</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u="none" strike="noStrike">
                          <a:solidFill>
                            <a:srgbClr val="75B6E7"/>
                          </a:solidFill>
                          <a:effectLst/>
                          <a:latin typeface="+mn-lt"/>
                          <a:hlinkClick r:id="rId4"/>
                        </a:rPr>
                        <a:t>.NET 10.0</a:t>
                      </a:r>
                      <a:endParaRPr lang="en-US">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560714889"/>
                  </a:ext>
                </a:extLst>
              </a:tr>
              <a:tr h="397006">
                <a:tc>
                  <a:txBody>
                    <a:bodyPr/>
                    <a:lstStyle/>
                    <a:p>
                      <a:pPr algn="l" fontAlgn="t">
                        <a:buNone/>
                      </a:pPr>
                      <a:r>
                        <a:rPr lang="en-US" dirty="0">
                          <a:solidFill>
                            <a:srgbClr val="336297"/>
                          </a:solidFill>
                          <a:effectLst/>
                          <a:latin typeface="+mn-lt"/>
                        </a:rPr>
                        <a:t>PowerShell 7.5</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a:solidFill>
                            <a:srgbClr val="336297"/>
                          </a:solidFill>
                          <a:effectLst/>
                          <a:latin typeface="+mn-lt"/>
                        </a:rPr>
                        <a:t>23-Jan-2025</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dirty="0">
                          <a:solidFill>
                            <a:srgbClr val="336297"/>
                          </a:solidFill>
                          <a:effectLst/>
                          <a:latin typeface="+mn-lt"/>
                        </a:rPr>
                        <a:t>10-Nov-2026</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u="none" strike="noStrike" dirty="0">
                          <a:solidFill>
                            <a:srgbClr val="75B6E7"/>
                          </a:solidFill>
                          <a:effectLst/>
                          <a:latin typeface="+mn-lt"/>
                          <a:hlinkClick r:id="rId5"/>
                        </a:rPr>
                        <a:t>.NET 9.0</a:t>
                      </a:r>
                      <a:endParaRPr lang="en-US" dirty="0">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79627727"/>
                  </a:ext>
                </a:extLst>
              </a:tr>
              <a:tr h="397006">
                <a:tc>
                  <a:txBody>
                    <a:bodyPr/>
                    <a:lstStyle/>
                    <a:p>
                      <a:pPr algn="l" fontAlgn="t">
                        <a:buNone/>
                      </a:pPr>
                      <a:r>
                        <a:rPr lang="en-US" dirty="0">
                          <a:solidFill>
                            <a:srgbClr val="336297"/>
                          </a:solidFill>
                          <a:effectLst/>
                          <a:latin typeface="+mn-lt"/>
                        </a:rPr>
                        <a:t>PowerShell 7.4 (LTS)</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dirty="0">
                          <a:solidFill>
                            <a:srgbClr val="336297"/>
                          </a:solidFill>
                          <a:effectLst/>
                          <a:latin typeface="+mn-lt"/>
                        </a:rPr>
                        <a:t>16-Nov-2023</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dirty="0">
                          <a:solidFill>
                            <a:srgbClr val="336297"/>
                          </a:solidFill>
                          <a:effectLst/>
                          <a:latin typeface="+mn-lt"/>
                        </a:rPr>
                        <a:t>10-Nov-2026</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u="none" strike="noStrike" dirty="0">
                          <a:solidFill>
                            <a:srgbClr val="75B6E7"/>
                          </a:solidFill>
                          <a:effectLst/>
                          <a:hlinkClick r:id="rId6"/>
                        </a:rPr>
                        <a:t>.NET 8.0</a:t>
                      </a:r>
                      <a:endParaRPr lang="en-US" dirty="0">
                        <a:effectLs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298880971"/>
                  </a:ext>
                </a:extLst>
              </a:tr>
              <a:tr h="397006">
                <a:tc>
                  <a:txBody>
                    <a:bodyPr/>
                    <a:lstStyle/>
                    <a:p>
                      <a:pPr algn="l" fontAlgn="t">
                        <a:buNone/>
                      </a:pPr>
                      <a:r>
                        <a:rPr lang="en-US" sz="1800" b="0" i="0" u="none" strike="noStrike" dirty="0">
                          <a:solidFill>
                            <a:srgbClr val="336297"/>
                          </a:solidFill>
                          <a:effectLst/>
                          <a:latin typeface="+mn-lt"/>
                        </a:rPr>
                        <a:t>PowerShell 7.3</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dirty="0">
                          <a:solidFill>
                            <a:srgbClr val="336297"/>
                          </a:solidFill>
                          <a:effectLst/>
                          <a:latin typeface="+mn-lt"/>
                        </a:rPr>
                        <a:t>09-Nov-2022</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08-May-2024</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dirty="0">
                          <a:solidFill>
                            <a:srgbClr val="75B6E7"/>
                          </a:solidFill>
                          <a:effectLst/>
                          <a:latin typeface="+mn-lt"/>
                          <a:hlinkClick r:id="rId7"/>
                        </a:rPr>
                        <a:t>.NET 7.0</a:t>
                      </a:r>
                      <a:endParaRPr lang="en-US" sz="1800" b="0" i="0" u="none" strike="noStrike" dirty="0">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510563146"/>
                  </a:ext>
                </a:extLst>
              </a:tr>
              <a:tr h="397006">
                <a:tc>
                  <a:txBody>
                    <a:bodyPr/>
                    <a:lstStyle/>
                    <a:p>
                      <a:pPr algn="l" fontAlgn="t">
                        <a:buNone/>
                      </a:pPr>
                      <a:r>
                        <a:rPr lang="en-US" sz="1800" b="0" i="0" u="none" strike="noStrike">
                          <a:solidFill>
                            <a:srgbClr val="336297"/>
                          </a:solidFill>
                          <a:effectLst/>
                          <a:latin typeface="+mn-lt"/>
                        </a:rPr>
                        <a:t>PowerShell 7.2 (LTS)</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08-Nov-2021</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08-Nov-2024</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8"/>
                        </a:rPr>
                        <a:t>.NET 6.0</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3653227455"/>
                  </a:ext>
                </a:extLst>
              </a:tr>
              <a:tr h="397006">
                <a:tc>
                  <a:txBody>
                    <a:bodyPr/>
                    <a:lstStyle/>
                    <a:p>
                      <a:pPr algn="l" fontAlgn="t">
                        <a:buNone/>
                      </a:pPr>
                      <a:r>
                        <a:rPr lang="en-US" sz="1800" b="0" i="0" u="none" strike="noStrike">
                          <a:solidFill>
                            <a:srgbClr val="336297"/>
                          </a:solidFill>
                          <a:effectLst/>
                          <a:latin typeface="+mn-lt"/>
                        </a:rPr>
                        <a:t>PowerShell 7.1</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11-Nov-2020</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08-May-2022</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9"/>
                        </a:rPr>
                        <a:t>.NET 5.0</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1872337628"/>
                  </a:ext>
                </a:extLst>
              </a:tr>
              <a:tr h="397006">
                <a:tc>
                  <a:txBody>
                    <a:bodyPr/>
                    <a:lstStyle/>
                    <a:p>
                      <a:pPr algn="l" fontAlgn="t">
                        <a:buNone/>
                      </a:pPr>
                      <a:r>
                        <a:rPr lang="en-US" sz="1800" b="0" i="0" u="none" strike="noStrike">
                          <a:solidFill>
                            <a:srgbClr val="336297"/>
                          </a:solidFill>
                          <a:effectLst/>
                          <a:latin typeface="+mn-lt"/>
                        </a:rPr>
                        <a:t>PowerShell 7.0 (LTS)</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04-Mar-2020</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03-Dec-2022</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10"/>
                        </a:rPr>
                        <a:t>.NET Core 3.1</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470470623"/>
                  </a:ext>
                </a:extLst>
              </a:tr>
              <a:tr h="397006">
                <a:tc>
                  <a:txBody>
                    <a:bodyPr/>
                    <a:lstStyle/>
                    <a:p>
                      <a:pPr algn="l" fontAlgn="t">
                        <a:buNone/>
                      </a:pPr>
                      <a:r>
                        <a:rPr lang="en-US" sz="1800" b="0" i="0" u="none" strike="noStrike">
                          <a:solidFill>
                            <a:srgbClr val="336297"/>
                          </a:solidFill>
                          <a:effectLst/>
                          <a:latin typeface="+mn-lt"/>
                        </a:rPr>
                        <a:t>PowerShell 6.2</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29-Mar-2019</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04-Sep-2020</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11"/>
                        </a:rPr>
                        <a:t>.NET Core 2.1</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2512744234"/>
                  </a:ext>
                </a:extLst>
              </a:tr>
              <a:tr h="397006">
                <a:tc>
                  <a:txBody>
                    <a:bodyPr/>
                    <a:lstStyle/>
                    <a:p>
                      <a:pPr algn="l" fontAlgn="t">
                        <a:buNone/>
                      </a:pPr>
                      <a:r>
                        <a:rPr lang="en-US" sz="1800" b="0" i="0" u="none" strike="noStrike">
                          <a:solidFill>
                            <a:srgbClr val="336297"/>
                          </a:solidFill>
                          <a:effectLst/>
                          <a:latin typeface="+mn-lt"/>
                        </a:rPr>
                        <a:t>PowerShell 6.1</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13-Sep-2018</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28-Sep-2019</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11"/>
                        </a:rPr>
                        <a:t>.NET Core 2.1</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594526909"/>
                  </a:ext>
                </a:extLst>
              </a:tr>
              <a:tr h="397006">
                <a:tc>
                  <a:txBody>
                    <a:bodyPr/>
                    <a:lstStyle/>
                    <a:p>
                      <a:pPr algn="l" fontAlgn="t">
                        <a:buNone/>
                      </a:pPr>
                      <a:r>
                        <a:rPr lang="en-US" sz="1800" b="0" i="0" u="none" strike="noStrike" dirty="0">
                          <a:solidFill>
                            <a:srgbClr val="336297"/>
                          </a:solidFill>
                          <a:effectLst/>
                          <a:latin typeface="+mn-lt"/>
                        </a:rPr>
                        <a:t>PowerShell 6.0</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dirty="0">
                          <a:solidFill>
                            <a:srgbClr val="336297"/>
                          </a:solidFill>
                          <a:effectLst/>
                          <a:latin typeface="+mn-lt"/>
                        </a:rPr>
                        <a:t>20-Jan-2018</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dirty="0">
                          <a:solidFill>
                            <a:srgbClr val="336297"/>
                          </a:solidFill>
                          <a:effectLst/>
                          <a:latin typeface="+mn-lt"/>
                        </a:rPr>
                        <a:t>13-Feb-2019</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dirty="0">
                          <a:solidFill>
                            <a:srgbClr val="75B6E7"/>
                          </a:solidFill>
                          <a:effectLst/>
                          <a:latin typeface="+mn-lt"/>
                          <a:hlinkClick r:id="rId12"/>
                        </a:rPr>
                        <a:t>.NET Core 2.0</a:t>
                      </a:r>
                      <a:endParaRPr lang="en-US" sz="1800" b="0" i="0" u="none" strike="noStrike" dirty="0">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802038005"/>
                  </a:ext>
                </a:extLst>
              </a:tr>
            </a:tbl>
          </a:graphicData>
        </a:graphic>
      </p:graphicFrame>
      <p:sp>
        <p:nvSpPr>
          <p:cNvPr id="5" name="TextBox 4">
            <a:extLst>
              <a:ext uri="{FF2B5EF4-FFF2-40B4-BE49-F238E27FC236}">
                <a16:creationId xmlns:a16="http://schemas.microsoft.com/office/drawing/2014/main" id="{C1BB92FE-7E21-02C7-E3C4-8FA6E0183752}"/>
              </a:ext>
            </a:extLst>
          </p:cNvPr>
          <p:cNvSpPr txBox="1"/>
          <p:nvPr/>
        </p:nvSpPr>
        <p:spPr>
          <a:xfrm>
            <a:off x="1089891" y="5740589"/>
            <a:ext cx="10012218" cy="307777"/>
          </a:xfrm>
          <a:prstGeom prst="rect">
            <a:avLst/>
          </a:prstGeom>
          <a:noFill/>
        </p:spPr>
        <p:txBody>
          <a:bodyPr wrap="square">
            <a:spAutoFit/>
          </a:bodyPr>
          <a:lstStyle/>
          <a:p>
            <a:pPr marL="0" indent="0" algn="ctr">
              <a:buNone/>
            </a:pPr>
            <a:r>
              <a:rPr lang="en-US" sz="1400" dirty="0">
                <a:latin typeface="Cascadia Code" panose="020B0609020000020004" pitchFamily="34" charset="0"/>
                <a:ea typeface="Cascadia Code" panose="020B0609020000020004" pitchFamily="34" charset="0"/>
                <a:cs typeface="Cascadia Code" panose="020B0609020000020004" pitchFamily="34" charset="0"/>
              </a:rPr>
              <a:t>[</a:t>
            </a:r>
            <a:r>
              <a:rPr lang="en-US" sz="1400" dirty="0" err="1">
                <a:latin typeface="Cascadia Code" panose="020B0609020000020004" pitchFamily="34" charset="0"/>
                <a:ea typeface="Cascadia Code" panose="020B0609020000020004" pitchFamily="34" charset="0"/>
                <a:cs typeface="Cascadia Code" panose="020B0609020000020004" pitchFamily="34" charset="0"/>
              </a:rPr>
              <a:t>System.Runtime.InteropServices.RuntimeInformation</a:t>
            </a:r>
            <a:r>
              <a:rPr lang="en-US" sz="1400" dirty="0">
                <a:latin typeface="Cascadia Code" panose="020B0609020000020004" pitchFamily="34" charset="0"/>
                <a:ea typeface="Cascadia Code" panose="020B0609020000020004" pitchFamily="34" charset="0"/>
                <a:cs typeface="Cascadia Code" panose="020B0609020000020004" pitchFamily="34" charset="0"/>
              </a:rPr>
              <a:t>]::</a:t>
            </a:r>
            <a:r>
              <a:rPr lang="en-US" sz="1400" dirty="0" err="1">
                <a:latin typeface="Cascadia Code" panose="020B0609020000020004" pitchFamily="34" charset="0"/>
                <a:ea typeface="Cascadia Code" panose="020B0609020000020004" pitchFamily="34" charset="0"/>
                <a:cs typeface="Cascadia Code" panose="020B0609020000020004" pitchFamily="34" charset="0"/>
              </a:rPr>
              <a:t>FrameworkDescription</a:t>
            </a:r>
            <a:endParaRPr lang="en-US" sz="1400" dirty="0">
              <a:latin typeface="Cascadia Code" panose="020B0609020000020004" pitchFamily="34" charset="0"/>
              <a:ea typeface="Cascadia Code" panose="020B0609020000020004" pitchFamily="34" charset="0"/>
              <a:cs typeface="Cascadia Code" panose="020B0609020000020004" pitchFamily="34" charset="0"/>
            </a:endParaRPr>
          </a:p>
        </p:txBody>
      </p:sp>
    </p:spTree>
    <p:extLst>
      <p:ext uri="{BB962C8B-B14F-4D97-AF65-F5344CB8AC3E}">
        <p14:creationId xmlns:p14="http://schemas.microsoft.com/office/powerpoint/2010/main" val="24977405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72526-107B-9CF1-273C-31DB300904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DE2129-F77B-5664-4FB3-7FBE53ECCCD9}"/>
              </a:ext>
            </a:extLst>
          </p:cNvPr>
          <p:cNvSpPr>
            <a:spLocks noGrp="1"/>
          </p:cNvSpPr>
          <p:nvPr>
            <p:ph type="title"/>
          </p:nvPr>
        </p:nvSpPr>
        <p:spPr/>
        <p:txBody>
          <a:bodyPr/>
          <a:lstStyle/>
          <a:p>
            <a:r>
              <a:rPr lang="en-US" dirty="0"/>
              <a:t>Just target .NET Standard 2.0</a:t>
            </a:r>
          </a:p>
        </p:txBody>
      </p:sp>
      <p:sp>
        <p:nvSpPr>
          <p:cNvPr id="3" name="Content Placeholder 2">
            <a:extLst>
              <a:ext uri="{FF2B5EF4-FFF2-40B4-BE49-F238E27FC236}">
                <a16:creationId xmlns:a16="http://schemas.microsoft.com/office/drawing/2014/main" id="{CBF3EC65-ABCC-42C6-60BE-B9A92A175623}"/>
              </a:ext>
            </a:extLst>
          </p:cNvPr>
          <p:cNvSpPr>
            <a:spLocks noGrp="1"/>
          </p:cNvSpPr>
          <p:nvPr>
            <p:ph idx="1"/>
          </p:nvPr>
        </p:nvSpPr>
        <p:spPr>
          <a:xfrm>
            <a:off x="838200" y="1825625"/>
            <a:ext cx="11353800" cy="4351338"/>
          </a:xfrm>
        </p:spPr>
        <p:txBody>
          <a:bodyPr>
            <a:normAutofit/>
          </a:bodyPr>
          <a:lstStyle/>
          <a:p>
            <a:pPr marL="0" indent="0">
              <a:buNone/>
            </a:pPr>
            <a:r>
              <a:rPr lang="en-US" sz="3200" dirty="0"/>
              <a:t>Unless you need new .NET APIs or your dependencies do</a:t>
            </a:r>
          </a:p>
        </p:txBody>
      </p:sp>
    </p:spTree>
    <p:extLst>
      <p:ext uri="{BB962C8B-B14F-4D97-AF65-F5344CB8AC3E}">
        <p14:creationId xmlns:p14="http://schemas.microsoft.com/office/powerpoint/2010/main" val="1321831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147732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96CC4998-AF6D-C2F0-9514-99C2B3440A66}"/>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25915740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PSCmdlet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203132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CmdletBinding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  param</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6" name="Title 1">
            <a:extLst>
              <a:ext uri="{FF2B5EF4-FFF2-40B4-BE49-F238E27FC236}">
                <a16:creationId xmlns:a16="http://schemas.microsoft.com/office/drawing/2014/main" id="{2447CCC6-CB5F-08A4-2B7D-7ACDA72F2E13}"/>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2824521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Char"/>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258532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PSCmdlet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public</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34163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CmdletBinding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  param</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endPar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7FB4F794-28EE-503E-402D-3D179B67D3D9}"/>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36865749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Char"/>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424731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PSCmdlet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public</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BeginProcessing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b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b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ProcessRecord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b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EndProcessing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507831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CmdletBinding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  param</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endPar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begin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process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end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37014E3D-AAFB-BE6C-9244-364CCAEF94CF}"/>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23034729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Char"/>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480131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PSCmdlet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public</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BeginProcessing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b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b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ProcessRecord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WriteObject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$"Hello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b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EndProcessing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563231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CmdletBinding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  param</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endPar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begin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process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"Hello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end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577823C9-F6BA-5840-F246-1567044FD1B5}"/>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33305713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Char"/>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C6CF0-53B4-D101-15FB-00ACFCAF9636}"/>
              </a:ext>
            </a:extLst>
          </p:cNvPr>
          <p:cNvSpPr>
            <a:spLocks noGrp="1"/>
          </p:cNvSpPr>
          <p:nvPr>
            <p:ph type="title"/>
          </p:nvPr>
        </p:nvSpPr>
        <p:spPr/>
        <p:txBody>
          <a:bodyPr/>
          <a:lstStyle/>
          <a:p>
            <a:r>
              <a:rPr lang="en-US" dirty="0"/>
              <a:t>What are we making today?</a:t>
            </a:r>
          </a:p>
        </p:txBody>
      </p:sp>
      <p:sp>
        <p:nvSpPr>
          <p:cNvPr id="3" name="Content Placeholder 2">
            <a:extLst>
              <a:ext uri="{FF2B5EF4-FFF2-40B4-BE49-F238E27FC236}">
                <a16:creationId xmlns:a16="http://schemas.microsoft.com/office/drawing/2014/main" id="{C3EB20A4-4446-DCBE-D15D-A9141F97DAB8}"/>
              </a:ext>
            </a:extLst>
          </p:cNvPr>
          <p:cNvSpPr>
            <a:spLocks noGrp="1"/>
          </p:cNvSpPr>
          <p:nvPr>
            <p:ph idx="1"/>
          </p:nvPr>
        </p:nvSpPr>
        <p:spPr>
          <a:xfrm>
            <a:off x="838199" y="1825625"/>
            <a:ext cx="11473873" cy="4351338"/>
          </a:xfrm>
        </p:spPr>
        <p:txBody>
          <a:bodyPr>
            <a:normAutofit/>
          </a:bodyPr>
          <a:lstStyle/>
          <a:p>
            <a:r>
              <a:rPr lang="en-US" sz="3400" dirty="0"/>
              <a:t>A messaging module with SDK </a:t>
            </a:r>
            <a:r>
              <a:rPr lang="en-US" sz="3400" dirty="0" err="1"/>
              <a:t>Azure.Storage.Queues</a:t>
            </a:r>
            <a:r>
              <a:rPr lang="en-US" sz="3400" dirty="0"/>
              <a:t>…</a:t>
            </a:r>
          </a:p>
          <a:p>
            <a:r>
              <a:rPr lang="en-US" sz="3400" dirty="0"/>
              <a:t>… open source in a public repository on GitHub</a:t>
            </a:r>
          </a:p>
          <a:p>
            <a:r>
              <a:rPr lang="en-US" sz="3400" dirty="0"/>
              <a:t>… with a pipeline for Build/Test/Release</a:t>
            </a:r>
          </a:p>
          <a:p>
            <a:r>
              <a:rPr lang="en-US" sz="3400" dirty="0"/>
              <a:t>… using Sampler, Pester</a:t>
            </a:r>
          </a:p>
          <a:p>
            <a:r>
              <a:rPr lang="en-US" sz="3400" dirty="0"/>
              <a:t>… in 30~ish minutes?</a:t>
            </a:r>
          </a:p>
          <a:p>
            <a:r>
              <a:rPr lang="en-US" sz="3400" dirty="0"/>
              <a:t>… after some prep</a:t>
            </a:r>
          </a:p>
        </p:txBody>
      </p:sp>
      <mc:AlternateContent xmlns:mc="http://schemas.openxmlformats.org/markup-compatibility/2006" xmlns:p14="http://schemas.microsoft.com/office/powerpoint/2010/main">
        <mc:Choice Requires="p14">
          <p:contentPart p14:bwMode="auto" r:id="rId2">
            <p14:nvContentPartPr>
              <p14:cNvPr id="78" name="Ink 77">
                <a:extLst>
                  <a:ext uri="{FF2B5EF4-FFF2-40B4-BE49-F238E27FC236}">
                    <a16:creationId xmlns:a16="http://schemas.microsoft.com/office/drawing/2014/main" id="{D99206C9-368D-01B9-F930-1297FF779715}"/>
                  </a:ext>
                </a:extLst>
              </p14:cNvPr>
              <p14:cNvContentPartPr/>
              <p14:nvPr/>
            </p14:nvContentPartPr>
            <p14:xfrm>
              <a:off x="2355274" y="3500582"/>
              <a:ext cx="3121891" cy="741219"/>
            </p14:xfrm>
          </p:contentPart>
        </mc:Choice>
        <mc:Fallback xmlns="">
          <p:pic>
            <p:nvPicPr>
              <p:cNvPr id="78" name="Ink 77">
                <a:extLst>
                  <a:ext uri="{FF2B5EF4-FFF2-40B4-BE49-F238E27FC236}">
                    <a16:creationId xmlns:a16="http://schemas.microsoft.com/office/drawing/2014/main" id="{D99206C9-368D-01B9-F930-1297FF779715}"/>
                  </a:ext>
                </a:extLst>
              </p:cNvPr>
              <p:cNvPicPr/>
              <p:nvPr/>
            </p:nvPicPr>
            <p:blipFill>
              <a:blip r:embed="rId3"/>
              <a:stretch>
                <a:fillRect/>
              </a:stretch>
            </p:blipFill>
            <p:spPr>
              <a:xfrm>
                <a:off x="2337274" y="3482583"/>
                <a:ext cx="3157531" cy="776858"/>
              </a:xfrm>
              <a:prstGeom prst="rect">
                <a:avLst/>
              </a:prstGeom>
            </p:spPr>
          </p:pic>
        </mc:Fallback>
      </mc:AlternateContent>
    </p:spTree>
    <p:extLst>
      <p:ext uri="{BB962C8B-B14F-4D97-AF65-F5344CB8AC3E}">
        <p14:creationId xmlns:p14="http://schemas.microsoft.com/office/powerpoint/2010/main" val="1388839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63" presetClass="entr" presetSubtype="0" fill="hold" nodeType="clickEffect">
                                  <p:stCondLst>
                                    <p:cond delay="0"/>
                                  </p:stCondLst>
                                  <p:childTnLst>
                                    <p:set>
                                      <p:cBhvr>
                                        <p:cTn id="26" dur="1" fill="hold">
                                          <p:stCondLst>
                                            <p:cond delay="0"/>
                                          </p:stCondLst>
                                        </p:cTn>
                                        <p:tgtEl>
                                          <p:spTgt spid="78"/>
                                        </p:tgtEl>
                                        <p:attrNameLst>
                                          <p:attrName>style.visibility</p:attrName>
                                        </p:attrNameLst>
                                      </p:cBhvr>
                                      <p:to>
                                        <p:strVal val="visible"/>
                                      </p:to>
                                    </p:set>
                                    <p:anim calcmode="lin" valueType="num">
                                      <p:cBhvr>
                                        <p:cTn id="27" dur="500" fill="hold"/>
                                        <p:tgtEl>
                                          <p:spTgt spid="78"/>
                                        </p:tgtEl>
                                        <p:attrNameLst>
                                          <p:attrName>drawProgress</p:attrName>
                                        </p:attrNameLst>
                                      </p:cBhvr>
                                      <p:tavLst>
                                        <p:tav tm="0">
                                          <p:val>
                                            <p:fltVal val="0"/>
                                          </p:val>
                                        </p:tav>
                                        <p:tav tm="100000">
                                          <p:val>
                                            <p:fltVal val="1"/>
                                          </p:val>
                                        </p:tav>
                                      </p:tavLst>
                                    </p:anim>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fade">
                                      <p:cBhvr>
                                        <p:cTn id="32" dur="50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7DBF2-C3FD-3AFE-10B0-2CB992D3A1D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8CE1493-6A1F-6E0B-4A67-EEBEC59791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41169" y="430993"/>
            <a:ext cx="4118677" cy="4118675"/>
          </a:xfrm>
          <a:prstGeom prst="rect">
            <a:avLst/>
          </a:prstGeom>
        </p:spPr>
      </p:pic>
      <p:sp>
        <p:nvSpPr>
          <p:cNvPr id="2" name="Title 1">
            <a:extLst>
              <a:ext uri="{FF2B5EF4-FFF2-40B4-BE49-F238E27FC236}">
                <a16:creationId xmlns:a16="http://schemas.microsoft.com/office/drawing/2014/main" id="{F04DE705-8C13-B27E-C87A-0B3B33118C94}"/>
              </a:ext>
            </a:extLst>
          </p:cNvPr>
          <p:cNvSpPr>
            <a:spLocks noGrp="1"/>
          </p:cNvSpPr>
          <p:nvPr>
            <p:ph type="title"/>
          </p:nvPr>
        </p:nvSpPr>
        <p:spPr/>
        <p:txBody>
          <a:bodyPr>
            <a:normAutofit/>
          </a:bodyPr>
          <a:lstStyle/>
          <a:p>
            <a:r>
              <a:rPr lang="en-US" dirty="0"/>
              <a:t>Demo time!</a:t>
            </a:r>
            <a:br>
              <a:rPr lang="en-US" dirty="0"/>
            </a:br>
            <a:r>
              <a:rPr lang="en-US" sz="2800" dirty="0">
                <a:solidFill>
                  <a:srgbClr val="336297"/>
                </a:solidFill>
              </a:rPr>
              <a:t>The demo setup has already...</a:t>
            </a:r>
            <a:endParaRPr lang="en-US" dirty="0">
              <a:solidFill>
                <a:srgbClr val="336297"/>
              </a:solidFill>
            </a:endParaRPr>
          </a:p>
        </p:txBody>
      </p:sp>
      <p:sp>
        <p:nvSpPr>
          <p:cNvPr id="3" name="Content Placeholder 2">
            <a:extLst>
              <a:ext uri="{FF2B5EF4-FFF2-40B4-BE49-F238E27FC236}">
                <a16:creationId xmlns:a16="http://schemas.microsoft.com/office/drawing/2014/main" id="{ED65727E-AFEF-AC5C-997E-E63C1ECAD6A7}"/>
              </a:ext>
            </a:extLst>
          </p:cNvPr>
          <p:cNvSpPr>
            <a:spLocks noGrp="1"/>
          </p:cNvSpPr>
          <p:nvPr>
            <p:ph idx="1"/>
          </p:nvPr>
        </p:nvSpPr>
        <p:spPr>
          <a:xfrm>
            <a:off x="838199" y="1825625"/>
            <a:ext cx="11473873" cy="4351338"/>
          </a:xfrm>
        </p:spPr>
        <p:txBody>
          <a:bodyPr>
            <a:normAutofit/>
          </a:bodyPr>
          <a:lstStyle/>
          <a:p>
            <a:pPr marL="514350" indent="-514350">
              <a:buFont typeface="+mj-lt"/>
              <a:buAutoNum type="arabicPeriod"/>
            </a:pPr>
            <a:r>
              <a:rPr lang="en-US" sz="3400" dirty="0"/>
              <a:t>… executed </a:t>
            </a:r>
            <a:r>
              <a:rPr lang="en-US" sz="2800" dirty="0">
                <a:latin typeface="Cascadia Code" panose="020B0609020000020004" pitchFamily="34" charset="0"/>
                <a:ea typeface="Cascadia Code" panose="020B0609020000020004" pitchFamily="34" charset="0"/>
                <a:cs typeface="Cascadia Code" panose="020B0609020000020004" pitchFamily="34" charset="0"/>
              </a:rPr>
              <a:t>New-</a:t>
            </a:r>
            <a:r>
              <a:rPr lang="en-US" sz="2800" dirty="0" err="1">
                <a:latin typeface="Cascadia Code" panose="020B0609020000020004" pitchFamily="34" charset="0"/>
                <a:ea typeface="Cascadia Code" panose="020B0609020000020004" pitchFamily="34" charset="0"/>
                <a:cs typeface="Cascadia Code" panose="020B0609020000020004" pitchFamily="34" charset="0"/>
              </a:rPr>
              <a:t>SampleModule</a:t>
            </a:r>
            <a:endParaRPr lang="en-US" sz="3400" dirty="0">
              <a:latin typeface="Cascadia Code" panose="020B0609020000020004" pitchFamily="34" charset="0"/>
              <a:ea typeface="Cascadia Code" panose="020B0609020000020004" pitchFamily="34" charset="0"/>
              <a:cs typeface="Cascadia Code" panose="020B0609020000020004" pitchFamily="34" charset="0"/>
            </a:endParaRPr>
          </a:p>
          <a:p>
            <a:pPr marL="514350" indent="-514350">
              <a:buFont typeface="+mj-lt"/>
              <a:buAutoNum type="arabicPeriod"/>
            </a:pPr>
            <a:r>
              <a:rPr lang="en-US" sz="3400" dirty="0"/>
              <a:t>… removed some files</a:t>
            </a:r>
          </a:p>
          <a:p>
            <a:pPr marL="514350" indent="-514350">
              <a:buFont typeface="+mj-lt"/>
              <a:buAutoNum type="arabicPeriod"/>
            </a:pPr>
            <a:r>
              <a:rPr lang="en-US" sz="3400" dirty="0"/>
              <a:t>… added some files</a:t>
            </a:r>
          </a:p>
          <a:p>
            <a:pPr lvl="1"/>
            <a:r>
              <a:rPr lang="en-US" sz="3000" dirty="0" err="1"/>
              <a:t>InvokeBuild</a:t>
            </a:r>
            <a:r>
              <a:rPr lang="en-US" sz="3000" dirty="0"/>
              <a:t> Task</a:t>
            </a:r>
          </a:p>
          <a:p>
            <a:pPr lvl="2"/>
            <a:r>
              <a:rPr lang="en-US" sz="2600" dirty="0"/>
              <a:t>.NET compilation</a:t>
            </a:r>
          </a:p>
          <a:p>
            <a:pPr lvl="1"/>
            <a:r>
              <a:rPr lang="en-US" sz="3000" dirty="0" err="1"/>
              <a:t>GitVersion</a:t>
            </a:r>
            <a:r>
              <a:rPr lang="en-US" sz="3000" dirty="0"/>
              <a:t> config</a:t>
            </a:r>
          </a:p>
          <a:p>
            <a:pPr lvl="1"/>
            <a:r>
              <a:rPr lang="en-US" sz="3000" dirty="0"/>
              <a:t>GitHub Workflow</a:t>
            </a:r>
          </a:p>
          <a:p>
            <a:pPr marL="514350" indent="-514350">
              <a:buFont typeface="+mj-lt"/>
              <a:buAutoNum type="arabicPeriod"/>
            </a:pPr>
            <a:r>
              <a:rPr lang="en-US" sz="3400" dirty="0"/>
              <a:t>… created an Azure Storage Queue</a:t>
            </a:r>
          </a:p>
          <a:p>
            <a:pPr marL="971550" lvl="1" indent="-514350">
              <a:buFont typeface="+mj-lt"/>
              <a:buAutoNum type="arabicPeriod"/>
            </a:pPr>
            <a:endParaRPr lang="en-US" sz="3400" dirty="0"/>
          </a:p>
        </p:txBody>
      </p:sp>
      <p:grpSp>
        <p:nvGrpSpPr>
          <p:cNvPr id="7" name="Group 6">
            <a:extLst>
              <a:ext uri="{FF2B5EF4-FFF2-40B4-BE49-F238E27FC236}">
                <a16:creationId xmlns:a16="http://schemas.microsoft.com/office/drawing/2014/main" id="{68597732-0DAF-5C2B-1676-89B15D41FCFF}"/>
              </a:ext>
            </a:extLst>
          </p:cNvPr>
          <p:cNvGrpSpPr/>
          <p:nvPr/>
        </p:nvGrpSpPr>
        <p:grpSpPr>
          <a:xfrm>
            <a:off x="440148" y="1825625"/>
            <a:ext cx="11311704" cy="4118675"/>
            <a:chOff x="480292" y="2020591"/>
            <a:chExt cx="11311704" cy="4118675"/>
          </a:xfrm>
        </p:grpSpPr>
        <p:sp>
          <p:nvSpPr>
            <p:cNvPr id="4" name="Rectangle 3">
              <a:extLst>
                <a:ext uri="{FF2B5EF4-FFF2-40B4-BE49-F238E27FC236}">
                  <a16:creationId xmlns:a16="http://schemas.microsoft.com/office/drawing/2014/main" id="{74DFD0F6-492E-0DC4-2117-A48C7DCE1378}"/>
                </a:ext>
              </a:extLst>
            </p:cNvPr>
            <p:cNvSpPr/>
            <p:nvPr/>
          </p:nvSpPr>
          <p:spPr>
            <a:xfrm>
              <a:off x="480292" y="2020591"/>
              <a:ext cx="11311704" cy="4118675"/>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3138BAD8-27C6-9E7A-98FE-1F07EA8E3D50}"/>
                </a:ext>
              </a:extLst>
            </p:cNvPr>
            <p:cNvSpPr txBox="1"/>
            <p:nvPr/>
          </p:nvSpPr>
          <p:spPr>
            <a:xfrm>
              <a:off x="616980" y="2186255"/>
              <a:ext cx="11022247" cy="3785652"/>
            </a:xfrm>
            <a:prstGeom prst="rect">
              <a:avLst/>
            </a:prstGeom>
            <a:noFill/>
          </p:spPr>
          <p:txBody>
            <a:bodyPr wrap="square">
              <a:spAutoFit/>
            </a:bodyPr>
            <a:lstStyle/>
            <a:p>
              <a:pPr>
                <a:buNone/>
              </a:pPr>
              <a:r>
                <a:rPr lang="en-US" sz="2000" b="0" dirty="0">
                  <a:solidFill>
                    <a:srgbClr val="9CDCFE"/>
                  </a:solidFill>
                  <a:effectLst/>
                  <a:latin typeface="Cascadia Code" panose="020B0609020000020004" pitchFamily="34" charset="0"/>
                </a:rPr>
                <a:t>$</a:t>
              </a:r>
              <a:r>
                <a:rPr lang="en-US" sz="2000" b="0" dirty="0" err="1">
                  <a:solidFill>
                    <a:srgbClr val="9CDCFE"/>
                  </a:solidFill>
                  <a:effectLst/>
                  <a:latin typeface="Cascadia Code" panose="020B0609020000020004" pitchFamily="34" charset="0"/>
                </a:rPr>
                <a:t>ModuleSplat</a:t>
              </a:r>
              <a:r>
                <a:rPr lang="en-US" sz="2000" b="0" dirty="0">
                  <a:solidFill>
                    <a:srgbClr val="D4D4D4"/>
                  </a:solidFill>
                  <a:effectLst/>
                  <a:latin typeface="Cascadia Code" panose="020B0609020000020004" pitchFamily="34" charset="0"/>
                </a:rPr>
                <a:t> = </a:t>
              </a:r>
              <a:r>
                <a:rPr lang="en-US" sz="2000" b="0" dirty="0">
                  <a:solidFill>
                    <a:srgbClr val="569CD6"/>
                  </a:solidFill>
                  <a:effectLst/>
                  <a:latin typeface="Cascadia Code" panose="020B0609020000020004" pitchFamily="34" charset="0"/>
                </a:rPr>
                <a:t>@</a:t>
              </a:r>
              <a:r>
                <a:rPr lang="en-US" sz="2000" b="0" dirty="0">
                  <a:solidFill>
                    <a:srgbClr val="D4D4D4"/>
                  </a:solidFill>
                  <a:effectLst/>
                  <a:latin typeface="Cascadia Code" panose="020B0609020000020004" pitchFamily="34" charset="0"/>
                </a:rPr>
                <a:t>{</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ModuleName</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a:t>
              </a:r>
              <a:r>
                <a:rPr lang="en-US" sz="2000" b="0" dirty="0" err="1">
                  <a:solidFill>
                    <a:srgbClr val="CE9178"/>
                  </a:solidFill>
                  <a:effectLst/>
                  <a:latin typeface="Cascadia Code" panose="020B0609020000020004" pitchFamily="34" charset="0"/>
                </a:rPr>
                <a:t>AzPigeon</a:t>
              </a:r>
              <a:r>
                <a:rPr lang="en-US" sz="2000" b="0" dirty="0">
                  <a:solidFill>
                    <a:srgbClr val="CE9178"/>
                  </a:solidFill>
                  <a:effectLst/>
                  <a:latin typeface="Cascadia Code" panose="020B0609020000020004" pitchFamily="34" charset="0"/>
                </a:rPr>
                <a:t>’</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ModuleDescription</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'A PowerShell module to read and write</a:t>
              </a:r>
            </a:p>
            <a:p>
              <a:pPr>
                <a:buNone/>
              </a:pPr>
              <a:r>
                <a:rPr lang="en-US" sz="2000" dirty="0">
                  <a:solidFill>
                    <a:srgbClr val="CE9178"/>
                  </a:solidFill>
                  <a:latin typeface="Cascadia Code" panose="020B0609020000020004" pitchFamily="34" charset="0"/>
                </a:rPr>
                <a:t>				</a:t>
              </a:r>
              <a:r>
                <a:rPr lang="en-US" sz="2000" b="0" dirty="0">
                  <a:solidFill>
                    <a:srgbClr val="CE9178"/>
                  </a:solidFill>
                  <a:effectLst/>
                  <a:latin typeface="Cascadia Code" panose="020B0609020000020004" pitchFamily="34" charset="0"/>
                </a:rPr>
                <a:t>messages in Azure Storage Queues.’</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ModuleVersion</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'1.0.0’</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ModuleAuthor</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'Emanuel Palm’</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LicenseType</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'MIT’</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DestinationPath</a:t>
              </a:r>
              <a:r>
                <a:rPr lang="en-US" sz="2000" b="0" dirty="0">
                  <a:solidFill>
                    <a:srgbClr val="D4D4D4"/>
                  </a:solidFill>
                  <a:effectLst/>
                  <a:latin typeface="Cascadia Code" panose="020B0609020000020004" pitchFamily="34" charset="0"/>
                </a:rPr>
                <a:t> = </a:t>
              </a:r>
              <a:r>
                <a:rPr lang="en-US" sz="2000" b="0" dirty="0">
                  <a:solidFill>
                    <a:srgbClr val="DCDCAA"/>
                  </a:solidFill>
                  <a:effectLst/>
                  <a:latin typeface="Cascadia Code" panose="020B0609020000020004" pitchFamily="34" charset="0"/>
                </a:rPr>
                <a:t>Resolve-Path</a:t>
              </a:r>
              <a:r>
                <a:rPr lang="en-US" sz="2000" b="0" dirty="0">
                  <a:solidFill>
                    <a:srgbClr val="D4D4D4"/>
                  </a:solidFill>
                  <a:effectLst/>
                  <a:latin typeface="Cascadia Code" panose="020B0609020000020004" pitchFamily="34" charset="0"/>
                </a:rPr>
                <a:t> </a:t>
              </a:r>
              <a:r>
                <a:rPr lang="en-US" sz="2000" b="0" dirty="0">
                  <a:solidFill>
                    <a:srgbClr val="CE9178"/>
                  </a:solidFill>
                  <a:effectLst/>
                  <a:latin typeface="Cascadia Code" panose="020B0609020000020004" pitchFamily="34" charset="0"/>
                </a:rPr>
                <a:t>'..’</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ModuleType</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a:t>
              </a:r>
              <a:r>
                <a:rPr lang="en-US" sz="2000" b="0" dirty="0" err="1">
                  <a:solidFill>
                    <a:srgbClr val="CE9178"/>
                  </a:solidFill>
                  <a:effectLst/>
                  <a:latin typeface="Cascadia Code" panose="020B0609020000020004" pitchFamily="34" charset="0"/>
                </a:rPr>
                <a:t>SimpleModule</a:t>
              </a:r>
              <a:r>
                <a:rPr lang="en-US" sz="2000" b="0" dirty="0">
                  <a:solidFill>
                    <a:srgbClr val="CE9178"/>
                  </a:solidFill>
                  <a:effectLst/>
                  <a:latin typeface="Cascadia Code" panose="020B0609020000020004" pitchFamily="34" charset="0"/>
                </a:rPr>
                <a:t>’</a:t>
              </a:r>
              <a:endParaRPr lang="en-US" sz="2000" b="0" dirty="0">
                <a:solidFill>
                  <a:srgbClr val="CCCCCC"/>
                </a:solidFill>
                <a:effectLst/>
                <a:latin typeface="Cascadia Code" panose="020B0609020000020004" pitchFamily="34" charset="0"/>
              </a:endParaRPr>
            </a:p>
            <a:p>
              <a:pPr>
                <a:buNone/>
              </a:pPr>
              <a:r>
                <a:rPr lang="en-US" sz="2000" b="0" dirty="0">
                  <a:solidFill>
                    <a:srgbClr val="D4D4D4"/>
                  </a:solidFill>
                  <a:effectLst/>
                  <a:latin typeface="Cascadia Code" panose="020B0609020000020004" pitchFamily="34" charset="0"/>
                </a:rPr>
                <a:t>}</a:t>
              </a:r>
            </a:p>
            <a:p>
              <a:pPr>
                <a:buNone/>
              </a:pPr>
              <a:endParaRPr lang="en-US" sz="2000" b="0" dirty="0">
                <a:solidFill>
                  <a:srgbClr val="CCCCCC"/>
                </a:solidFill>
                <a:effectLst/>
                <a:latin typeface="Cascadia Code" panose="020B0609020000020004" pitchFamily="34" charset="0"/>
              </a:endParaRPr>
            </a:p>
            <a:p>
              <a:pPr>
                <a:buNone/>
              </a:pPr>
              <a:r>
                <a:rPr lang="en-US" sz="2000" b="0" dirty="0">
                  <a:solidFill>
                    <a:srgbClr val="DCDCAA"/>
                  </a:solidFill>
                  <a:effectLst/>
                  <a:latin typeface="Cascadia Code" panose="020B0609020000020004" pitchFamily="34" charset="0"/>
                </a:rPr>
                <a:t>New-</a:t>
              </a:r>
              <a:r>
                <a:rPr lang="en-US" sz="2000" b="0" dirty="0" err="1">
                  <a:solidFill>
                    <a:srgbClr val="DCDCAA"/>
                  </a:solidFill>
                  <a:effectLst/>
                  <a:latin typeface="Cascadia Code" panose="020B0609020000020004" pitchFamily="34" charset="0"/>
                </a:rPr>
                <a:t>SampleModule</a:t>
              </a:r>
              <a:r>
                <a:rPr lang="en-US" sz="2000" b="0" dirty="0">
                  <a:solidFill>
                    <a:srgbClr val="D4D4D4"/>
                  </a:solidFill>
                  <a:effectLst/>
                  <a:latin typeface="Cascadia Code" panose="020B0609020000020004" pitchFamily="34" charset="0"/>
                </a:rPr>
                <a:t> </a:t>
              </a:r>
              <a:r>
                <a:rPr lang="en-US" sz="2000" b="0" dirty="0">
                  <a:solidFill>
                    <a:srgbClr val="9CDCFE"/>
                  </a:solidFill>
                  <a:effectLst/>
                  <a:latin typeface="Cascadia Code" panose="020B0609020000020004" pitchFamily="34" charset="0"/>
                </a:rPr>
                <a:t>@</a:t>
              </a:r>
              <a:r>
                <a:rPr lang="en-US" sz="2000" b="0" dirty="0" err="1">
                  <a:solidFill>
                    <a:srgbClr val="9CDCFE"/>
                  </a:solidFill>
                  <a:effectLst/>
                  <a:latin typeface="Cascadia Code" panose="020B0609020000020004" pitchFamily="34" charset="0"/>
                </a:rPr>
                <a:t>ModuleSplat</a:t>
              </a:r>
              <a:endParaRPr lang="en-US" sz="2000" b="0" dirty="0">
                <a:solidFill>
                  <a:srgbClr val="CCCCCC"/>
                </a:solidFill>
                <a:effectLst/>
                <a:latin typeface="Cascadia Code" panose="020B0609020000020004" pitchFamily="34" charset="0"/>
              </a:endParaRPr>
            </a:p>
          </p:txBody>
        </p:sp>
      </p:grpSp>
    </p:spTree>
    <p:extLst>
      <p:ext uri="{BB962C8B-B14F-4D97-AF65-F5344CB8AC3E}">
        <p14:creationId xmlns:p14="http://schemas.microsoft.com/office/powerpoint/2010/main" val="3606911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nodeType="clickEffect">
                                  <p:stCondLst>
                                    <p:cond delay="0"/>
                                  </p:stCondLst>
                                  <p:childTnLst>
                                    <p:animEffect transition="out" filter="fade">
                                      <p:cBhvr>
                                        <p:cTn id="16" dur="500"/>
                                        <p:tgtEl>
                                          <p:spTgt spid="7"/>
                                        </p:tgtEl>
                                      </p:cBhvr>
                                    </p:animEffect>
                                    <p:set>
                                      <p:cBhvr>
                                        <p:cTn id="17" dur="1" fill="hold">
                                          <p:stCondLst>
                                            <p:cond delay="499"/>
                                          </p:stCondLst>
                                        </p:cTn>
                                        <p:tgtEl>
                                          <p:spTgt spid="7"/>
                                        </p:tgtEl>
                                        <p:attrNameLst>
                                          <p:attrName>style.visibility</p:attrName>
                                        </p:attrNameLst>
                                      </p:cBhvr>
                                      <p:to>
                                        <p:strVal val="hidden"/>
                                      </p:to>
                                    </p:set>
                                  </p:childTnLst>
                                </p:cTn>
                              </p:par>
                              <p:par>
                                <p:cTn id="18" presetID="10" presetClass="entr" presetSubtype="0" fill="hold" nodeType="with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1" end="1"/>
                                            </p:txEl>
                                          </p:spTgt>
                                        </p:tgtEl>
                                        <p:attrNameLst>
                                          <p:attrName>style.visibility</p:attrName>
                                        </p:attrNameLst>
                                      </p:cBhvr>
                                      <p:to>
                                        <p:strVal val="visible"/>
                                      </p:to>
                                    </p:set>
                                    <p:animEffect transition="in" filter="fade">
                                      <p:cBhvr>
                                        <p:cTn id="25" dur="500"/>
                                        <p:tgtEl>
                                          <p:spTgt spid="3">
                                            <p:txEl>
                                              <p:pRg st="1" end="1"/>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2" end="2"/>
                                            </p:txEl>
                                          </p:spTgt>
                                        </p:tgtEl>
                                        <p:attrNameLst>
                                          <p:attrName>style.visibility</p:attrName>
                                        </p:attrNameLst>
                                      </p:cBhvr>
                                      <p:to>
                                        <p:strVal val="visible"/>
                                      </p:to>
                                    </p:set>
                                    <p:animEffect transition="in" filter="fade">
                                      <p:cBhvr>
                                        <p:cTn id="30" dur="500"/>
                                        <p:tgtEl>
                                          <p:spTgt spid="3">
                                            <p:txEl>
                                              <p:pRg st="2" end="2"/>
                                            </p:txEl>
                                          </p:spTgt>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
                                            <p:txEl>
                                              <p:pRg st="3" end="3"/>
                                            </p:txEl>
                                          </p:spTgt>
                                        </p:tgtEl>
                                        <p:attrNameLst>
                                          <p:attrName>style.visibility</p:attrName>
                                        </p:attrNameLst>
                                      </p:cBhvr>
                                      <p:to>
                                        <p:strVal val="visible"/>
                                      </p:to>
                                    </p:set>
                                    <p:animEffect transition="in" filter="fade">
                                      <p:cBhvr>
                                        <p:cTn id="33" dur="500"/>
                                        <p:tgtEl>
                                          <p:spTgt spid="3">
                                            <p:txEl>
                                              <p:pRg st="3" end="3"/>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
                                            <p:txEl>
                                              <p:pRg st="4" end="4"/>
                                            </p:txEl>
                                          </p:spTgt>
                                        </p:tgtEl>
                                        <p:attrNameLst>
                                          <p:attrName>style.visibility</p:attrName>
                                        </p:attrNameLst>
                                      </p:cBhvr>
                                      <p:to>
                                        <p:strVal val="visible"/>
                                      </p:to>
                                    </p:set>
                                    <p:animEffect transition="in" filter="fade">
                                      <p:cBhvr>
                                        <p:cTn id="36" dur="500"/>
                                        <p:tgtEl>
                                          <p:spTgt spid="3">
                                            <p:txEl>
                                              <p:pRg st="4" end="4"/>
                                            </p:txEl>
                                          </p:spTgt>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
                                            <p:txEl>
                                              <p:pRg st="5" end="5"/>
                                            </p:txEl>
                                          </p:spTgt>
                                        </p:tgtEl>
                                        <p:attrNameLst>
                                          <p:attrName>style.visibility</p:attrName>
                                        </p:attrNameLst>
                                      </p:cBhvr>
                                      <p:to>
                                        <p:strVal val="visible"/>
                                      </p:to>
                                    </p:set>
                                    <p:animEffect transition="in" filter="fade">
                                      <p:cBhvr>
                                        <p:cTn id="39" dur="500"/>
                                        <p:tgtEl>
                                          <p:spTgt spid="3">
                                            <p:txEl>
                                              <p:pRg st="5" end="5"/>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500"/>
                                        <p:tgtEl>
                                          <p:spTgt spid="3">
                                            <p:txEl>
                                              <p:pRg st="6" end="6"/>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7" end="7"/>
                                            </p:txEl>
                                          </p:spTgt>
                                        </p:tgtEl>
                                        <p:attrNameLst>
                                          <p:attrName>style.visibility</p:attrName>
                                        </p:attrNameLst>
                                      </p:cBhvr>
                                      <p:to>
                                        <p:strVal val="visible"/>
                                      </p:to>
                                    </p:set>
                                    <p:animEffect transition="in" filter="fade">
                                      <p:cBhvr>
                                        <p:cTn id="47"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E4A3C-D125-3EEE-CCEA-78B0A1AAC85B}"/>
              </a:ext>
            </a:extLst>
          </p:cNvPr>
          <p:cNvSpPr>
            <a:spLocks noGrp="1"/>
          </p:cNvSpPr>
          <p:nvPr>
            <p:ph type="title"/>
          </p:nvPr>
        </p:nvSpPr>
        <p:spPr>
          <a:xfrm>
            <a:off x="1229360" y="1062326"/>
            <a:ext cx="9733280" cy="4733348"/>
          </a:xfrm>
        </p:spPr>
        <p:txBody>
          <a:bodyPr>
            <a:normAutofit/>
          </a:bodyPr>
          <a:lstStyle/>
          <a:p>
            <a:r>
              <a:rPr lang="en-US" sz="6000" dirty="0"/>
              <a:t>Struggles </a:t>
            </a:r>
            <a:r>
              <a:rPr lang="en-US" sz="6000" dirty="0">
                <a:solidFill>
                  <a:srgbClr val="CEA551"/>
                </a:solidFill>
              </a:rPr>
              <a:t>&amp;</a:t>
            </a:r>
            <a:br>
              <a:rPr lang="en-US" sz="6000" dirty="0"/>
            </a:br>
            <a:r>
              <a:rPr lang="en-US" sz="6000" dirty="0"/>
              <a:t>Lessons Learned </a:t>
            </a:r>
            <a:r>
              <a:rPr lang="en-US" sz="6000" dirty="0">
                <a:solidFill>
                  <a:srgbClr val="CEA551"/>
                </a:solidFill>
              </a:rPr>
              <a:t>&amp;</a:t>
            </a:r>
            <a:br>
              <a:rPr lang="en-US" sz="6000" dirty="0"/>
            </a:br>
            <a:r>
              <a:rPr lang="en-US" sz="6000" dirty="0"/>
              <a:t>Takeaways </a:t>
            </a:r>
            <a:r>
              <a:rPr lang="en-US" sz="6000" dirty="0">
                <a:solidFill>
                  <a:srgbClr val="CEA551"/>
                </a:solidFill>
              </a:rPr>
              <a:t>&amp;</a:t>
            </a:r>
            <a:br>
              <a:rPr lang="en-US" sz="6000" dirty="0"/>
            </a:br>
            <a:r>
              <a:rPr lang="en-US" sz="6000" dirty="0">
                <a:solidFill>
                  <a:srgbClr val="336297"/>
                </a:solidFill>
              </a:rPr>
              <a:t>What have we done</a:t>
            </a:r>
          </a:p>
        </p:txBody>
      </p:sp>
    </p:spTree>
    <p:extLst>
      <p:ext uri="{BB962C8B-B14F-4D97-AF65-F5344CB8AC3E}">
        <p14:creationId xmlns:p14="http://schemas.microsoft.com/office/powerpoint/2010/main" val="3679030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EA0D1-315F-BF54-ECCD-F8AAD9B12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3D25E2-33DB-7279-FEBD-ADBE024C43E6}"/>
              </a:ext>
            </a:extLst>
          </p:cNvPr>
          <p:cNvSpPr>
            <a:spLocks noGrp="1"/>
          </p:cNvSpPr>
          <p:nvPr>
            <p:ph type="title"/>
          </p:nvPr>
        </p:nvSpPr>
        <p:spPr/>
        <p:txBody>
          <a:bodyPr/>
          <a:lstStyle/>
          <a:p>
            <a:r>
              <a:rPr lang="en-US" dirty="0"/>
              <a:t>It’s not all ☀️ and 🌈, but</a:t>
            </a:r>
          </a:p>
        </p:txBody>
      </p:sp>
      <p:sp>
        <p:nvSpPr>
          <p:cNvPr id="3" name="Content Placeholder 2">
            <a:extLst>
              <a:ext uri="{FF2B5EF4-FFF2-40B4-BE49-F238E27FC236}">
                <a16:creationId xmlns:a16="http://schemas.microsoft.com/office/drawing/2014/main" id="{99AB525F-97BC-2BEE-E22C-A0C60AC6BCB5}"/>
              </a:ext>
            </a:extLst>
          </p:cNvPr>
          <p:cNvSpPr>
            <a:spLocks noGrp="1"/>
          </p:cNvSpPr>
          <p:nvPr>
            <p:ph idx="1"/>
          </p:nvPr>
        </p:nvSpPr>
        <p:spPr/>
        <p:txBody>
          <a:bodyPr>
            <a:normAutofit fontScale="62500" lnSpcReduction="20000"/>
          </a:bodyPr>
          <a:lstStyle/>
          <a:p>
            <a:r>
              <a:rPr lang="en-US" dirty="0"/>
              <a:t>Assembly Conflicts </a:t>
            </a:r>
            <a:r>
              <a:rPr lang="en-US" dirty="0">
                <a:sym typeface="Wingdings" pitchFamily="2" charset="2"/>
              </a:rPr>
              <a:t></a:t>
            </a:r>
            <a:endParaRPr lang="en-US" dirty="0"/>
          </a:p>
          <a:p>
            <a:pPr lvl="1"/>
            <a:r>
              <a:rPr lang="en-US" dirty="0"/>
              <a:t>The truth is that ALCs are a necessity</a:t>
            </a:r>
          </a:p>
          <a:p>
            <a:r>
              <a:rPr lang="en-US" dirty="0"/>
              <a:t>Overengineering is </a:t>
            </a:r>
            <a:r>
              <a:rPr lang="en-US" b="1" dirty="0"/>
              <a:t>Easy</a:t>
            </a:r>
          </a:p>
          <a:p>
            <a:pPr lvl="1"/>
            <a:r>
              <a:rPr lang="en-US" dirty="0"/>
              <a:t>Base cmdlet inheritance</a:t>
            </a:r>
          </a:p>
          <a:p>
            <a:pPr lvl="1"/>
            <a:r>
              <a:rPr lang="en-US" dirty="0"/>
              <a:t>Parameter sets</a:t>
            </a:r>
          </a:p>
          <a:p>
            <a:pPr lvl="1"/>
            <a:r>
              <a:rPr lang="en-US" dirty="0"/>
              <a:t>Common services</a:t>
            </a:r>
          </a:p>
          <a:p>
            <a:r>
              <a:rPr lang="en-US" dirty="0"/>
              <a:t>Taking dependencies</a:t>
            </a:r>
          </a:p>
          <a:p>
            <a:pPr lvl="1"/>
            <a:r>
              <a:rPr lang="en-US" dirty="0"/>
              <a:t>Less code needed </a:t>
            </a:r>
            <a:r>
              <a:rPr lang="en-US" dirty="0">
                <a:sym typeface="Wingdings" pitchFamily="2" charset="2"/>
              </a:rPr>
              <a:t></a:t>
            </a:r>
            <a:endParaRPr lang="en-US" dirty="0"/>
          </a:p>
          <a:p>
            <a:pPr lvl="1"/>
            <a:r>
              <a:rPr lang="en-US" dirty="0"/>
              <a:t>More updates needed </a:t>
            </a:r>
            <a:r>
              <a:rPr lang="en-US" dirty="0">
                <a:sym typeface="Wingdings" pitchFamily="2" charset="2"/>
              </a:rPr>
              <a:t></a:t>
            </a:r>
            <a:endParaRPr lang="en-US" dirty="0"/>
          </a:p>
          <a:p>
            <a:r>
              <a:rPr lang="en-US" dirty="0"/>
              <a:t>Utilize the available tooling</a:t>
            </a:r>
          </a:p>
          <a:p>
            <a:pPr lvl="1"/>
            <a:r>
              <a:rPr lang="en-US" dirty="0"/>
              <a:t>Community tools for PowerShell Modules</a:t>
            </a:r>
          </a:p>
          <a:p>
            <a:pPr lvl="1"/>
            <a:r>
              <a:rPr lang="en-US" dirty="0"/>
              <a:t>Pipelines – Automate Build / Test / Release!</a:t>
            </a:r>
          </a:p>
          <a:p>
            <a:pPr lvl="1"/>
            <a:r>
              <a:rPr lang="en-US" dirty="0"/>
              <a:t>GitHub Copilot &amp; </a:t>
            </a:r>
            <a:r>
              <a:rPr lang="en-US" dirty="0" err="1"/>
              <a:t>Dependabot</a:t>
            </a:r>
            <a:endParaRPr lang="en-US" dirty="0"/>
          </a:p>
          <a:p>
            <a:r>
              <a:rPr lang="en-US" dirty="0"/>
              <a:t>Binary modules aren’t scary </a:t>
            </a:r>
            <a:r>
              <a:rPr lang="en-US" dirty="0">
                <a:sym typeface="Wingdings" pitchFamily="2" charset="2"/>
              </a:rPr>
              <a:t></a:t>
            </a:r>
            <a:endParaRPr lang="en-US" dirty="0"/>
          </a:p>
        </p:txBody>
      </p:sp>
    </p:spTree>
    <p:extLst>
      <p:ext uri="{BB962C8B-B14F-4D97-AF65-F5344CB8AC3E}">
        <p14:creationId xmlns:p14="http://schemas.microsoft.com/office/powerpoint/2010/main" val="1010718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par>
                                <p:cTn id="25" presetID="9" presetClass="emph" presetSubtype="0" grpId="1" nodeType="withEffect">
                                  <p:stCondLst>
                                    <p:cond delay="0"/>
                                  </p:stCondLst>
                                  <p:childTnLst>
                                    <p:set>
                                      <p:cBhvr>
                                        <p:cTn id="26" dur="indefinite"/>
                                        <p:tgtEl>
                                          <p:spTgt spid="3">
                                            <p:txEl>
                                              <p:pRg st="0" end="0"/>
                                            </p:txEl>
                                          </p:spTgt>
                                        </p:tgtEl>
                                        <p:attrNameLst>
                                          <p:attrName>style.opacity</p:attrName>
                                        </p:attrNameLst>
                                      </p:cBhvr>
                                      <p:to>
                                        <p:strVal val="0.5"/>
                                      </p:to>
                                    </p:set>
                                    <p:animEffect filter="image" prLst="opacity: 0.5">
                                      <p:cBhvr rctx="IE">
                                        <p:cTn id="27" dur="indefinite"/>
                                        <p:tgtEl>
                                          <p:spTgt spid="3">
                                            <p:txEl>
                                              <p:pRg st="0" end="0"/>
                                            </p:txEl>
                                          </p:spTgt>
                                        </p:tgtEl>
                                      </p:cBhvr>
                                    </p:animEffect>
                                  </p:childTnLst>
                                </p:cTn>
                              </p:par>
                              <p:par>
                                <p:cTn id="28" presetID="9" presetClass="emph" presetSubtype="0" grpId="1" nodeType="withEffect">
                                  <p:stCondLst>
                                    <p:cond delay="0"/>
                                  </p:stCondLst>
                                  <p:childTnLst>
                                    <p:set>
                                      <p:cBhvr>
                                        <p:cTn id="29" dur="indefinite"/>
                                        <p:tgtEl>
                                          <p:spTgt spid="3">
                                            <p:txEl>
                                              <p:pRg st="1" end="1"/>
                                            </p:txEl>
                                          </p:spTgt>
                                        </p:tgtEl>
                                        <p:attrNameLst>
                                          <p:attrName>style.opacity</p:attrName>
                                        </p:attrNameLst>
                                      </p:cBhvr>
                                      <p:to>
                                        <p:strVal val="0.5"/>
                                      </p:to>
                                    </p:set>
                                    <p:animEffect filter="image" prLst="opacity: 0.5">
                                      <p:cBhvr rctx="IE">
                                        <p:cTn id="30" dur="indefinite"/>
                                        <p:tgtEl>
                                          <p:spTgt spid="3">
                                            <p:txEl>
                                              <p:pRg st="1" end="1"/>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fade">
                                      <p:cBhvr>
                                        <p:cTn id="38" dur="500"/>
                                        <p:tgtEl>
                                          <p:spTgt spid="3">
                                            <p:txEl>
                                              <p:pRg st="7" end="7"/>
                                            </p:txEl>
                                          </p:spTgt>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500"/>
                                        <p:tgtEl>
                                          <p:spTgt spid="3">
                                            <p:txEl>
                                              <p:pRg st="8" end="8"/>
                                            </p:txEl>
                                          </p:spTgt>
                                        </p:tgtEl>
                                      </p:cBhvr>
                                    </p:animEffect>
                                  </p:childTnLst>
                                </p:cTn>
                              </p:par>
                              <p:par>
                                <p:cTn id="42" presetID="9" presetClass="emph" presetSubtype="0" grpId="1" nodeType="withEffect">
                                  <p:stCondLst>
                                    <p:cond delay="0"/>
                                  </p:stCondLst>
                                  <p:childTnLst>
                                    <p:set>
                                      <p:cBhvr>
                                        <p:cTn id="43" dur="indefinite"/>
                                        <p:tgtEl>
                                          <p:spTgt spid="3">
                                            <p:txEl>
                                              <p:pRg st="2" end="2"/>
                                            </p:txEl>
                                          </p:spTgt>
                                        </p:tgtEl>
                                        <p:attrNameLst>
                                          <p:attrName>style.opacity</p:attrName>
                                        </p:attrNameLst>
                                      </p:cBhvr>
                                      <p:to>
                                        <p:strVal val="0.5"/>
                                      </p:to>
                                    </p:set>
                                    <p:animEffect filter="image" prLst="opacity: 0.5">
                                      <p:cBhvr rctx="IE">
                                        <p:cTn id="44" dur="indefinite"/>
                                        <p:tgtEl>
                                          <p:spTgt spid="3">
                                            <p:txEl>
                                              <p:pRg st="2" end="2"/>
                                            </p:txEl>
                                          </p:spTgt>
                                        </p:tgtEl>
                                      </p:cBhvr>
                                    </p:animEffect>
                                  </p:childTnLst>
                                </p:cTn>
                              </p:par>
                              <p:par>
                                <p:cTn id="45" presetID="9" presetClass="emph" presetSubtype="0" grpId="1" nodeType="withEffect">
                                  <p:stCondLst>
                                    <p:cond delay="0"/>
                                  </p:stCondLst>
                                  <p:childTnLst>
                                    <p:set>
                                      <p:cBhvr>
                                        <p:cTn id="46" dur="indefinite"/>
                                        <p:tgtEl>
                                          <p:spTgt spid="3">
                                            <p:txEl>
                                              <p:pRg st="3" end="3"/>
                                            </p:txEl>
                                          </p:spTgt>
                                        </p:tgtEl>
                                        <p:attrNameLst>
                                          <p:attrName>style.opacity</p:attrName>
                                        </p:attrNameLst>
                                      </p:cBhvr>
                                      <p:to>
                                        <p:strVal val="0.5"/>
                                      </p:to>
                                    </p:set>
                                    <p:animEffect filter="image" prLst="opacity: 0.5">
                                      <p:cBhvr rctx="IE">
                                        <p:cTn id="47" dur="indefinite"/>
                                        <p:tgtEl>
                                          <p:spTgt spid="3">
                                            <p:txEl>
                                              <p:pRg st="3" end="3"/>
                                            </p:txEl>
                                          </p:spTgt>
                                        </p:tgtEl>
                                      </p:cBhvr>
                                    </p:animEffect>
                                  </p:childTnLst>
                                </p:cTn>
                              </p:par>
                              <p:par>
                                <p:cTn id="48" presetID="9" presetClass="emph" presetSubtype="0" grpId="1" nodeType="withEffect">
                                  <p:stCondLst>
                                    <p:cond delay="0"/>
                                  </p:stCondLst>
                                  <p:childTnLst>
                                    <p:set>
                                      <p:cBhvr>
                                        <p:cTn id="49" dur="indefinite"/>
                                        <p:tgtEl>
                                          <p:spTgt spid="3">
                                            <p:txEl>
                                              <p:pRg st="4" end="4"/>
                                            </p:txEl>
                                          </p:spTgt>
                                        </p:tgtEl>
                                        <p:attrNameLst>
                                          <p:attrName>style.opacity</p:attrName>
                                        </p:attrNameLst>
                                      </p:cBhvr>
                                      <p:to>
                                        <p:strVal val="0.5"/>
                                      </p:to>
                                    </p:set>
                                    <p:animEffect filter="image" prLst="opacity: 0.5">
                                      <p:cBhvr rctx="IE">
                                        <p:cTn id="50" dur="indefinite"/>
                                        <p:tgtEl>
                                          <p:spTgt spid="3">
                                            <p:txEl>
                                              <p:pRg st="4" end="4"/>
                                            </p:txEl>
                                          </p:spTgt>
                                        </p:tgtEl>
                                      </p:cBhvr>
                                    </p:animEffect>
                                  </p:childTnLst>
                                </p:cTn>
                              </p:par>
                              <p:par>
                                <p:cTn id="51" presetID="9" presetClass="emph" presetSubtype="0" grpId="1" nodeType="withEffect">
                                  <p:stCondLst>
                                    <p:cond delay="0"/>
                                  </p:stCondLst>
                                  <p:childTnLst>
                                    <p:set>
                                      <p:cBhvr>
                                        <p:cTn id="52" dur="indefinite"/>
                                        <p:tgtEl>
                                          <p:spTgt spid="3">
                                            <p:txEl>
                                              <p:pRg st="5" end="5"/>
                                            </p:txEl>
                                          </p:spTgt>
                                        </p:tgtEl>
                                        <p:attrNameLst>
                                          <p:attrName>style.opacity</p:attrName>
                                        </p:attrNameLst>
                                      </p:cBhvr>
                                      <p:to>
                                        <p:strVal val="0.5"/>
                                      </p:to>
                                    </p:set>
                                    <p:animEffect filter="image" prLst="opacity: 0.5">
                                      <p:cBhvr rctx="IE">
                                        <p:cTn id="53" dur="indefinite"/>
                                        <p:tgtEl>
                                          <p:spTgt spid="3">
                                            <p:txEl>
                                              <p:pRg st="5" end="5"/>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3">
                                            <p:txEl>
                                              <p:pRg st="9" end="9"/>
                                            </p:txEl>
                                          </p:spTgt>
                                        </p:tgtEl>
                                        <p:attrNameLst>
                                          <p:attrName>style.visibility</p:attrName>
                                        </p:attrNameLst>
                                      </p:cBhvr>
                                      <p:to>
                                        <p:strVal val="visible"/>
                                      </p:to>
                                    </p:set>
                                    <p:animEffect transition="in" filter="fade">
                                      <p:cBhvr>
                                        <p:cTn id="58" dur="500"/>
                                        <p:tgtEl>
                                          <p:spTgt spid="3">
                                            <p:txEl>
                                              <p:pRg st="9" end="9"/>
                                            </p:txEl>
                                          </p:spTgt>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
                                            <p:txEl>
                                              <p:pRg st="10" end="10"/>
                                            </p:txEl>
                                          </p:spTgt>
                                        </p:tgtEl>
                                        <p:attrNameLst>
                                          <p:attrName>style.visibility</p:attrName>
                                        </p:attrNameLst>
                                      </p:cBhvr>
                                      <p:to>
                                        <p:strVal val="visible"/>
                                      </p:to>
                                    </p:set>
                                    <p:animEffect transition="in" filter="fade">
                                      <p:cBhvr>
                                        <p:cTn id="61" dur="500"/>
                                        <p:tgtEl>
                                          <p:spTgt spid="3">
                                            <p:txEl>
                                              <p:pRg st="10" end="10"/>
                                            </p:txEl>
                                          </p:spTgt>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
                                            <p:txEl>
                                              <p:pRg st="11" end="11"/>
                                            </p:txEl>
                                          </p:spTgt>
                                        </p:tgtEl>
                                        <p:attrNameLst>
                                          <p:attrName>style.visibility</p:attrName>
                                        </p:attrNameLst>
                                      </p:cBhvr>
                                      <p:to>
                                        <p:strVal val="visible"/>
                                      </p:to>
                                    </p:set>
                                    <p:animEffect transition="in" filter="fade">
                                      <p:cBhvr>
                                        <p:cTn id="64" dur="500"/>
                                        <p:tgtEl>
                                          <p:spTgt spid="3">
                                            <p:txEl>
                                              <p:pRg st="11" end="11"/>
                                            </p:txEl>
                                          </p:spTgt>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
                                            <p:txEl>
                                              <p:pRg st="12" end="12"/>
                                            </p:txEl>
                                          </p:spTgt>
                                        </p:tgtEl>
                                        <p:attrNameLst>
                                          <p:attrName>style.visibility</p:attrName>
                                        </p:attrNameLst>
                                      </p:cBhvr>
                                      <p:to>
                                        <p:strVal val="visible"/>
                                      </p:to>
                                    </p:set>
                                    <p:animEffect transition="in" filter="fade">
                                      <p:cBhvr>
                                        <p:cTn id="67" dur="500"/>
                                        <p:tgtEl>
                                          <p:spTgt spid="3">
                                            <p:txEl>
                                              <p:pRg st="12" end="12"/>
                                            </p:txEl>
                                          </p:spTgt>
                                        </p:tgtEl>
                                      </p:cBhvr>
                                    </p:animEffect>
                                  </p:childTnLst>
                                </p:cTn>
                              </p:par>
                              <p:par>
                                <p:cTn id="68" presetID="9" presetClass="emph" presetSubtype="0" grpId="1" nodeType="withEffect">
                                  <p:stCondLst>
                                    <p:cond delay="0"/>
                                  </p:stCondLst>
                                  <p:childTnLst>
                                    <p:set>
                                      <p:cBhvr>
                                        <p:cTn id="69" dur="indefinite"/>
                                        <p:tgtEl>
                                          <p:spTgt spid="3">
                                            <p:txEl>
                                              <p:pRg st="6" end="6"/>
                                            </p:txEl>
                                          </p:spTgt>
                                        </p:tgtEl>
                                        <p:attrNameLst>
                                          <p:attrName>style.opacity</p:attrName>
                                        </p:attrNameLst>
                                      </p:cBhvr>
                                      <p:to>
                                        <p:strVal val="0.5"/>
                                      </p:to>
                                    </p:set>
                                    <p:animEffect filter="image" prLst="opacity: 0.5">
                                      <p:cBhvr rctx="IE">
                                        <p:cTn id="70" dur="indefinite"/>
                                        <p:tgtEl>
                                          <p:spTgt spid="3">
                                            <p:txEl>
                                              <p:pRg st="6" end="6"/>
                                            </p:txEl>
                                          </p:spTgt>
                                        </p:tgtEl>
                                      </p:cBhvr>
                                    </p:animEffect>
                                  </p:childTnLst>
                                </p:cTn>
                              </p:par>
                              <p:par>
                                <p:cTn id="71" presetID="9" presetClass="emph" presetSubtype="0" grpId="1" nodeType="withEffect">
                                  <p:stCondLst>
                                    <p:cond delay="0"/>
                                  </p:stCondLst>
                                  <p:childTnLst>
                                    <p:set>
                                      <p:cBhvr>
                                        <p:cTn id="72" dur="indefinite"/>
                                        <p:tgtEl>
                                          <p:spTgt spid="3">
                                            <p:txEl>
                                              <p:pRg st="7" end="7"/>
                                            </p:txEl>
                                          </p:spTgt>
                                        </p:tgtEl>
                                        <p:attrNameLst>
                                          <p:attrName>style.opacity</p:attrName>
                                        </p:attrNameLst>
                                      </p:cBhvr>
                                      <p:to>
                                        <p:strVal val="0.5"/>
                                      </p:to>
                                    </p:set>
                                    <p:animEffect filter="image" prLst="opacity: 0.5">
                                      <p:cBhvr rctx="IE">
                                        <p:cTn id="73" dur="indefinite"/>
                                        <p:tgtEl>
                                          <p:spTgt spid="3">
                                            <p:txEl>
                                              <p:pRg st="7" end="7"/>
                                            </p:txEl>
                                          </p:spTgt>
                                        </p:tgtEl>
                                      </p:cBhvr>
                                    </p:animEffect>
                                  </p:childTnLst>
                                </p:cTn>
                              </p:par>
                              <p:par>
                                <p:cTn id="74" presetID="9" presetClass="emph" presetSubtype="0" grpId="1" nodeType="withEffect">
                                  <p:stCondLst>
                                    <p:cond delay="0"/>
                                  </p:stCondLst>
                                  <p:childTnLst>
                                    <p:set>
                                      <p:cBhvr>
                                        <p:cTn id="75" dur="indefinite"/>
                                        <p:tgtEl>
                                          <p:spTgt spid="3">
                                            <p:txEl>
                                              <p:pRg st="8" end="8"/>
                                            </p:txEl>
                                          </p:spTgt>
                                        </p:tgtEl>
                                        <p:attrNameLst>
                                          <p:attrName>style.opacity</p:attrName>
                                        </p:attrNameLst>
                                      </p:cBhvr>
                                      <p:to>
                                        <p:strVal val="0.5"/>
                                      </p:to>
                                    </p:set>
                                    <p:animEffect filter="image" prLst="opacity: 0.5">
                                      <p:cBhvr rctx="IE">
                                        <p:cTn id="76" dur="indefinite"/>
                                        <p:tgtEl>
                                          <p:spTgt spid="3">
                                            <p:txEl>
                                              <p:pRg st="8" end="8"/>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3">
                                            <p:txEl>
                                              <p:pRg st="13" end="13"/>
                                            </p:txEl>
                                          </p:spTgt>
                                        </p:tgtEl>
                                        <p:attrNameLst>
                                          <p:attrName>style.visibility</p:attrName>
                                        </p:attrNameLst>
                                      </p:cBhvr>
                                      <p:to>
                                        <p:strVal val="visible"/>
                                      </p:to>
                                    </p:set>
                                    <p:animEffect transition="in" filter="fade">
                                      <p:cBhvr>
                                        <p:cTn id="81" dur="500"/>
                                        <p:tgtEl>
                                          <p:spTgt spid="3">
                                            <p:txEl>
                                              <p:pRg st="13" end="13"/>
                                            </p:txEl>
                                          </p:spTgt>
                                        </p:tgtEl>
                                      </p:cBhvr>
                                    </p:animEffect>
                                  </p:childTnLst>
                                </p:cTn>
                              </p:par>
                              <p:par>
                                <p:cTn id="82" presetID="9" presetClass="emph" presetSubtype="0" grpId="1" nodeType="withEffect">
                                  <p:stCondLst>
                                    <p:cond delay="0"/>
                                  </p:stCondLst>
                                  <p:childTnLst>
                                    <p:set>
                                      <p:cBhvr>
                                        <p:cTn id="83" dur="indefinite"/>
                                        <p:tgtEl>
                                          <p:spTgt spid="3">
                                            <p:txEl>
                                              <p:pRg st="9" end="9"/>
                                            </p:txEl>
                                          </p:spTgt>
                                        </p:tgtEl>
                                        <p:attrNameLst>
                                          <p:attrName>style.opacity</p:attrName>
                                        </p:attrNameLst>
                                      </p:cBhvr>
                                      <p:to>
                                        <p:strVal val="0.5"/>
                                      </p:to>
                                    </p:set>
                                    <p:animEffect filter="image" prLst="opacity: 0.5">
                                      <p:cBhvr rctx="IE">
                                        <p:cTn id="84" dur="indefinite"/>
                                        <p:tgtEl>
                                          <p:spTgt spid="3">
                                            <p:txEl>
                                              <p:pRg st="9" end="9"/>
                                            </p:txEl>
                                          </p:spTgt>
                                        </p:tgtEl>
                                      </p:cBhvr>
                                    </p:animEffect>
                                  </p:childTnLst>
                                </p:cTn>
                              </p:par>
                              <p:par>
                                <p:cTn id="85" presetID="9" presetClass="emph" presetSubtype="0" grpId="1" nodeType="withEffect">
                                  <p:stCondLst>
                                    <p:cond delay="0"/>
                                  </p:stCondLst>
                                  <p:childTnLst>
                                    <p:set>
                                      <p:cBhvr>
                                        <p:cTn id="86" dur="indefinite"/>
                                        <p:tgtEl>
                                          <p:spTgt spid="3">
                                            <p:txEl>
                                              <p:pRg st="10" end="10"/>
                                            </p:txEl>
                                          </p:spTgt>
                                        </p:tgtEl>
                                        <p:attrNameLst>
                                          <p:attrName>style.opacity</p:attrName>
                                        </p:attrNameLst>
                                      </p:cBhvr>
                                      <p:to>
                                        <p:strVal val="0.5"/>
                                      </p:to>
                                    </p:set>
                                    <p:animEffect filter="image" prLst="opacity: 0.5">
                                      <p:cBhvr rctx="IE">
                                        <p:cTn id="87" dur="indefinite"/>
                                        <p:tgtEl>
                                          <p:spTgt spid="3">
                                            <p:txEl>
                                              <p:pRg st="10" end="10"/>
                                            </p:txEl>
                                          </p:spTgt>
                                        </p:tgtEl>
                                      </p:cBhvr>
                                    </p:animEffect>
                                  </p:childTnLst>
                                </p:cTn>
                              </p:par>
                              <p:par>
                                <p:cTn id="88" presetID="9" presetClass="emph" presetSubtype="0" grpId="1" nodeType="withEffect">
                                  <p:stCondLst>
                                    <p:cond delay="0"/>
                                  </p:stCondLst>
                                  <p:childTnLst>
                                    <p:set>
                                      <p:cBhvr>
                                        <p:cTn id="89" dur="indefinite"/>
                                        <p:tgtEl>
                                          <p:spTgt spid="3">
                                            <p:txEl>
                                              <p:pRg st="11" end="11"/>
                                            </p:txEl>
                                          </p:spTgt>
                                        </p:tgtEl>
                                        <p:attrNameLst>
                                          <p:attrName>style.opacity</p:attrName>
                                        </p:attrNameLst>
                                      </p:cBhvr>
                                      <p:to>
                                        <p:strVal val="0.5"/>
                                      </p:to>
                                    </p:set>
                                    <p:animEffect filter="image" prLst="opacity: 0.5">
                                      <p:cBhvr rctx="IE">
                                        <p:cTn id="90" dur="indefinite"/>
                                        <p:tgtEl>
                                          <p:spTgt spid="3">
                                            <p:txEl>
                                              <p:pRg st="11" end="11"/>
                                            </p:txEl>
                                          </p:spTgt>
                                        </p:tgtEl>
                                      </p:cBhvr>
                                    </p:animEffect>
                                  </p:childTnLst>
                                </p:cTn>
                              </p:par>
                              <p:par>
                                <p:cTn id="91" presetID="9" presetClass="emph" presetSubtype="0" grpId="1" nodeType="withEffect">
                                  <p:stCondLst>
                                    <p:cond delay="0"/>
                                  </p:stCondLst>
                                  <p:childTnLst>
                                    <p:set>
                                      <p:cBhvr>
                                        <p:cTn id="92" dur="indefinite"/>
                                        <p:tgtEl>
                                          <p:spTgt spid="3">
                                            <p:txEl>
                                              <p:pRg st="12" end="12"/>
                                            </p:txEl>
                                          </p:spTgt>
                                        </p:tgtEl>
                                        <p:attrNameLst>
                                          <p:attrName>style.opacity</p:attrName>
                                        </p:attrNameLst>
                                      </p:cBhvr>
                                      <p:to>
                                        <p:strVal val="0.5"/>
                                      </p:to>
                                    </p:set>
                                    <p:animEffect filter="image" prLst="opacity: 0.5">
                                      <p:cBhvr rctx="IE">
                                        <p:cTn id="93" dur="indefinite"/>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C2B4B-CF61-3DC5-6221-F5F99F86F619}"/>
            </a:ext>
          </a:extLst>
        </p:cNvPr>
        <p:cNvGrpSpPr/>
        <p:nvPr/>
      </p:nvGrpSpPr>
      <p:grpSpPr>
        <a:xfrm>
          <a:off x="0" y="0"/>
          <a:ext cx="0" cy="0"/>
          <a:chOff x="0" y="0"/>
          <a:chExt cx="0" cy="0"/>
        </a:xfrm>
      </p:grpSpPr>
      <p:sp>
        <p:nvSpPr>
          <p:cNvPr id="9" name="Title 3">
            <a:extLst>
              <a:ext uri="{FF2B5EF4-FFF2-40B4-BE49-F238E27FC236}">
                <a16:creationId xmlns:a16="http://schemas.microsoft.com/office/drawing/2014/main" id="{0AFF23A2-578F-B7AD-CC96-F1E75AA0FD82}"/>
              </a:ext>
            </a:extLst>
          </p:cNvPr>
          <p:cNvSpPr txBox="1">
            <a:spLocks/>
          </p:cNvSpPr>
          <p:nvPr/>
        </p:nvSpPr>
        <p:spPr>
          <a:xfrm>
            <a:off x="831850" y="529389"/>
            <a:ext cx="10515600" cy="1004637"/>
          </a:xfrm>
          <a:prstGeom prst="rect">
            <a:avLst/>
          </a:prstGeom>
        </p:spPr>
        <p:txBody>
          <a:bodyPr vert="horz" lIns="91440" tIns="45720" rIns="91440" bIns="45720" rtlCol="0" anchor="b">
            <a:normAutofit fontScale="92500" lnSpcReduction="20000"/>
          </a:bodyPr>
          <a:lstStyle>
            <a:lvl1pPr algn="l" defTabSz="914400" rtl="0" eaLnBrk="1" latinLnBrk="0" hangingPunct="1">
              <a:lnSpc>
                <a:spcPct val="90000"/>
              </a:lnSpc>
              <a:spcBef>
                <a:spcPct val="0"/>
              </a:spcBef>
              <a:buNone/>
              <a:defRPr sz="6000" b="1" kern="1200">
                <a:solidFill>
                  <a:srgbClr val="3B2B46"/>
                </a:solidFill>
                <a:latin typeface="+mj-lt"/>
                <a:ea typeface="+mj-ea"/>
                <a:cs typeface="+mj-cs"/>
              </a:defRPr>
            </a:lvl1pPr>
          </a:lstStyle>
          <a:p>
            <a:r>
              <a:rPr lang="en-GB" sz="8000" dirty="0"/>
              <a:t>Q &amp; A &amp; Feedback!</a:t>
            </a:r>
          </a:p>
        </p:txBody>
      </p:sp>
      <p:pic>
        <p:nvPicPr>
          <p:cNvPr id="7" name="Picture 6">
            <a:extLst>
              <a:ext uri="{FF2B5EF4-FFF2-40B4-BE49-F238E27FC236}">
                <a16:creationId xmlns:a16="http://schemas.microsoft.com/office/drawing/2014/main" id="{399142B3-5267-93F6-3AA9-684833206696}"/>
              </a:ext>
            </a:extLst>
          </p:cNvPr>
          <p:cNvPicPr>
            <a:picLocks noChangeAspect="1"/>
          </p:cNvPicPr>
          <p:nvPr/>
        </p:nvPicPr>
        <p:blipFill>
          <a:blip r:embed="rId3">
            <a:extLst>
              <a:ext uri="{28A0092B-C50C-407E-A947-70E740481C1C}">
                <a14:useLocalDpi xmlns:a14="http://schemas.microsoft.com/office/drawing/2010/main" val="0"/>
              </a:ext>
            </a:extLst>
          </a:blip>
          <a:srcRect l="9049" t="8801" r="9082" b="9505"/>
          <a:stretch>
            <a:fillRect/>
          </a:stretch>
        </p:blipFill>
        <p:spPr>
          <a:xfrm>
            <a:off x="6435796" y="1472034"/>
            <a:ext cx="3525279" cy="3517815"/>
          </a:xfrm>
          <a:prstGeom prst="rect">
            <a:avLst/>
          </a:prstGeom>
        </p:spPr>
      </p:pic>
      <p:pic>
        <p:nvPicPr>
          <p:cNvPr id="2" name="Graphique 5">
            <a:extLst>
              <a:ext uri="{FF2B5EF4-FFF2-40B4-BE49-F238E27FC236}">
                <a16:creationId xmlns:a16="http://schemas.microsoft.com/office/drawing/2014/main" id="{8C7569A3-761E-DEAA-1C30-F448FEB741F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20549" y="1534026"/>
            <a:ext cx="1498270" cy="1663978"/>
          </a:xfrm>
          <a:prstGeom prst="rect">
            <a:avLst/>
          </a:prstGeom>
        </p:spPr>
      </p:pic>
      <p:sp>
        <p:nvSpPr>
          <p:cNvPr id="3" name="TextBox 2">
            <a:extLst>
              <a:ext uri="{FF2B5EF4-FFF2-40B4-BE49-F238E27FC236}">
                <a16:creationId xmlns:a16="http://schemas.microsoft.com/office/drawing/2014/main" id="{5BB82792-E8A7-C72D-000B-A202DC9A59A4}"/>
              </a:ext>
            </a:extLst>
          </p:cNvPr>
          <p:cNvSpPr txBox="1"/>
          <p:nvPr/>
        </p:nvSpPr>
        <p:spPr>
          <a:xfrm>
            <a:off x="247972" y="4825141"/>
            <a:ext cx="7857473" cy="1815882"/>
          </a:xfrm>
          <a:prstGeom prst="rect">
            <a:avLst/>
          </a:prstGeom>
          <a:noFill/>
        </p:spPr>
        <p:txBody>
          <a:bodyPr wrap="square">
            <a:spAutoFit/>
          </a:bodyPr>
          <a:lstStyle/>
          <a:p>
            <a:r>
              <a:rPr lang="en-US" sz="2800" dirty="0" err="1">
                <a:solidFill>
                  <a:srgbClr val="346297"/>
                </a:solidFill>
              </a:rPr>
              <a:t>powershellgallery.com</a:t>
            </a:r>
            <a:r>
              <a:rPr lang="en-US" sz="2800" dirty="0">
                <a:solidFill>
                  <a:srgbClr val="346297"/>
                </a:solidFill>
              </a:rPr>
              <a:t>/packages/Bicep</a:t>
            </a:r>
            <a:br>
              <a:rPr lang="en-US" sz="2800" dirty="0">
                <a:solidFill>
                  <a:srgbClr val="346297"/>
                </a:solidFill>
              </a:rPr>
            </a:br>
            <a:r>
              <a:rPr lang="en-US" sz="2800" dirty="0" err="1">
                <a:solidFill>
                  <a:srgbClr val="346297"/>
                </a:solidFill>
              </a:rPr>
              <a:t>powershellgallery.com</a:t>
            </a:r>
            <a:r>
              <a:rPr lang="en-US" sz="2800" dirty="0">
                <a:solidFill>
                  <a:srgbClr val="346297"/>
                </a:solidFill>
              </a:rPr>
              <a:t>/packages/</a:t>
            </a:r>
            <a:r>
              <a:rPr lang="en-US" sz="2800" dirty="0" err="1">
                <a:solidFill>
                  <a:srgbClr val="346297"/>
                </a:solidFill>
              </a:rPr>
              <a:t>AzAuth</a:t>
            </a:r>
            <a:br>
              <a:rPr lang="en-US" sz="2800" dirty="0">
                <a:solidFill>
                  <a:srgbClr val="346297"/>
                </a:solidFill>
              </a:rPr>
            </a:br>
            <a:r>
              <a:rPr lang="en-US" sz="2800" dirty="0" err="1">
                <a:solidFill>
                  <a:srgbClr val="346297"/>
                </a:solidFill>
              </a:rPr>
              <a:t>powershellgallery.com</a:t>
            </a:r>
            <a:r>
              <a:rPr lang="en-US" sz="2800" dirty="0">
                <a:solidFill>
                  <a:srgbClr val="346297"/>
                </a:solidFill>
              </a:rPr>
              <a:t>/packages/</a:t>
            </a:r>
            <a:r>
              <a:rPr lang="en-US" sz="2800" dirty="0" err="1">
                <a:solidFill>
                  <a:srgbClr val="346297"/>
                </a:solidFill>
              </a:rPr>
              <a:t>AzBobbyTables</a:t>
            </a:r>
            <a:br>
              <a:rPr lang="en-US" sz="2800" dirty="0">
                <a:solidFill>
                  <a:srgbClr val="346297"/>
                </a:solidFill>
              </a:rPr>
            </a:br>
            <a:r>
              <a:rPr lang="en-US" sz="2800" dirty="0" err="1">
                <a:solidFill>
                  <a:srgbClr val="CEA551"/>
                </a:solidFill>
              </a:rPr>
              <a:t>powershellgallery.com</a:t>
            </a:r>
            <a:r>
              <a:rPr lang="en-US" sz="2800" dirty="0">
                <a:solidFill>
                  <a:srgbClr val="CEA551"/>
                </a:solidFill>
              </a:rPr>
              <a:t>/packages/</a:t>
            </a:r>
            <a:r>
              <a:rPr lang="en-US" sz="2800" dirty="0" err="1">
                <a:solidFill>
                  <a:srgbClr val="CEA551"/>
                </a:solidFill>
              </a:rPr>
              <a:t>AzPigeon</a:t>
            </a:r>
            <a:endParaRPr lang="en-US" sz="2800" dirty="0">
              <a:solidFill>
                <a:srgbClr val="CEA551"/>
              </a:solidFill>
            </a:endParaRPr>
          </a:p>
        </p:txBody>
      </p:sp>
    </p:spTree>
    <p:extLst>
      <p:ext uri="{BB962C8B-B14F-4D97-AF65-F5344CB8AC3E}">
        <p14:creationId xmlns:p14="http://schemas.microsoft.com/office/powerpoint/2010/main" val="923274605"/>
      </p:ext>
    </p:extLst>
  </p:cSld>
  <p:clrMapOvr>
    <a:masterClrMapping/>
  </p:clrMapOvr>
</p:sld>
</file>

<file path=ppt/theme/theme1.xml><?xml version="1.0" encoding="utf-8"?>
<a:theme xmlns:a="http://schemas.openxmlformats.org/drawingml/2006/main" name="Titl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n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Speaker's sli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Content">
  <a:themeElements>
    <a:clrScheme name="PSConfEU">
      <a:dk1>
        <a:sysClr val="windowText" lastClr="000000"/>
      </a:dk1>
      <a:lt1>
        <a:sysClr val="window" lastClr="FFFFFF"/>
      </a:lt1>
      <a:dk2>
        <a:srgbClr val="44546A"/>
      </a:dk2>
      <a:lt2>
        <a:srgbClr val="E7E6E6"/>
      </a:lt2>
      <a:accent1>
        <a:srgbClr val="326198"/>
      </a:accent1>
      <a:accent2>
        <a:srgbClr val="ED7D31"/>
      </a:accent2>
      <a:accent3>
        <a:srgbClr val="A5A5A5"/>
      </a:accent3>
      <a:accent4>
        <a:srgbClr val="FFC000"/>
      </a:accent4>
      <a:accent5>
        <a:srgbClr val="5B9BD5"/>
      </a:accent5>
      <a:accent6>
        <a:srgbClr val="70AD47"/>
      </a:accent6>
      <a:hlink>
        <a:srgbClr val="0563C1"/>
      </a:hlink>
      <a:folHlink>
        <a:srgbClr val="0563C1"/>
      </a:folHlink>
    </a:clrScheme>
    <a:fontScheme name="PSConfEU2022">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abdc9a1f-962e-4235-838d-61f9c438f4db">
      <Terms xmlns="http://schemas.microsoft.com/office/infopath/2007/PartnerControls"/>
    </lcf76f155ced4ddcb4097134ff3c332f>
    <TaxCatchAll xmlns="de47e97d-64fd-4aef-b10e-fd7d6cfcfcf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33502FDC476714EB47BD1BE2BFD7B3D" ma:contentTypeVersion="13" ma:contentTypeDescription="Create a new document." ma:contentTypeScope="" ma:versionID="0d4fb5ca5076182280cb93c7d6bdff79">
  <xsd:schema xmlns:xsd="http://www.w3.org/2001/XMLSchema" xmlns:xs="http://www.w3.org/2001/XMLSchema" xmlns:p="http://schemas.microsoft.com/office/2006/metadata/properties" xmlns:ns2="abdc9a1f-962e-4235-838d-61f9c438f4db" xmlns:ns3="de47e97d-64fd-4aef-b10e-fd7d6cfcfcf4" targetNamespace="http://schemas.microsoft.com/office/2006/metadata/properties" ma:root="true" ma:fieldsID="da14a0effa8c0f0120811d0692d695e7" ns2:_="" ns3:_="">
    <xsd:import namespace="abdc9a1f-962e-4235-838d-61f9c438f4db"/>
    <xsd:import namespace="de47e97d-64fd-4aef-b10e-fd7d6cfcfcf4"/>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bdc9a1f-962e-4235-838d-61f9c438f4db"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bd613703-4b30-4a23-b3bf-9e58a81c4af7"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47e97d-64fd-4aef-b10e-fd7d6cfcfcf4"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f96598e-1e7b-44ab-a102-458ae76ccdba}" ma:internalName="TaxCatchAll" ma:showField="CatchAllData" ma:web="de47e97d-64fd-4aef-b10e-fd7d6cfcfcf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A9C06E3-346E-408E-B352-32E922A070CE}">
  <ds:schemaRefs>
    <ds:schemaRef ds:uri="2347cc20-e10c-452d-848a-c18e83138525"/>
    <ds:schemaRef ds:uri="58c243a5-121d-4837-b81c-114e1b569ece"/>
    <ds:schemaRef ds:uri="77f18391-c91f-4725-9130-63caf76c1806"/>
    <ds:schemaRef ds:uri="85c0ce47-fe9c-4809-bf88-519c39a738e6"/>
    <ds:schemaRef ds:uri="abdc9a1f-962e-4235-838d-61f9c438f4db"/>
    <ds:schemaRef ds:uri="de47e97d-64fd-4aef-b10e-fd7d6cfcfcf4"/>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57D9B22B-F436-4FE5-B6C0-65AB2260F593}">
  <ds:schemaRefs>
    <ds:schemaRef ds:uri="http://schemas.microsoft.com/sharepoint/v3/contenttype/forms"/>
  </ds:schemaRefs>
</ds:datastoreItem>
</file>

<file path=customXml/itemProps3.xml><?xml version="1.0" encoding="utf-8"?>
<ds:datastoreItem xmlns:ds="http://schemas.openxmlformats.org/officeDocument/2006/customXml" ds:itemID="{2C38D965-436F-4DCC-97AA-50BEF4F7BE29}">
  <ds:schemaRefs>
    <ds:schemaRef ds:uri="abdc9a1f-962e-4235-838d-61f9c438f4db"/>
    <ds:schemaRef ds:uri="de47e97d-64fd-4aef-b10e-fd7d6cfcfcf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15105</TotalTime>
  <Words>1827</Words>
  <Application>Microsoft Macintosh PowerPoint</Application>
  <PresentationFormat>Widescreen</PresentationFormat>
  <Paragraphs>328</Paragraphs>
  <Slides>26</Slides>
  <Notes>10</Notes>
  <HiddenSlides>1</HiddenSlides>
  <MMClips>0</MMClips>
  <ScaleCrop>false</ScaleCrop>
  <HeadingPairs>
    <vt:vector size="6" baseType="variant">
      <vt:variant>
        <vt:lpstr>Fonts Used</vt:lpstr>
      </vt:variant>
      <vt:variant>
        <vt:i4>9</vt:i4>
      </vt:variant>
      <vt:variant>
        <vt:lpstr>Theme</vt:lpstr>
      </vt:variant>
      <vt:variant>
        <vt:i4>4</vt:i4>
      </vt:variant>
      <vt:variant>
        <vt:lpstr>Slide Titles</vt:lpstr>
      </vt:variant>
      <vt:variant>
        <vt:i4>26</vt:i4>
      </vt:variant>
    </vt:vector>
  </HeadingPairs>
  <TitlesOfParts>
    <vt:vector size="39" baseType="lpstr">
      <vt:lpstr>Aptos</vt:lpstr>
      <vt:lpstr>Arial</vt:lpstr>
      <vt:lpstr>Calibri</vt:lpstr>
      <vt:lpstr>Cascadia Code</vt:lpstr>
      <vt:lpstr>CaskaydiaCove NF</vt:lpstr>
      <vt:lpstr>Segoe UI</vt:lpstr>
      <vt:lpstr>Segoe UI Light</vt:lpstr>
      <vt:lpstr>Stencil</vt:lpstr>
      <vt:lpstr>Wingdings</vt:lpstr>
      <vt:lpstr>Title</vt:lpstr>
      <vt:lpstr>Blank</vt:lpstr>
      <vt:lpstr>Speaker's slide</vt:lpstr>
      <vt:lpstr>Content</vt:lpstr>
      <vt:lpstr>README</vt:lpstr>
      <vt:lpstr>Next Up:</vt:lpstr>
      <vt:lpstr>3</vt:lpstr>
      <vt:lpstr>2</vt:lpstr>
      <vt:lpstr>1</vt:lpstr>
      <vt:lpstr>Building Open Source Modules in C#</vt:lpstr>
      <vt:lpstr>Previous PSConfEU sessions</vt:lpstr>
      <vt:lpstr>Many thanks to our sponsors:</vt:lpstr>
      <vt:lpstr>Emanuel Palm</vt:lpstr>
      <vt:lpstr>Ways to Write a Module</vt:lpstr>
      <vt:lpstr>Why?</vt:lpstr>
      <vt:lpstr>Examples of C# Modules</vt:lpstr>
      <vt:lpstr>What tooling do we need?</vt:lpstr>
      <vt:lpstr>Version Targeting</vt:lpstr>
      <vt:lpstr>PowerPoint Presentation</vt:lpstr>
      <vt:lpstr>Just target .NET Standard 2.0</vt:lpstr>
      <vt:lpstr>Advanced Functions vs Cmdlets</vt:lpstr>
      <vt:lpstr>Advanced Functions vs Cmdlets</vt:lpstr>
      <vt:lpstr>Advanced Functions vs Cmdlets</vt:lpstr>
      <vt:lpstr>Advanced Functions vs Cmdlets</vt:lpstr>
      <vt:lpstr>Advanced Functions vs Cmdlets</vt:lpstr>
      <vt:lpstr>What are we making today?</vt:lpstr>
      <vt:lpstr>Demo time! The demo setup has already...</vt:lpstr>
      <vt:lpstr>Struggles &amp; Lessons Learned &amp; Takeaways &amp; What have we done</vt:lpstr>
      <vt:lpstr>It’s not all ☀️ and 🌈, but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Emanuel Palm</cp:lastModifiedBy>
  <cp:revision>136</cp:revision>
  <dcterms:created xsi:type="dcterms:W3CDTF">2024-03-26T13:08:23Z</dcterms:created>
  <dcterms:modified xsi:type="dcterms:W3CDTF">2026-05-17T15:53:33Z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0x010100333502FDC476714EB47BD1BE2BFD7B3D</vt:lpwstr>
  </property>
  <property fmtid="{D5CDD505-2E9C-101B-9397-08002B2CF9AE}" pid="3" name="MediaServiceImageTags">
    <vt:lpwstr/>
  </property>
</Properties>
</file>