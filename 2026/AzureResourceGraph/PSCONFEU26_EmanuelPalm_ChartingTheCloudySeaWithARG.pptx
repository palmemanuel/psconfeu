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3.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notesSlides/notesSlide6.xml" ContentType="application/vnd.openxmlformats-officedocument.presentationml.notesSlide+xml"/>
  <Override PartName="/ppt/ink/ink3.xml" ContentType="application/inkml+xml"/>
  <Override PartName="/ppt/ink/ink4.xml" ContentType="application/inkml+xml"/>
  <Override PartName="/ppt/notesSlides/notesSlide7.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5.xml" ContentType="application/inkml+xml"/>
  <Override PartName="/ppt/notesSlides/notesSlide10.xml" ContentType="application/vnd.openxmlformats-officedocument.presentationml.notesSlide+xml"/>
  <Override PartName="/ppt/ink/ink16.xml" ContentType="application/inkml+xml"/>
  <Override PartName="/ppt/ink/ink17.xml" ContentType="application/inkml+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97" r:id="rId5"/>
    <p:sldMasterId id="2147483695" r:id="rId6"/>
    <p:sldMasterId id="2147483684" r:id="rId7"/>
  </p:sldMasterIdLst>
  <p:notesMasterIdLst>
    <p:notesMasterId r:id="rId41"/>
  </p:notesMasterIdLst>
  <p:handoutMasterIdLst>
    <p:handoutMasterId r:id="rId42"/>
  </p:handoutMasterIdLst>
  <p:sldIdLst>
    <p:sldId id="271" r:id="rId8"/>
    <p:sldId id="272" r:id="rId9"/>
    <p:sldId id="259" r:id="rId10"/>
    <p:sldId id="269" r:id="rId11"/>
    <p:sldId id="270" r:id="rId12"/>
    <p:sldId id="326" r:id="rId13"/>
    <p:sldId id="304" r:id="rId14"/>
    <p:sldId id="305" r:id="rId15"/>
    <p:sldId id="306" r:id="rId16"/>
    <p:sldId id="307" r:id="rId17"/>
    <p:sldId id="308" r:id="rId18"/>
    <p:sldId id="328" r:id="rId19"/>
    <p:sldId id="309" r:id="rId20"/>
    <p:sldId id="310" r:id="rId21"/>
    <p:sldId id="311" r:id="rId22"/>
    <p:sldId id="261" r:id="rId23"/>
    <p:sldId id="313" r:id="rId24"/>
    <p:sldId id="314" r:id="rId25"/>
    <p:sldId id="315" r:id="rId26"/>
    <p:sldId id="316" r:id="rId27"/>
    <p:sldId id="329" r:id="rId28"/>
    <p:sldId id="330" r:id="rId29"/>
    <p:sldId id="264" r:id="rId30"/>
    <p:sldId id="319" r:id="rId31"/>
    <p:sldId id="320" r:id="rId32"/>
    <p:sldId id="321" r:id="rId33"/>
    <p:sldId id="299" r:id="rId34"/>
    <p:sldId id="322" r:id="rId35"/>
    <p:sldId id="323" r:id="rId36"/>
    <p:sldId id="324" r:id="rId37"/>
    <p:sldId id="325" r:id="rId38"/>
    <p:sldId id="301" r:id="rId39"/>
    <p:sldId id="274"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fore the session" id="{9248E0E9-B469-42C5-B521-34DBB63F9E0C}">
          <p14:sldIdLst>
            <p14:sldId id="271"/>
            <p14:sldId id="272"/>
            <p14:sldId id="259"/>
            <p14:sldId id="269"/>
            <p14:sldId id="270"/>
          </p14:sldIdLst>
        </p14:section>
        <p14:section name="The session" id="{9BCE8471-468A-4538-82B3-E4E62B0A593E}">
          <p14:sldIdLst>
            <p14:sldId id="326"/>
            <p14:sldId id="304"/>
            <p14:sldId id="305"/>
            <p14:sldId id="306"/>
            <p14:sldId id="307"/>
            <p14:sldId id="308"/>
            <p14:sldId id="328"/>
            <p14:sldId id="309"/>
            <p14:sldId id="310"/>
            <p14:sldId id="311"/>
            <p14:sldId id="261"/>
            <p14:sldId id="313"/>
            <p14:sldId id="314"/>
            <p14:sldId id="315"/>
            <p14:sldId id="316"/>
            <p14:sldId id="329"/>
            <p14:sldId id="330"/>
            <p14:sldId id="264"/>
            <p14:sldId id="319"/>
            <p14:sldId id="320"/>
            <p14:sldId id="321"/>
            <p14:sldId id="299"/>
            <p14:sldId id="322"/>
            <p14:sldId id="323"/>
            <p14:sldId id="324"/>
            <p14:sldId id="325"/>
            <p14:sldId id="301"/>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A2B45"/>
    <a:srgbClr val="4C4C5E"/>
    <a:srgbClr val="336297"/>
    <a:srgbClr val="CEA551"/>
    <a:srgbClr val="9443C1"/>
    <a:srgbClr val="4674D6"/>
    <a:srgbClr val="002BFA"/>
    <a:srgbClr val="C7605E"/>
    <a:srgbClr val="248C22"/>
    <a:srgbClr val="4DC9B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399"/>
    <p:restoredTop sz="89442"/>
  </p:normalViewPr>
  <p:slideViewPr>
    <p:cSldViewPr snapToGrid="0">
      <p:cViewPr>
        <p:scale>
          <a:sx n="90" d="100"/>
          <a:sy n="90" d="100"/>
        </p:scale>
        <p:origin x="1744" y="13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handoutMaster" Target="handoutMasters/handoutMaster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presProps" Target="presProps.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tableStyles" Target="tableStyles.xml"/><Relationship Id="rId20" Type="http://schemas.openxmlformats.org/officeDocument/2006/relationships/slide" Target="slides/slide13.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ABDC4E67-8CB2-26CB-9842-22F9A691D93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CE31EB5F-53B0-CDA3-72A4-3FA9BE40D0E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440670-43D7-400A-ABC5-B69E064DBB37}" type="datetimeFigureOut">
              <a:rPr lang="en-GB" smtClean="0"/>
              <a:t>03/05/2026</a:t>
            </a:fld>
            <a:endParaRPr lang="en-GB"/>
          </a:p>
        </p:txBody>
      </p:sp>
      <p:sp>
        <p:nvSpPr>
          <p:cNvPr id="4" name="Espace réservé du pied de page 3">
            <a:extLst>
              <a:ext uri="{FF2B5EF4-FFF2-40B4-BE49-F238E27FC236}">
                <a16:creationId xmlns:a16="http://schemas.microsoft.com/office/drawing/2014/main" id="{00EB1E06-E4F0-A1A2-1EFB-AD58FA1AF7A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47061963-6110-4C16-C593-C8C56E4881C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274045-2E90-4839-9E75-1C1FCF04B584}" type="slidenum">
              <a:rPr lang="en-GB" smtClean="0"/>
              <a:t>‹#›</a:t>
            </a:fld>
            <a:endParaRPr lang="en-GB"/>
          </a:p>
        </p:txBody>
      </p:sp>
    </p:spTree>
    <p:extLst>
      <p:ext uri="{BB962C8B-B14F-4D97-AF65-F5344CB8AC3E}">
        <p14:creationId xmlns:p14="http://schemas.microsoft.com/office/powerpoint/2010/main" val="214018307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5T14:22:37.181"/>
    </inkml:context>
    <inkml:brush xml:id="br0">
      <inkml:brushProperty name="width" value="0.1" units="cm"/>
      <inkml:brushProperty name="height" value="0.1" units="cm"/>
      <inkml:brushProperty name="color" value="#EE2924"/>
    </inkml:brush>
  </inkml:definitions>
  <inkml:trace contextRef="#ctx0" brushRef="#br0">1 1 24575,'235'20'0,"2"0"0,-2 0 0,-10-5 0,25 1 0,23-1 0,14 1 0,10 4 0,8 0 0,3 2-894,-71 0 0,8 0 1,5 3-1,2 1 0,8 1 1,3 2-1,2-3 0,7 3 1,1-2-1,2-1 0,4-1 787,-24-6 1,5 1-1,3 0 1,4-2 0,1 0-1,4 0 1,3-1-1,2 1 1,1 0 0,2 2-1,2 0 1,1 0-1,1 4 1,4 0-21,-28 1 0,2-1 0,6 0 1,4 3-1,0 2 0,1-3 0,2 3 1,2 0-1,1 2 0,-3-2 1,0 2-1,-1 0 0,-1 0 0,-3 0 1,0 2-1,-8-2 0,1 0 127,24 5 0,0-1 0,1 3 0,-3-3 0,-3 3 0,-2 0 0,0-1 0,-3 1 0,-2 0 0,-2-1 0,-1 3 0,-4-2 0,-1 2 0,-2 0-38,12-1 0,3 4 1,0-1-1,-2 0 1,-3 0-1,-5 2 1,-1-2-1,-6 3 1,-6-3-1,-7 2 1,-7-2-1,-11 2 38,73 16 0,-5 0 0,-10 2 0,-13 0 0,-17-4 0,-22-3 0,-31-4 0,36 13 0,-36-6 0,-62-14 0,-58-19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5T14:22:37.182"/>
    </inkml:context>
    <inkml:brush xml:id="br0">
      <inkml:brushProperty name="width" value="0.1" units="cm"/>
      <inkml:brushProperty name="height" value="0.1" units="cm"/>
      <inkml:brushProperty name="color" value="#EE2924"/>
    </inkml:brush>
  </inkml:definitions>
  <inkml:trace contextRef="#ctx0" brushRef="#br0">1 2092 24575,'197'-40'0,"1"2"0,2-2 0,17 7 0,16 4 0,12-2 0,10 0 0,-48 2 0,5 1 0,8-3 0,8 0 0,12 0 0,12 2-1093,-14 7 1,14-1 0,10 1 0,11 2-1,4 0 1,6-2 0,2 0 0,0 0-1,-5-5 957,-36 3 1,-1-3-1,2-1 1,-3-1-1,6 0 1,-1-2 0,6 2-1,1-2 1,6 2-1,8-2 1,7 2-9,-25 5 0,5 0 1,10-1-1,2 1 0,8 2 1,2-3-1,1 1 1,4 0-1,-2-1 0,2 1 1,-2 0-1,-2-1 0,-3 1 1,-3-1-1,-7-1 144,-2-1 0,-4 1 0,-4-3 0,0 0 0,-2 0 0,-3-2 0,2 2 0,-2 1 0,2-1 0,1 0 0,2 2 0,0 3 0,5-3 0,2 5-44,5 0 1,8 2 0,3 2 0,7-1 0,2 3 0,1-2 0,-1 3 0,-2-1-1,0 1 1,-8 1 0,-4-1 0,-8 2 0,-8-3 0,-12 1 0,-10 1 43,65-8 0,-13 0 0,-14 0 0,-8 0 0,-10 2 0,-6 2 0,-4 5 0,0 2 0,53 4 0,12 7 0,-3 2 0,-32 3 0,-50 1 0,-75-3 0,-53-1 0,-97 7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18:36:15.915"/>
    </inkml:context>
    <inkml:brush xml:id="br0">
      <inkml:brushProperty name="width" value="0.1" units="cm"/>
      <inkml:brushProperty name="height" value="0.1" units="cm"/>
    </inkml:brush>
  </inkml:definitions>
  <inkml:trace contextRef="#ctx0" brushRef="#br0">0 1 24575,'3'0'0,"-1"0"0,0 0 0,1 1 0,-1 0 0,0-1 0,1 1 0,-1 0 0,0 0 0,0 0 0,0 0 0,1 0 0,-1 1 0,1 1 0,8 4 0,66 45 0,73 68 0,35 38-498,-7 8 0,197 239 0,-273-280 367,-6 5 0,-5 4 1,-6 3-1,97 216 0,-145-260 130,-4 0-1,-4 2 1,-5 1-1,-3 2 1,-5 0-1,-4 0 1,-2 161-1,-14-42-500,-34 226-1,25-361-4523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18:36:15.916"/>
    </inkml:context>
    <inkml:brush xml:id="br0">
      <inkml:brushProperty name="width" value="0.1" units="cm"/>
      <inkml:brushProperty name="height" value="0.1" units="cm"/>
    </inkml:brush>
  </inkml:definitions>
  <inkml:trace contextRef="#ctx0" brushRef="#br0">1 0 24575,'5'1'0,"1"-1"0,-1 1 0,0 1 0,1-1 0,-1 1 0,0 0 0,0 0 0,0 0 0,0 1 0,0 0 0,-1 0 0,8 5 0,50 51 0,-49-45 0,29 28 0,-2 2 0,-3 1 0,50 78 0,-21-5 0,-35-59 0,55 76 0,-85-133 0,1 1 0,-1-1 0,1 1 0,0-1 0,0 0 0,1 1 0,-1-1 0,0 0 0,1-1 0,-1 1 0,1 0 0,-1-1 0,1 1 0,0-1 0,0 0 0,0 0 0,0 0 0,-1 0 0,1 0 0,0-1 0,1 1 0,-1-1 0,0 0 0,0 0 0,0 0 0,0-1 0,0 1 0,0 0 0,0-1 0,0 0 0,0 0 0,0 0 0,-1 0 0,1 0 0,0-1 0,0 1 0,-1-1 0,1 0 0,2-3 0,11-8 0,-1-1 0,0-1 0,-1-1 0,22-32 0,-17 23 0,289-389 0,-303 408-195,-1 1 0,1-1 0,0 1 0,1 0 0,-1 0 0,7-4 0,4 1-6631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5T19:14:57.436"/>
    </inkml:context>
    <inkml:brush xml:id="br0">
      <inkml:brushProperty name="width" value="0.1" units="cm"/>
      <inkml:brushProperty name="height" value="0.1" units="cm"/>
      <inkml:brushProperty name="color" value="#4C4C5E"/>
    </inkml:brush>
  </inkml:definitions>
  <inkml:trace contextRef="#ctx0" brushRef="#br0">0 1 24575,'6'58'0,"-2"52"0,-4 69 0,0 37 0,0-82 0,0 5 0,4 2 0,6 1-1053,7 16 1,5 4 1052,4-4 0,9-2 0,24 12 0,10-2 0,0-14 0,4-4 0,5-13 0,7-4 0,23 25 0,10-4 0,-3-23 0,13-1 0,-2-22 0,11 1 0,-1-4-834,30 18 0,3-7 834,30-3 0,-2-9 0,-52-30 0,1-3 0,13 6 0,-1-2 52,-16-13 0,-5 0-52,-1-4 0,-8-4 0,75 31 0,-48-27 937,-29-4-937,-39-18 1837,-32-11-1837,-31-7 895,-12-9-895,-8 3 0,-3-6 0,1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5T19:14:57.437"/>
    </inkml:context>
    <inkml:brush xml:id="br0">
      <inkml:brushProperty name="width" value="0.1" units="cm"/>
      <inkml:brushProperty name="height" value="0.1" units="cm"/>
      <inkml:brushProperty name="color" value="#4C4C5E"/>
    </inkml:brush>
  </inkml:definitions>
  <inkml:trace contextRef="#ctx0" brushRef="#br0">1 833 24575,'53'0'0,"9"0"0,29 0 0,28 0 0,31 0 0,-48 0 0,-2 0 0,33 0 0,36 0 0,-94 0 0,9 0 0,-40 0 0,-12-3 0,-29-2 0,-3 0 0,-3 0 0,-2 1 0,4-2 0,-4 0 0,2 1 0,-3 0 0,-1-1 0,1 0 0,-4-3 0,-2-2 0,-3-5 0,-15-19 0,-12-16 0,-19-20 0,-29-29 0,15 24 0,-18-18 0,-21-10 0,51 43 0,-29-23 0,68 63 0,2 5 0,10 7 0,5 3 0,4 2 0,-2-1 0,2 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5T19:14:57.438"/>
    </inkml:context>
    <inkml:brush xml:id="br0">
      <inkml:brushProperty name="width" value="0.1" units="cm"/>
      <inkml:brushProperty name="height" value="0.1" units="cm"/>
      <inkml:brushProperty name="color" value="#4C4C5E"/>
    </inkml:brush>
  </inkml:definitions>
  <inkml:trace contextRef="#ctx0" brushRef="#br0">1299 1 24575,'0'26'0,"0"24"0,0 34 0,0 18 0,0 24 0,-5 2 0,-3 16 0,-2 1-1758,-2 7 1,-1 1 0,-4 5 1757,3-26 0,-3 2 0,0 0 0,-3-7 0,-5 10 0,-4-9 0,-1 1-491,-4 0 1,-1-4 0,0 2 490,-4-5 0,-2 0 0,-1-2 0,-3 9 0,-1-2 0,1-5-548,-16 33 0,0-10 548,6-23 0,2-11-128,15-30 1,1-10 127,-19 29 3097,5-11-3097,14-31 2982,-1 2-2982,7-19 1601,8-8-1601,2-8 414,1 1-414,0-1 0,1-4 0,-1 6 0,10-13 0,-3 8 0,6-14 0,2 2 0,0-3 0,0-4 0,0-1 0,0-2 0,0 0 0,1-2 0,-1-1 0,2-4 0,-1 0 0,3 2 0,1 2 0,-2-2 0,2 0 0,0-1 0,0 2 0,0 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5T19:14:57.439"/>
    </inkml:context>
    <inkml:brush xml:id="br0">
      <inkml:brushProperty name="width" value="0.1" units="cm"/>
      <inkml:brushProperty name="height" value="0.1" units="cm"/>
      <inkml:brushProperty name="color" value="#4C4C5E"/>
    </inkml:brush>
  </inkml:definitions>
  <inkml:trace contextRef="#ctx0" brushRef="#br0">45 1 24575,'0'30'0,"0"2"0,0 26 0,0-15 0,0 44 0,0-40 0,0 13 0,0-25 0,0-10 0,0-4 0,0-2 0,0-7 0,0 1 0,0-4 0,0-3 0,0 0 0,0-2 0,0-1 0,0 2 0,0-1 0,0 1 0,0-1 0,0 1 0,0-1 0,0-1 0,0 1 0,0 1 0,-1 1 0,-1 0 0,-1 0 0,2 0 0,-2 2 0,0 4 0,-2 13 0,1-1 0,-1 6 0,2-8 0,0-1 0,0-1 0,2-3 0,-2-4 0,1-3 0,1-4 0,-1-1 0,14-19 0,6 1 0,22-15 0,9 4 0,56-14 0,-28 10 0,27-9 0,-46 17 0,-4 0 0,-6 0 0,-5 3 0,-12 2 0,-8 6 0,-9 3 0,-5 2 0,-3 2 0,-2-1 0,1 2 0,4-2 0,3 0 0,5 0 0,-1-2 0,-1 2 0,-1 0 0,-2 1 0,-1-1 0,-2 1 0,-5 1 0,-2-4 0,-2 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5T19:14:57.440"/>
    </inkml:context>
    <inkml:brush xml:id="br0">
      <inkml:brushProperty name="width" value="0.1" units="cm"/>
      <inkml:brushProperty name="height" value="0.1" units="cm"/>
      <inkml:brushProperty name="color" value="#4C4C5E"/>
    </inkml:brush>
  </inkml:definitions>
  <inkml:trace contextRef="#ctx0" brushRef="#br0">0 0 24575,'5'89'0,"-2"31"0,-3 5 0,0 8-460,0-33 0,0 5 460,0 20 0,0 16 0,0-3-1112,0-28 1,0-3 0,0 1 1111,0 3 0,0-2 0,0-1 0,0 39 0,0-15 940,0-1-940,0-29 0,0-37 0,0-16 399,0-25-399,0-24 2876,0-25-2876,0-5 39,0-11-39,0 7 0,0 11 0,0 3 0,0 11 0,0 3 0,0 3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5T19:14:57.441"/>
    </inkml:context>
    <inkml:brush xml:id="br0">
      <inkml:brushProperty name="width" value="0.1" units="cm"/>
      <inkml:brushProperty name="height" value="0.1" units="cm"/>
      <inkml:brushProperty name="color" value="#4C4C5E"/>
    </inkml:brush>
  </inkml:definitions>
  <inkml:trace contextRef="#ctx0" brushRef="#br0">1 0 24575,'5'18'0,"5"7"0,1-4 0,4 4 0,-3-5 0,-2 0 0,1-3 0,-2 0 0,-1-4 0,-2-3 0,-2-1 0,1 0 0,-2-1 0,0-3 0,1 1 0,-1 3 0,3 2 0,1 2 0,-1 0 0,1 2 0,-1-2 0,0-1 0,0-3 0,2 0 0,-4-2 0,2 1 0,-3-4 0,0 2 0,-1-1 0,1 0 0,-3 1 0,1-1 0,1 1 0,-1-2 0,3 2 0,-3-1 0,-1-1 0,3 0 0,-1 2 0,1 2 0,0-4 0,1 5 0,-4-3 0,3 1 0,-1 1 0,1-2 0,-2-2 0,2 2 0,-3 0 0,2-3 0,-1 1 0,1-1 0,1 0 0,-2 3 0,4 2 0,-4-4 0,2 3 0,-1-2 0,1 1 0,-2 1 0,1 1 0,1-1 0,-2-1 0,2-2 0,-1 2 0,1-3 0,0 0 0,2-3 0,-2 0 0,3 0 0,-2 0 0,1-1 0,2-5 0,1-2 0,2-2 0,4-2 0,1 0 0,3-1 0,0 0 0,2-1 0,1-3 0,3-3 0,2-2 0,4-4 0,-2 0 0,-1-2 0,3 2 0,15-20 0,-13 16 0,16-19 0,-23 26 0,5-5 0,-4 4 0,-4 5 0,-4 4 0,-6 5 0,-2 1 0,-3 3 0,-1 3 0,-1 0 0,-4 1 0,2-1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5T19:14:57.442"/>
    </inkml:context>
    <inkml:brush xml:id="br0">
      <inkml:brushProperty name="width" value="0.1" units="cm"/>
      <inkml:brushProperty name="height" value="0.1" units="cm"/>
      <inkml:brushProperty name="color" value="#4C4C5E"/>
    </inkml:brush>
  </inkml:definitions>
  <inkml:trace contextRef="#ctx0" brushRef="#br0">1 0 24575,'50'0'0,"60"11"0,-27 2 0,7 3-913,32 9 1,7 5 912,-28-3 0,2 5 0,9 4-1386,18 8 0,10 9 0,3 2 1,-7 1 1385,10 5 0,-6 1 0,9 6 0,-26-12 0,8 4 0,5 2 0,-4 1 0,-8-1 0,-2 5 0,-7-1 0,-4 1 0,3 1 0,-1-2 0,0 4 0,-1 0 0,-2-1 0,-6 1 0,-4 1 0,0 2 0,1 3 0,6 12 0,-1 2 0,0 5 0,-3 0 0,2 5 0,-3 3 0,-1 1 0,-2 1 0,-2-2 0,-3 0 0,-2 1 0,0 6 0,2 7 0,0 5 0,-5 0 0,-7-2 0,7 17 0,-8-4 0,-4-2-324,-11-12 0,-3 0 1,-1-2 323,-1 5 0,-1 0 0,-7-6-431,-4 7 0,-7-7 431,0-3 0,-3-4 0,-5-8 0,-5-6 420,10 53-420,-7-15 0,-7-22 3902,-11-34-3902,-7-26 3235,-4-21-3235,-3-9 1438,1-10-1438,-1-6 206,2-18-206,0-9 0,-2-43 0,0 36 0,0-18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5T19:14:57.443"/>
    </inkml:context>
    <inkml:brush xml:id="br0">
      <inkml:brushProperty name="width" value="0.1" units="cm"/>
      <inkml:brushProperty name="height" value="0.1" units="cm"/>
      <inkml:brushProperty name="color" value="#4C4C5E"/>
    </inkml:brush>
  </inkml:definitions>
  <inkml:trace contextRef="#ctx0" brushRef="#br0">0 475 24575,'43'23'0,"2"2"0,-12 2 0,-1-1 0,10 11 0,-17-14 0,6 6 0,-17-14 0,-2-3 0,-7-5 0,1-4 0,-1 1 0,-2-3 0,4 4 0,0 0 0,5 2 0,2 1 0,3 4 0,5 2 0,3 4 0,-7-3 0,3 2 0,-11-7 0,3-1 0,-5-1 0,-1-1 0,0-2 0,0-2 0,-2-1 0,2-7 0,-4 0 0,2-3 0,-1-8 0,4-5 0,8-10 0,12-14 0,13-18 0,9-16 0,10-17 0,-8 3 0,-4 4 0,-8 17 0,-11 11 0,-3 9 0,-7 13 0,-4 7 0,-5 10 0,-1 8 0,-5 8 0,-3 4 0,-1 4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5T19:14:57.444"/>
    </inkml:context>
    <inkml:brush xml:id="br0">
      <inkml:brushProperty name="width" value="0.1" units="cm"/>
      <inkml:brushProperty name="height" value="0.1" units="cm"/>
      <inkml:brushProperty name="color" value="#4C4C5E"/>
    </inkml:brush>
  </inkml:definitions>
  <inkml:trace contextRef="#ctx0" brushRef="#br0">0 0 24575,'51'81'0,"1"1"0,5 14 0,7 12 0,-8-10 0,6 12 0,3 4 0,-3-3-2828,7 18 1,-1-3 0,3 7 2827,-3-7 0,5 8 0,-2-1 0,-5-5 0,-1 2 0,-3-6 0,-1-1-66,-5-9 1,-2-2-1,-1-2 66,-9-17 0,-2-3 0,0-1 342,22 44 1,-5-6-343,-17-33 0,-1-7-71,-6-6 1,-2-4 70,11 38 0,-20-45 3784,-3-5-3784,-9-18 2537,-6-11-2537,-1-2 1583,-2-9-1583,0-6 231,-2-4-231,1-4 0,-2-6 0,0-5 0,0-8 0,-2 2 0,2-6 0,-1 7 0,-1 2 0,2 2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5T19:14:57.445"/>
    </inkml:context>
    <inkml:brush xml:id="br0">
      <inkml:brushProperty name="width" value="0.1" units="cm"/>
      <inkml:brushProperty name="height" value="0.1" units="cm"/>
      <inkml:brushProperty name="color" value="#4C4C5E"/>
    </inkml:brush>
  </inkml:definitions>
  <inkml:trace contextRef="#ctx0" brushRef="#br0">0 149 24575,'38'29'0,"6"6"0,30 30 0,-15-15 0,33 38 0,-33-31 0,-2 1 0,-14-12 0,-16-18 0,-8-4 0,-5-9 0,-5-7 0,-1-3 0,-4-1 0,1 1 0,-1-4 0,-1-8 0,-1-4 0,-2-11 0,1-35 0,7 0 0,4-33 0,14-2 0,-7 27 0,5-10 0,-8 35 0,-3 3 0,-4 10 0,-1 7 0,-4 6 0,-2 5 0,1 5 0,1 1 0,-1 2 0,2-2 0,-4-2 0,3 1 0,-1 1 0,-2-3 0,1 1 0,-2-1 0,0 2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25T19:16:25.248"/>
    </inkml:context>
    <inkml:brush xml:id="br0">
      <inkml:brushProperty name="width" value="0.3" units="cm"/>
      <inkml:brushProperty name="height" value="0.6" units="cm"/>
      <inkml:brushProperty name="color" value="#ED2A24"/>
      <inkml:brushProperty name="tip" value="rectangle"/>
      <inkml:brushProperty name="rasterOp" value="maskPen"/>
    </inkml:brush>
  </inkml:definitions>
  <inkml:trace contextRef="#ctx0" brushRef="#br0">1 164,'105'-3,"-6"1,14 1,-9 1,9 0,4 0,-16 0,3 0,5 0,8 0,-8 0,7 0,5 0,4 0,4 0,0 0,-17 0,1 0,1 0,3 0,2 0,5 0,7 0,6 0,-24 0,7 0,6 0,3 0,4 0,4 0,1 0,1 0,0 0,0 0,-3 0,0 0,-6 0,-2 0,1 0,-1 0,-3 0,-1 0,-2 0,1 0,-1 0,1 0,1 0,-1 0,5 0,1 0,-5 0,4 0,4 0,-1 0,4 0,1 0,-2 0,-1 0,-1 0,-2 0,-3 0,-5 0,-3 0,-8 0,31 0,-8 0,-5 0,-4 0,-2 0,-5 0,1 0,-1 0,22 0,-4 0,-2 0,-2 0,-4 0,-3 0,1 0,-2 0,-4 0,-5 0,-3 0,4 0,-4 0,-4 0,-9 0,5 0,-8 0,-7 0,8 0,-7 0,-17 0,-8 0,19 0,-48 0,-20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5T19:17:15.729"/>
    </inkml:context>
    <inkml:brush xml:id="br0">
      <inkml:brushProperty name="width" value="0.07056" units="cm"/>
      <inkml:brushProperty name="height" value="0.07056" units="cm"/>
      <inkml:brushProperty name="color" value="#4C4C5E"/>
    </inkml:brush>
  </inkml:definitions>
  <inkml:trace contextRef="#ctx0" brushRef="#br0">7 8 24575,'4'-3'0,"2"2"0,-1-3 0,17 9 0,26 20 0,7 6 0,25 17 0,-25-9 0,6 9 0,-6-1 0,-5 3 0,-5 2 0,6 13 0,-4 2 0,-13-13 0,-5-3 0,7 35 0,-12-31 0,-3-1 0,-5 13 0,7 23 0,-23-49 0,0 1 0,-5-6 0,1-7 0,-2-9 0,2-13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5T19:17:15.730"/>
    </inkml:context>
    <inkml:brush xml:id="br0">
      <inkml:brushProperty name="width" value="0.07056" units="cm"/>
      <inkml:brushProperty name="height" value="0.07056" units="cm"/>
      <inkml:brushProperty name="color" value="#4C4C5E"/>
    </inkml:brush>
  </inkml:definitions>
  <inkml:trace contextRef="#ctx0" brushRef="#br0">3 0 15472,'7'0'0,"4"0"3887,-2 4-3887,5 0 1571,-2 7-1571,6 4 846,-2 5-846,10 11 2799,-3-3-2799,10 16 0,-8-12 0,-4-3 0,-13-11 0,-5-11 0,-3 1 0,4 10 0,0 2 0,4 8 0,-4-9 0,6-15 0,2-17 0,10-11 0,5-16 0,3 11 0,-3-5 0,2 8 0,-2-1 0,4 0 0,-8 4 0,-4 11 0,-12 6 0,-3 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1B03A4-75C9-4E3D-9183-2102CA9AEC33}" type="datetimeFigureOut">
              <a:rPr lang="en-GB" smtClean="0"/>
              <a:t>03/05/2026</a:t>
            </a:fld>
            <a:endParaRPr lang="en-GB"/>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839206-A81D-4F76-8486-302187992F73}" type="slidenum">
              <a:rPr lang="en-GB" smtClean="0"/>
              <a:t>‹#›</a:t>
            </a:fld>
            <a:endParaRPr lang="en-GB"/>
          </a:p>
        </p:txBody>
      </p:sp>
    </p:spTree>
    <p:extLst>
      <p:ext uri="{BB962C8B-B14F-4D97-AF65-F5344CB8AC3E}">
        <p14:creationId xmlns:p14="http://schemas.microsoft.com/office/powerpoint/2010/main" val="3230807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High-bandwidth_Digital_Content_Protection"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vimeo.com/thorstenbutz/byourself" TargetMode="External"/><Relationship Id="rId4" Type="http://schemas.openxmlformats.org/officeDocument/2006/relationships/image" Target="../media/image11.png"/></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a:xfrm>
            <a:off x="685800" y="4400549"/>
            <a:ext cx="2743200" cy="4467225"/>
          </a:xfrm>
        </p:spPr>
        <p:txBody>
          <a:bodyPr/>
          <a:lstStyle/>
          <a:p>
            <a:pPr>
              <a:lnSpc>
                <a:spcPct val="110000"/>
              </a:lnSpc>
            </a:pPr>
            <a:r>
              <a:rPr lang="en-US" sz="900" b="1">
                <a:latin typeface="Aptos" panose="020B0004020202020204" pitchFamily="34" charset="0"/>
              </a:rPr>
              <a:t>The fine print (additional information)</a:t>
            </a: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Why should you care about HDCP? </a:t>
            </a: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a:t>
            </a:r>
            <a:r>
              <a:rPr lang="en-US" sz="900" i="1">
                <a:latin typeface="Aptos" panose="020B0004020202020204" pitchFamily="34" charset="0"/>
              </a:rPr>
              <a:t>High-bandwidth Digital Content Protection (HDCP) is a form of digital copy protection developed by Intel Corporation to prevent copying of digital audio and video content as it travels across connections. Types of connections include DisplayPort (DP), Digital Visual Interface (DVI), and High-Definition Multimedia Interface (HDMI), as well as less popular or now deprecated protocols like Gigabit Video Interface (GVIF) and Unified Display Interface (UDI).</a:t>
            </a:r>
            <a:r>
              <a:rPr lang="en-US" sz="900">
                <a:latin typeface="Aptos" panose="020B0004020202020204" pitchFamily="34" charset="0"/>
              </a:rPr>
              <a:t>"</a:t>
            </a:r>
          </a:p>
          <a:p>
            <a:pPr>
              <a:lnSpc>
                <a:spcPct val="110000"/>
              </a:lnSpc>
            </a:pPr>
            <a:r>
              <a:rPr lang="de-DE" sz="900">
                <a:latin typeface="Aptos" panose="020B0004020202020204" pitchFamily="34" charset="0"/>
                <a:hlinkClick r:id="rId3"/>
              </a:rPr>
              <a:t>https://en.wikipedia.org/wiki/High-bandwidth_Digital_Content_Protection</a:t>
            </a:r>
            <a:endParaRPr lang="de-DE" sz="900">
              <a:latin typeface="Aptos" panose="020B0004020202020204" pitchFamily="34" charset="0"/>
            </a:endParaRPr>
          </a:p>
          <a:p>
            <a:pPr>
              <a:lnSpc>
                <a:spcPct val="110000"/>
              </a:lnSpc>
            </a:pPr>
            <a:endParaRPr lang="de-DE" sz="900">
              <a:latin typeface="Aptos" panose="020B0004020202020204" pitchFamily="34" charset="0"/>
            </a:endParaRPr>
          </a:p>
          <a:p>
            <a:pPr>
              <a:lnSpc>
                <a:spcPct val="110000"/>
              </a:lnSpc>
            </a:pPr>
            <a:r>
              <a:rPr lang="de-DE" sz="900">
                <a:latin typeface="Aptos" panose="020B0004020202020204" pitchFamily="34" charset="0"/>
              </a:rPr>
              <a:t>Some notebooks ignore the HDCP standard, some vendors comply with the standard. Apple and Microsoft are somehow famous for strictly following the HDCP guidelines. Sadly, we will not be able to guarantee, that your session can be recorded in the latter case.</a:t>
            </a:r>
          </a:p>
          <a:p>
            <a:pPr>
              <a:lnSpc>
                <a:spcPct val="110000"/>
              </a:lnSpc>
            </a:pPr>
            <a:endParaRPr lang="de-DE" sz="900">
              <a:latin typeface="Aptos" panose="020B0004020202020204" pitchFamily="34" charset="0"/>
            </a:endParaRPr>
          </a:p>
          <a:p>
            <a:pPr>
              <a:lnSpc>
                <a:spcPct val="110000"/>
              </a:lnSpc>
            </a:pPr>
            <a:r>
              <a:rPr lang="de-DE" sz="900">
                <a:latin typeface="Aptos" panose="020B0004020202020204" pitchFamily="34" charset="0"/>
              </a:rPr>
              <a:t>But you can do simple things, to  overcome these problems. </a:t>
            </a:r>
            <a:r>
              <a:rPr lang="en-US" sz="900">
                <a:latin typeface="Aptos" panose="020B0004020202020204" pitchFamily="34" charset="0"/>
              </a:rPr>
              <a:t>It is also very likely that you presented with your notebook before. So you will know, if this worked fine.If you are in doubt and if the agenda allows, try a dry-run a day before and connect everything.</a:t>
            </a:r>
          </a:p>
          <a:p>
            <a:pPr>
              <a:lnSpc>
                <a:spcPct val="110000"/>
              </a:lnSpc>
            </a:pPr>
            <a:endParaRPr lang="en-US" sz="900">
              <a:latin typeface="Aptos" panose="020B0004020202020204" pitchFamily="34" charset="0"/>
            </a:endParaRPr>
          </a:p>
          <a:p>
            <a:pPr>
              <a:lnSpc>
                <a:spcPct val="110000"/>
              </a:lnSpc>
            </a:pPr>
            <a:endParaRPr lang="de-DE" sz="900">
              <a:latin typeface="Aptos" panose="020B0004020202020204" pitchFamily="34" charset="0"/>
            </a:endParaRPr>
          </a:p>
        </p:txBody>
      </p:sp>
      <p:sp>
        <p:nvSpPr>
          <p:cNvPr id="4" name="Foliennummernplatzhalter 3"/>
          <p:cNvSpPr>
            <a:spLocks noGrp="1"/>
          </p:cNvSpPr>
          <p:nvPr>
            <p:ph type="sldNum" sz="quarter" idx="5"/>
          </p:nvPr>
        </p:nvSpPr>
        <p:spPr/>
        <p:txBody>
          <a:bodyPr/>
          <a:lstStyle/>
          <a:p>
            <a:fld id="{A7839206-A81D-4F76-8486-302187992F73}" type="slidenum">
              <a:rPr lang="en-GB" smtClean="0"/>
              <a:t>1</a:t>
            </a:fld>
            <a:endParaRPr lang="en-GB"/>
          </a:p>
        </p:txBody>
      </p:sp>
      <p:pic>
        <p:nvPicPr>
          <p:cNvPr id="5" name="Grafik 4" descr="https://www.amazon.de/gp/product/B09F2N17H5/ref=ppx_yo_dt_b_asin_title_o09_s00">
            <a:extLst>
              <a:ext uri="{FF2B5EF4-FFF2-40B4-BE49-F238E27FC236}">
                <a16:creationId xmlns:a16="http://schemas.microsoft.com/office/drawing/2014/main" id="{E466A8E6-289E-2C4E-027A-1D532F5BF0BF}"/>
              </a:ext>
            </a:extLst>
          </p:cNvPr>
          <p:cNvPicPr>
            <a:picLocks noChangeAspect="1"/>
          </p:cNvPicPr>
          <p:nvPr/>
        </p:nvPicPr>
        <p:blipFill>
          <a:blip r:embed="rId4"/>
          <a:stretch>
            <a:fillRect/>
          </a:stretch>
        </p:blipFill>
        <p:spPr>
          <a:xfrm>
            <a:off x="3699256" y="5256530"/>
            <a:ext cx="2202687" cy="1967734"/>
          </a:xfrm>
          <a:prstGeom prst="rect">
            <a:avLst/>
          </a:prstGeom>
        </p:spPr>
      </p:pic>
      <p:sp>
        <p:nvSpPr>
          <p:cNvPr id="6" name="Notizenplatzhalter 2">
            <a:extLst>
              <a:ext uri="{FF2B5EF4-FFF2-40B4-BE49-F238E27FC236}">
                <a16:creationId xmlns:a16="http://schemas.microsoft.com/office/drawing/2014/main" id="{6C2E4E82-CC92-21BA-6CC9-5E1EC16B971C}"/>
              </a:ext>
            </a:extLst>
          </p:cNvPr>
          <p:cNvSpPr txBox="1">
            <a:spLocks/>
          </p:cNvSpPr>
          <p:nvPr/>
        </p:nvSpPr>
        <p:spPr>
          <a:xfrm>
            <a:off x="3429000" y="4400548"/>
            <a:ext cx="2743200" cy="4467225"/>
          </a:xfrm>
          <a:prstGeom prst="rect">
            <a:avLst/>
          </a:prstGeom>
        </p:spPr>
        <p:txBody>
          <a:bodyPr vert="horz" lIns="91440" tIns="45720" rIns="91440" bIns="45720" rtlCol="0"/>
          <a:lst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a:lstStyle>
          <a:p>
            <a:pPr>
              <a:lnSpc>
                <a:spcPct val="110000"/>
              </a:lnSpc>
            </a:pPr>
            <a:r>
              <a:rPr lang="en-US" sz="900">
                <a:latin typeface="Aptos" panose="020B0004020202020204" pitchFamily="34" charset="0"/>
              </a:rPr>
              <a:t>In general you can easily bypass HDCP restrictions with a cheap splitter (the cheaper the better), just like the one you see below. This is an example device that we bought for 16 euros (in Germany). </a:t>
            </a:r>
          </a:p>
          <a:p>
            <a:pPr>
              <a:lnSpc>
                <a:spcPct val="110000"/>
              </a:lnSpc>
            </a:pPr>
            <a:r>
              <a:rPr lang="en-US" sz="900">
                <a:latin typeface="Aptos" panose="020B0004020202020204" pitchFamily="34" charset="0"/>
              </a:rPr>
              <a:t>Ask us, we will lend you such a device.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Thorsten also gave a whole presentation about "Broadcasting yourself" -  easy steps to record yourself and create a (backup) session recording on your own. If you want to invest your time and dive deeper, take a look at his recordings and notes:</a:t>
            </a:r>
            <a:endParaRPr lang="de-DE" sz="900">
              <a:latin typeface="Aptos" panose="020B0004020202020204" pitchFamily="34" charset="0"/>
            </a:endParaRPr>
          </a:p>
          <a:p>
            <a:pPr>
              <a:lnSpc>
                <a:spcPct val="110000"/>
              </a:lnSpc>
              <a:spcAft>
                <a:spcPts val="1000"/>
              </a:spcAft>
            </a:pPr>
            <a:r>
              <a:rPr lang="de-DE" sz="900">
                <a:latin typeface="Aptos" panose="020B0004020202020204" pitchFamily="34" charset="0"/>
                <a:hlinkClick r:id="rId5"/>
              </a:rPr>
              <a:t>https://vimeo.com/thorstenbutz/byourself</a:t>
            </a:r>
            <a:endParaRPr lang="de-DE" sz="900">
              <a:latin typeface="Aptos" panose="020B0004020202020204" pitchFamily="34" charset="0"/>
            </a:endParaRPr>
          </a:p>
          <a:p>
            <a:pPr>
              <a:lnSpc>
                <a:spcPct val="110000"/>
              </a:lnSpc>
            </a:pPr>
            <a:r>
              <a:rPr lang="en-US" sz="900">
                <a:latin typeface="Aptos" panose="020B0004020202020204" pitchFamily="34" charset="0"/>
              </a:rPr>
              <a:t>This is of course completely voluntary, but perhaps you will find it helpful.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de-DE" sz="900">
              <a:latin typeface="Aptos" panose="020B0004020202020204" pitchFamily="34" charset="0"/>
            </a:endParaRPr>
          </a:p>
          <a:p>
            <a:pPr>
              <a:lnSpc>
                <a:spcPct val="110000"/>
              </a:lnSpc>
            </a:pPr>
            <a:endParaRPr lang="en-DE" sz="900">
              <a:latin typeface="Aptos" panose="020B0004020202020204" pitchFamily="34" charset="0"/>
            </a:endParaRPr>
          </a:p>
        </p:txBody>
      </p:sp>
    </p:spTree>
    <p:extLst>
      <p:ext uri="{BB962C8B-B14F-4D97-AF65-F5344CB8AC3E}">
        <p14:creationId xmlns:p14="http://schemas.microsoft.com/office/powerpoint/2010/main" val="414027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2</a:t>
            </a:fld>
            <a:endParaRPr lang="en-GB"/>
          </a:p>
        </p:txBody>
      </p:sp>
    </p:spTree>
    <p:extLst>
      <p:ext uri="{BB962C8B-B14F-4D97-AF65-F5344CB8AC3E}">
        <p14:creationId xmlns:p14="http://schemas.microsoft.com/office/powerpoint/2010/main" val="302026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3</a:t>
            </a:fld>
            <a:endParaRPr lang="en-GB"/>
          </a:p>
        </p:txBody>
      </p:sp>
    </p:spTree>
    <p:extLst>
      <p:ext uri="{BB962C8B-B14F-4D97-AF65-F5344CB8AC3E}">
        <p14:creationId xmlns:p14="http://schemas.microsoft.com/office/powerpoint/2010/main" val="4198534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4</a:t>
            </a:fld>
            <a:endParaRPr lang="en-GB"/>
          </a:p>
        </p:txBody>
      </p:sp>
    </p:spTree>
    <p:extLst>
      <p:ext uri="{BB962C8B-B14F-4D97-AF65-F5344CB8AC3E}">
        <p14:creationId xmlns:p14="http://schemas.microsoft.com/office/powerpoint/2010/main" val="18827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5</a:t>
            </a:fld>
            <a:endParaRPr lang="en-GB"/>
          </a:p>
        </p:txBody>
      </p:sp>
    </p:spTree>
    <p:extLst>
      <p:ext uri="{BB962C8B-B14F-4D97-AF65-F5344CB8AC3E}">
        <p14:creationId xmlns:p14="http://schemas.microsoft.com/office/powerpoint/2010/main" val="2166726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a:p>
        </p:txBody>
      </p:sp>
      <p:sp>
        <p:nvSpPr>
          <p:cNvPr id="4" name="Espace réservé du numéro de diapositive 3"/>
          <p:cNvSpPr>
            <a:spLocks noGrp="1"/>
          </p:cNvSpPr>
          <p:nvPr>
            <p:ph type="sldNum" sz="quarter" idx="5"/>
          </p:nvPr>
        </p:nvSpPr>
        <p:spPr/>
        <p:txBody>
          <a:bodyPr/>
          <a:lstStyle/>
          <a:p>
            <a:fld id="{A7839206-A81D-4F76-8486-302187992F73}" type="slidenum">
              <a:rPr lang="en-GB" smtClean="0"/>
              <a:t>16</a:t>
            </a:fld>
            <a:endParaRPr lang="en-GB"/>
          </a:p>
        </p:txBody>
      </p:sp>
    </p:spTree>
    <p:extLst>
      <p:ext uri="{BB962C8B-B14F-4D97-AF65-F5344CB8AC3E}">
        <p14:creationId xmlns:p14="http://schemas.microsoft.com/office/powerpoint/2010/main" val="5296006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839206-A81D-4F76-8486-302187992F73}" type="slidenum">
              <a:rPr lang="en-GB" smtClean="0"/>
              <a:t>23</a:t>
            </a:fld>
            <a:endParaRPr lang="en-GB"/>
          </a:p>
        </p:txBody>
      </p:sp>
    </p:spTree>
    <p:extLst>
      <p:ext uri="{BB962C8B-B14F-4D97-AF65-F5344CB8AC3E}">
        <p14:creationId xmlns:p14="http://schemas.microsoft.com/office/powerpoint/2010/main" val="28103111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learn.microsoft.com</a:t>
            </a:r>
            <a:r>
              <a:rPr lang="en-US" dirty="0"/>
              <a:t>/</a:t>
            </a:r>
            <a:r>
              <a:rPr lang="en-US" dirty="0" err="1"/>
              <a:t>en-gb</a:t>
            </a:r>
            <a:r>
              <a:rPr lang="en-US" dirty="0"/>
              <a:t>/azure/governance/resource-graph/</a:t>
            </a:r>
            <a:r>
              <a:rPr lang="en-US" dirty="0" err="1"/>
              <a:t>alerts-query-quickstart?tabs</a:t>
            </a:r>
            <a:r>
              <a:rPr lang="en-US" dirty="0"/>
              <a:t>=azure-resource-graph</a:t>
            </a:r>
          </a:p>
        </p:txBody>
      </p:sp>
      <p:sp>
        <p:nvSpPr>
          <p:cNvPr id="4" name="Slide Number Placeholder 3"/>
          <p:cNvSpPr>
            <a:spLocks noGrp="1"/>
          </p:cNvSpPr>
          <p:nvPr>
            <p:ph type="sldNum" sz="quarter" idx="5"/>
          </p:nvPr>
        </p:nvSpPr>
        <p:spPr/>
        <p:txBody>
          <a:bodyPr/>
          <a:lstStyle/>
          <a:p>
            <a:fld id="{A7839206-A81D-4F76-8486-302187992F73}" type="slidenum">
              <a:rPr lang="en-GB" smtClean="0"/>
              <a:t>26</a:t>
            </a:fld>
            <a:endParaRPr lang="en-GB"/>
          </a:p>
        </p:txBody>
      </p:sp>
    </p:spTree>
    <p:extLst>
      <p:ext uri="{BB962C8B-B14F-4D97-AF65-F5344CB8AC3E}">
        <p14:creationId xmlns:p14="http://schemas.microsoft.com/office/powerpoint/2010/main" val="1598607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BBAB2-BD23-23B1-0B63-972CD6FE96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2E1528-94A5-A3E4-FAB1-A2312E107D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9EB329-974C-B8CB-1690-1881668DA8B3}"/>
              </a:ext>
            </a:extLst>
          </p:cNvPr>
          <p:cNvSpPr>
            <a:spLocks noGrp="1"/>
          </p:cNvSpPr>
          <p:nvPr>
            <p:ph type="body" idx="1"/>
          </p:nvPr>
        </p:nvSpPr>
        <p:spPr/>
        <p:txBody>
          <a:bodyPr/>
          <a:lstStyle/>
          <a:p>
            <a:pPr marL="914400" lvl="1" indent="-457200">
              <a:buFont typeface="+mj-lt"/>
              <a:buAutoNum type="arabicPeriod"/>
            </a:pPr>
            <a:endParaRPr lang="en-GB" dirty="0"/>
          </a:p>
        </p:txBody>
      </p:sp>
      <p:sp>
        <p:nvSpPr>
          <p:cNvPr id="4" name="Slide Number Placeholder 3">
            <a:extLst>
              <a:ext uri="{FF2B5EF4-FFF2-40B4-BE49-F238E27FC236}">
                <a16:creationId xmlns:a16="http://schemas.microsoft.com/office/drawing/2014/main" id="{E9F32EF5-CA70-7529-6AFF-12FD8F61AD3B}"/>
              </a:ext>
            </a:extLst>
          </p:cNvPr>
          <p:cNvSpPr>
            <a:spLocks noGrp="1"/>
          </p:cNvSpPr>
          <p:nvPr>
            <p:ph type="sldNum" sz="quarter" idx="5"/>
          </p:nvPr>
        </p:nvSpPr>
        <p:spPr/>
        <p:txBody>
          <a:bodyPr/>
          <a:lstStyle/>
          <a:p>
            <a:fld id="{A7839206-A81D-4F76-8486-302187992F73}" type="slidenum">
              <a:rPr lang="en-GB" smtClean="0"/>
              <a:t>27</a:t>
            </a:fld>
            <a:endParaRPr lang="en-GB"/>
          </a:p>
        </p:txBody>
      </p:sp>
    </p:spTree>
    <p:extLst>
      <p:ext uri="{BB962C8B-B14F-4D97-AF65-F5344CB8AC3E}">
        <p14:creationId xmlns:p14="http://schemas.microsoft.com/office/powerpoint/2010/main" val="36325138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BB132-24C8-AE0A-90B5-93EAE7E67A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2A1C77-7C29-F406-0A7F-46142069C7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349D2C-BAC0-50DD-C455-B9B0F74CF7BB}"/>
              </a:ext>
            </a:extLst>
          </p:cNvPr>
          <p:cNvSpPr>
            <a:spLocks noGrp="1"/>
          </p:cNvSpPr>
          <p:nvPr>
            <p:ph type="body" idx="1"/>
          </p:nvPr>
        </p:nvSpPr>
        <p:spPr/>
        <p:txBody>
          <a:bodyPr/>
          <a:lstStyle/>
          <a:p>
            <a:pPr marL="914400" lvl="1" indent="-457200">
              <a:buFont typeface="+mj-lt"/>
              <a:buAutoNum type="arabicPeriod"/>
            </a:pPr>
            <a:endParaRPr lang="en-GB" dirty="0"/>
          </a:p>
        </p:txBody>
      </p:sp>
      <p:sp>
        <p:nvSpPr>
          <p:cNvPr id="4" name="Slide Number Placeholder 3">
            <a:extLst>
              <a:ext uri="{FF2B5EF4-FFF2-40B4-BE49-F238E27FC236}">
                <a16:creationId xmlns:a16="http://schemas.microsoft.com/office/drawing/2014/main" id="{F1B2F6D5-997E-19E6-6277-BECB52F3FA2B}"/>
              </a:ext>
            </a:extLst>
          </p:cNvPr>
          <p:cNvSpPr>
            <a:spLocks noGrp="1"/>
          </p:cNvSpPr>
          <p:nvPr>
            <p:ph type="sldNum" sz="quarter" idx="5"/>
          </p:nvPr>
        </p:nvSpPr>
        <p:spPr/>
        <p:txBody>
          <a:bodyPr/>
          <a:lstStyle/>
          <a:p>
            <a:fld id="{A7839206-A81D-4F76-8486-302187992F73}" type="slidenum">
              <a:rPr lang="en-GB" smtClean="0"/>
              <a:t>31</a:t>
            </a:fld>
            <a:endParaRPr lang="en-GB"/>
          </a:p>
        </p:txBody>
      </p:sp>
    </p:spTree>
    <p:extLst>
      <p:ext uri="{BB962C8B-B14F-4D97-AF65-F5344CB8AC3E}">
        <p14:creationId xmlns:p14="http://schemas.microsoft.com/office/powerpoint/2010/main" val="3648069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a:p>
        </p:txBody>
      </p:sp>
      <p:sp>
        <p:nvSpPr>
          <p:cNvPr id="4" name="Espace réservé du numéro de diapositive 3"/>
          <p:cNvSpPr>
            <a:spLocks noGrp="1"/>
          </p:cNvSpPr>
          <p:nvPr>
            <p:ph type="sldNum" sz="quarter" idx="5"/>
          </p:nvPr>
        </p:nvSpPr>
        <p:spPr/>
        <p:txBody>
          <a:bodyPr/>
          <a:lstStyle/>
          <a:p>
            <a:fld id="{A7839206-A81D-4F76-8486-302187992F73}" type="slidenum">
              <a:rPr lang="en-GB" smtClean="0"/>
              <a:t>33</a:t>
            </a:fld>
            <a:endParaRPr lang="en-GB"/>
          </a:p>
        </p:txBody>
      </p:sp>
    </p:spTree>
    <p:extLst>
      <p:ext uri="{BB962C8B-B14F-4D97-AF65-F5344CB8AC3E}">
        <p14:creationId xmlns:p14="http://schemas.microsoft.com/office/powerpoint/2010/main" val="1686308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0342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ly black">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341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ly blue">
    <p:bg>
      <p:bgPr>
        <a:solidFill>
          <a:srgbClr val="34629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8615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ly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1666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5659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044C786-AD10-7D88-1933-9D7659D256DF}"/>
              </a:ext>
            </a:extLst>
          </p:cNvPr>
          <p:cNvSpPr>
            <a:spLocks noGrp="1"/>
          </p:cNvSpPr>
          <p:nvPr>
            <p:ph idx="1"/>
          </p:nvPr>
        </p:nvSpPr>
        <p:spPr>
          <a:xfrm>
            <a:off x="3467314" y="1852863"/>
            <a:ext cx="7886486" cy="4324100"/>
          </a:xfrm>
          <a:prstGeom prst="rect">
            <a:avLst/>
          </a:prstGeom>
        </p:spPr>
        <p:txBody>
          <a:bodyPr vert="horz" lIns="91440" tIns="45720" rIns="91440" bIns="45720" rtlCol="0">
            <a:normAutofit/>
          </a:bodyPr>
          <a:lstStyle/>
          <a:p>
            <a:pPr lvl="0"/>
            <a:r>
              <a:rPr lang="en-US"/>
              <a:t>Your bio</a:t>
            </a:r>
            <a:endParaRPr lang="en-GB"/>
          </a:p>
        </p:txBody>
      </p:sp>
      <p:sp>
        <p:nvSpPr>
          <p:cNvPr id="4" name="Title Placeholder 1">
            <a:extLst>
              <a:ext uri="{FF2B5EF4-FFF2-40B4-BE49-F238E27FC236}">
                <a16:creationId xmlns:a16="http://schemas.microsoft.com/office/drawing/2014/main" id="{1BA7B894-6BCA-2B29-BA04-8AAB1735BFFD}"/>
              </a:ext>
            </a:extLst>
          </p:cNvPr>
          <p:cNvSpPr>
            <a:spLocks noGrp="1"/>
          </p:cNvSpPr>
          <p:nvPr>
            <p:ph type="title"/>
          </p:nvPr>
        </p:nvSpPr>
        <p:spPr>
          <a:xfrm>
            <a:off x="3467313" y="324853"/>
            <a:ext cx="7886485" cy="1325563"/>
          </a:xfrm>
          <a:prstGeom prst="rect">
            <a:avLst/>
          </a:prstGeom>
        </p:spPr>
        <p:txBody>
          <a:bodyPr vert="horz" lIns="91440" tIns="45720" rIns="91440" bIns="45720" rtlCol="0" anchor="ctr">
            <a:normAutofit/>
          </a:bodyPr>
          <a:lstStyle/>
          <a:p>
            <a:r>
              <a:rPr lang="en-US"/>
              <a:t>Speaker’s name</a:t>
            </a:r>
            <a:endParaRPr lang="en-GB"/>
          </a:p>
        </p:txBody>
      </p:sp>
    </p:spTree>
    <p:extLst>
      <p:ext uri="{BB962C8B-B14F-4D97-AF65-F5344CB8AC3E}">
        <p14:creationId xmlns:p14="http://schemas.microsoft.com/office/powerpoint/2010/main" val="1603374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3D202-8931-7832-6C93-86B82B68652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25BBC0C-D418-7F75-653D-7BD01A94CB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51575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93987-4D9C-734A-F0DD-FA7C5E5BFD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48C8F2A-06F7-926F-11A3-0E18B5E012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847425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FF0C1-723F-8331-7203-2AD1CA3085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200EBD9-8D5A-98D4-BC92-CE5E1C7560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141723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3D202-8931-7832-6C93-86B82B68652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25BBC0C-D418-7F75-653D-7BD01A94CB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2802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93987-4D9C-734A-F0DD-FA7C5E5BFD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48C8F2A-06F7-926F-11A3-0E18B5E012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76032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9D26B-2105-B752-1559-A5E7E35806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0CB2030-5E24-3C76-AF6E-BEABDB29D9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0EF88D-DEBE-FA6D-7C2B-49DE203B99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530253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0F04B-2070-B32A-26F9-689ACEB1798E}"/>
              </a:ext>
            </a:extLst>
          </p:cNvPr>
          <p:cNvSpPr>
            <a:spLocks noGrp="1"/>
          </p:cNvSpPr>
          <p:nvPr>
            <p:ph type="title"/>
          </p:nvPr>
        </p:nvSpPr>
        <p:spPr>
          <a:xfrm>
            <a:off x="839788" y="365125"/>
            <a:ext cx="9721532"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4351C8F-389D-6D1D-529E-8F7B5D2561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7AB8FD-3AC0-420A-CD1A-4BB2C4DEB2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2E0881B-0B39-A9CB-08B8-7FA6C0D98A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27CCB1-27F7-D503-AC18-183950FAE8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547285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E4D49-1A5A-DFCF-8CA7-93B2889E2B5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165019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4708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FA22-F0C4-1510-0E4C-953C802C4E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786368D-1D41-F3F9-3D07-85EFF2CFBC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B83765E-1500-5380-7D29-9BED9AFAFC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9641347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19606-9316-A7A0-65BC-635A494F00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3637042-5D0D-C650-5659-376D12BF8F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9EF090A-47F3-1576-D5A3-105EE33762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74897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3B042-3840-06BB-E1DF-E9094D81989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DCC1C5E-7112-083E-8A66-4B30A4DD39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0273646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slideLayout" Target="../slideLayouts/slideLayout8.xml"/><Relationship Id="rId7" Type="http://schemas.openxmlformats.org/officeDocument/2006/relationships/image" Target="../media/image5.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image" Target="../media/image4.svg"/><Relationship Id="rId11" Type="http://schemas.openxmlformats.org/officeDocument/2006/relationships/image" Target="../media/image8.png"/><Relationship Id="rId5" Type="http://schemas.openxmlformats.org/officeDocument/2006/relationships/image" Target="../media/image1.png"/><Relationship Id="rId10" Type="http://schemas.microsoft.com/office/2007/relationships/hdphoto" Target="../media/hdphoto1.wdp"/><Relationship Id="rId4" Type="http://schemas.openxmlformats.org/officeDocument/2006/relationships/theme" Target="../theme/theme3.xml"/><Relationship Id="rId9" Type="http://schemas.openxmlformats.org/officeDocument/2006/relationships/image" Target="../media/image7.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image" Target="../media/image9.svg"/><Relationship Id="rId18" Type="http://schemas.openxmlformats.org/officeDocument/2006/relationships/image" Target="../media/image7.png"/><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image" Target="../media/image1.png"/><Relationship Id="rId17" Type="http://schemas.openxmlformats.org/officeDocument/2006/relationships/image" Target="../media/image6.svg"/><Relationship Id="rId2" Type="http://schemas.openxmlformats.org/officeDocument/2006/relationships/slideLayout" Target="../slideLayouts/slideLayout10.xml"/><Relationship Id="rId16" Type="http://schemas.openxmlformats.org/officeDocument/2006/relationships/image" Target="../media/image5.png"/><Relationship Id="rId20" Type="http://schemas.openxmlformats.org/officeDocument/2006/relationships/image" Target="../media/image8.png"/><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theme" Target="../theme/theme4.xml"/><Relationship Id="rId5" Type="http://schemas.openxmlformats.org/officeDocument/2006/relationships/slideLayout" Target="../slideLayouts/slideLayout13.xml"/><Relationship Id="rId15" Type="http://schemas.openxmlformats.org/officeDocument/2006/relationships/image" Target="../media/image4.svg"/><Relationship Id="rId10" Type="http://schemas.openxmlformats.org/officeDocument/2006/relationships/slideLayout" Target="../slideLayouts/slideLayout18.xml"/><Relationship Id="rId19" Type="http://schemas.microsoft.com/office/2007/relationships/hdphoto" Target="../media/hdphoto1.wdp"/><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image" Target="../media/image10.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Image 13" descr="Une image contenant texte&#10;&#10;Description générée automatiquement">
            <a:extLst>
              <a:ext uri="{FF2B5EF4-FFF2-40B4-BE49-F238E27FC236}">
                <a16:creationId xmlns:a16="http://schemas.microsoft.com/office/drawing/2014/main" id="{46B6AA1A-3151-3AC2-83FB-1C6A4D626CEE}"/>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pic>
        <p:nvPicPr>
          <p:cNvPr id="3" name="Image 2">
            <a:extLst>
              <a:ext uri="{FF2B5EF4-FFF2-40B4-BE49-F238E27FC236}">
                <a16:creationId xmlns:a16="http://schemas.microsoft.com/office/drawing/2014/main" id="{E38E8CAF-D224-9556-511F-8D65E9383F2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10591" y="137310"/>
            <a:ext cx="4166241" cy="1426795"/>
          </a:xfrm>
          <a:prstGeom prst="rect">
            <a:avLst/>
          </a:prstGeom>
        </p:spPr>
      </p:pic>
      <p:pic>
        <p:nvPicPr>
          <p:cNvPr id="8" name="Image 7" descr="Une image contenant Police, Graphique, typographie, graphisme&#10;&#10;Le contenu généré par l’IA peut être incorrect.">
            <a:extLst>
              <a:ext uri="{FF2B5EF4-FFF2-40B4-BE49-F238E27FC236}">
                <a16:creationId xmlns:a16="http://schemas.microsoft.com/office/drawing/2014/main" id="{B287398A-20D9-4E87-9997-CB57AB2CCEE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08900" y="6074646"/>
            <a:ext cx="2471121" cy="372258"/>
          </a:xfrm>
          <a:prstGeom prst="rect">
            <a:avLst/>
          </a:prstGeom>
        </p:spPr>
      </p:pic>
    </p:spTree>
    <p:extLst>
      <p:ext uri="{BB962C8B-B14F-4D97-AF65-F5344CB8AC3E}">
        <p14:creationId xmlns:p14="http://schemas.microsoft.com/office/powerpoint/2010/main" val="1739929472"/>
      </p:ext>
    </p:extLst>
  </p:cSld>
  <p:clrMap bg1="lt1" tx1="dk1" bg2="lt2" tx2="dk2" accent1="accent1" accent2="accent2" accent3="accent3" accent4="accent4" accent5="accent5" accent6="accent6" hlink="hlink" folHlink="folHlink"/>
  <p:sldLayoutIdLst>
    <p:sldLayoutId id="2147483649" r:id="rId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427B60B6-58D4-7B9F-C29A-CE66AF93F596}"/>
              </a:ext>
            </a:extLst>
          </p:cNvPr>
          <p:cNvSpPr txBox="1">
            <a:spLocks/>
          </p:cNvSpPr>
          <p:nvPr userDrawn="1"/>
        </p:nvSpPr>
        <p:spPr>
          <a:xfrm>
            <a:off x="0" y="1"/>
            <a:ext cx="12192000" cy="6858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25000">
                <a:latin typeface="Stencil" panose="040409050D0802020404" pitchFamily="82" charset="0"/>
              </a:rPr>
              <a:t> </a:t>
            </a:r>
            <a:endParaRPr lang="en-DE" sz="25000">
              <a:latin typeface="Stencil" panose="040409050D0802020404" pitchFamily="82" charset="0"/>
            </a:endParaRPr>
          </a:p>
        </p:txBody>
      </p:sp>
    </p:spTree>
    <p:extLst>
      <p:ext uri="{BB962C8B-B14F-4D97-AF65-F5344CB8AC3E}">
        <p14:creationId xmlns:p14="http://schemas.microsoft.com/office/powerpoint/2010/main" val="2018877621"/>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10;&#10;Description générée automatiquement">
            <a:extLst>
              <a:ext uri="{FF2B5EF4-FFF2-40B4-BE49-F238E27FC236}">
                <a16:creationId xmlns:a16="http://schemas.microsoft.com/office/drawing/2014/main" id="{E6A8F4F5-7628-E9E8-23A7-09169C6794F7}"/>
              </a:ext>
            </a:extLst>
          </p:cNvPr>
          <p:cNvPicPr>
            <a:picLocks noGrp="1" noRot="1" noMove="1" noResize="1" noEditPoints="1" noAdjustHandles="1" noChangeArrowheads="1" noChangeShapeType="1" noCrop="1"/>
          </p:cNvPicPr>
          <p:nvPr userDrawn="1"/>
        </p:nvPicPr>
        <p:blipFill>
          <a:blip r:embed="rId5">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pic>
        <p:nvPicPr>
          <p:cNvPr id="5" name="Graphique 4">
            <a:extLst>
              <a:ext uri="{FF2B5EF4-FFF2-40B4-BE49-F238E27FC236}">
                <a16:creationId xmlns:a16="http://schemas.microsoft.com/office/drawing/2014/main" id="{5940FBC8-A0C6-2B5F-1902-D32A817C9993}"/>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6702387" y="6400644"/>
            <a:ext cx="233674" cy="233674"/>
          </a:xfrm>
          <a:prstGeom prst="rect">
            <a:avLst/>
          </a:prstGeom>
        </p:spPr>
      </p:pic>
      <p:sp>
        <p:nvSpPr>
          <p:cNvPr id="2" name="Espace réservé du numéro de diapositive 5">
            <a:extLst>
              <a:ext uri="{FF2B5EF4-FFF2-40B4-BE49-F238E27FC236}">
                <a16:creationId xmlns:a16="http://schemas.microsoft.com/office/drawing/2014/main" id="{7E956AE5-463F-2CA7-0F10-40FD22C9A157}"/>
              </a:ext>
            </a:extLst>
          </p:cNvPr>
          <p:cNvSpPr txBox="1">
            <a:spLocks/>
          </p:cNvSpPr>
          <p:nvPr userDrawn="1"/>
        </p:nvSpPr>
        <p:spPr>
          <a:xfrm>
            <a:off x="8143986" y="6335963"/>
            <a:ext cx="227396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a:solidFill>
                  <a:srgbClr val="346296"/>
                </a:solidFill>
              </a:rPr>
              <a:t>@</a:t>
            </a:r>
            <a:r>
              <a:rPr lang="en-GB" b="1" dirty="0" err="1">
                <a:solidFill>
                  <a:srgbClr val="346296"/>
                </a:solidFill>
              </a:rPr>
              <a:t>PalmEmanuel</a:t>
            </a:r>
            <a:endParaRPr lang="en-GB" b="1" dirty="0">
              <a:solidFill>
                <a:srgbClr val="346296"/>
              </a:solidFill>
            </a:endParaRPr>
          </a:p>
        </p:txBody>
      </p:sp>
      <p:pic>
        <p:nvPicPr>
          <p:cNvPr id="6" name="Image 10" descr="Une image contenant capture d’écran, ligne, Graphique, Bleu électrique&#10;&#10;Description générée automatiquement">
            <a:extLst>
              <a:ext uri="{FF2B5EF4-FFF2-40B4-BE49-F238E27FC236}">
                <a16:creationId xmlns:a16="http://schemas.microsoft.com/office/drawing/2014/main" id="{04C92A29-27F1-23CA-A950-F868560CAE6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7210863" y="6405925"/>
            <a:ext cx="248745" cy="254529"/>
          </a:xfrm>
          <a:prstGeom prst="rect">
            <a:avLst/>
          </a:prstGeom>
        </p:spPr>
      </p:pic>
      <p:pic>
        <p:nvPicPr>
          <p:cNvPr id="8" name="Graphic 56">
            <a:extLst>
              <a:ext uri="{FF2B5EF4-FFF2-40B4-BE49-F238E27FC236}">
                <a16:creationId xmlns:a16="http://schemas.microsoft.com/office/drawing/2014/main" id="{729514D9-8B11-4B59-6F59-631E5730CF72}"/>
              </a:ext>
            </a:extLst>
          </p:cNvPr>
          <p:cNvPicPr>
            <a:picLocks noChangeAspect="1"/>
          </p:cNvPicPr>
          <p:nvPr userDrawn="1"/>
        </p:nvPicPr>
        <p:blipFill>
          <a:blip>
            <a:extLst>
              <a:ext uri="{96DAC541-7B7A-43D3-8B79-37D633B846F1}">
                <asvg:svgBlip xmlns:asvg="http://schemas.microsoft.com/office/drawing/2016/SVG/main" r:embed="rId8"/>
              </a:ext>
            </a:extLst>
          </a:blip>
          <a:srcRect/>
          <a:stretch/>
        </p:blipFill>
        <p:spPr>
          <a:xfrm>
            <a:off x="7501865" y="6368594"/>
            <a:ext cx="327439" cy="320756"/>
          </a:xfrm>
          <a:prstGeom prst="rect">
            <a:avLst/>
          </a:prstGeom>
          <a:effectLst/>
        </p:spPr>
      </p:pic>
      <p:pic>
        <p:nvPicPr>
          <p:cNvPr id="9" name="Picture 8" descr="A blue and black logo&#10;&#10;Description automatically generated">
            <a:extLst>
              <a:ext uri="{FF2B5EF4-FFF2-40B4-BE49-F238E27FC236}">
                <a16:creationId xmlns:a16="http://schemas.microsoft.com/office/drawing/2014/main" id="{61AD0133-BB3C-FAE9-89A3-02C48415F64E}"/>
              </a:ext>
            </a:extLst>
          </p:cNvPr>
          <p:cNvPicPr>
            <a:picLocks noChangeAspect="1"/>
          </p:cNvPicPr>
          <p:nvPr userDrawn="1"/>
        </p:nvPicPr>
        <p:blipFill>
          <a:blip r:embed="rId9">
            <a:extLst>
              <a:ext uri="{BEBA8EAE-BF5A-486C-A8C5-ECC9F3942E4B}">
                <a14:imgProps xmlns:a14="http://schemas.microsoft.com/office/drawing/2010/main">
                  <a14:imgLayer r:embed="rId10">
                    <a14:imgEffect>
                      <a14:colorTemperature colorTemp="11500"/>
                    </a14:imgEffect>
                    <a14:imgEffect>
                      <a14:saturation sat="82000"/>
                    </a14:imgEffect>
                    <a14:imgEffect>
                      <a14:brightnessContrast bright="-5000" contrast="-1000"/>
                    </a14:imgEffect>
                  </a14:imgLayer>
                </a14:imgProps>
              </a:ext>
              <a:ext uri="{28A0092B-C50C-407E-A947-70E740481C1C}">
                <a14:useLocalDpi xmlns:a14="http://schemas.microsoft.com/office/drawing/2010/main" val="0"/>
              </a:ext>
            </a:extLst>
          </a:blip>
          <a:stretch>
            <a:fillRect/>
          </a:stretch>
        </p:blipFill>
        <p:spPr>
          <a:xfrm>
            <a:off x="7888187" y="6381655"/>
            <a:ext cx="299384" cy="299382"/>
          </a:xfrm>
          <a:prstGeom prst="rect">
            <a:avLst/>
          </a:prstGeom>
        </p:spPr>
      </p:pic>
      <p:pic>
        <p:nvPicPr>
          <p:cNvPr id="10" name="Picture 9" descr="A blue butterfly on a black background&#10;&#10;AI-generated content may be incorrect.">
            <a:extLst>
              <a:ext uri="{FF2B5EF4-FFF2-40B4-BE49-F238E27FC236}">
                <a16:creationId xmlns:a16="http://schemas.microsoft.com/office/drawing/2014/main" id="{0827C68E-851E-36D5-3B0B-062C081B896F}"/>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6804136" y="6381655"/>
            <a:ext cx="344286" cy="300336"/>
          </a:xfrm>
          <a:prstGeom prst="rect">
            <a:avLst/>
          </a:prstGeom>
        </p:spPr>
      </p:pic>
    </p:spTree>
    <p:extLst>
      <p:ext uri="{BB962C8B-B14F-4D97-AF65-F5344CB8AC3E}">
        <p14:creationId xmlns:p14="http://schemas.microsoft.com/office/powerpoint/2010/main" val="1520531744"/>
      </p:ext>
    </p:extLst>
  </p:cSld>
  <p:clrMap bg1="lt1" tx1="dk1" bg2="lt2" tx2="dk2" accent1="accent1" accent2="accent2" accent3="accent3" accent4="accent4" accent5="accent5" accent6="accent6" hlink="hlink" folHlink="folHlink"/>
  <p:sldLayoutIdLst>
    <p:sldLayoutId id="2147483696" r:id="rId1"/>
    <p:sldLayoutId id="2147483704" r:id="rId2"/>
    <p:sldLayoutId id="2147483706" r:id="rId3"/>
  </p:sldLayoutIdLst>
  <p:txStyles>
    <p:title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10;&#10;Description générée automatiquement">
            <a:extLst>
              <a:ext uri="{FF2B5EF4-FFF2-40B4-BE49-F238E27FC236}">
                <a16:creationId xmlns:a16="http://schemas.microsoft.com/office/drawing/2014/main" id="{1B01AB94-EEA2-3211-2551-34A16625A107}"/>
              </a:ext>
            </a:extLst>
          </p:cNvPr>
          <p:cNvPicPr>
            <a:picLocks noGrp="1" noRot="1" noChangeAspect="1" noMove="1" noResize="1" noEditPoints="1" noAdjustHandles="1" noChangeArrowheads="1" noChangeShapeType="1" noCrop="1"/>
          </p:cNvPicPr>
          <p:nvPr userDrawn="1"/>
        </p:nvPicPr>
        <p:blipFill>
          <a:blip r:embed="rId12">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sp>
        <p:nvSpPr>
          <p:cNvPr id="2" name="Title Placeholder 1">
            <a:extLst>
              <a:ext uri="{FF2B5EF4-FFF2-40B4-BE49-F238E27FC236}">
                <a16:creationId xmlns:a16="http://schemas.microsoft.com/office/drawing/2014/main" id="{4157010D-0C09-8FBA-F719-A4ED7C3FC593}"/>
              </a:ext>
            </a:extLst>
          </p:cNvPr>
          <p:cNvSpPr>
            <a:spLocks noGrp="1"/>
          </p:cNvSpPr>
          <p:nvPr>
            <p:ph type="title"/>
          </p:nvPr>
        </p:nvSpPr>
        <p:spPr>
          <a:xfrm>
            <a:off x="838200" y="365125"/>
            <a:ext cx="973328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BC054D6-CB61-3142-2199-DDEA2FD483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Graphique 7">
            <a:extLst>
              <a:ext uri="{FF2B5EF4-FFF2-40B4-BE49-F238E27FC236}">
                <a16:creationId xmlns:a16="http://schemas.microsoft.com/office/drawing/2014/main" id="{59BD5C5E-FB1B-A32E-1927-AB6A3C9A6664}"/>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10822738" y="196674"/>
            <a:ext cx="1062038" cy="904875"/>
          </a:xfrm>
          <a:prstGeom prst="rect">
            <a:avLst/>
          </a:prstGeom>
        </p:spPr>
      </p:pic>
      <p:pic>
        <p:nvPicPr>
          <p:cNvPr id="12" name="Image 11" descr="Une image contenant Police, Graphique, capture d’écran, graphisme&#10;&#10;Le contenu généré par l’IA peut être incorrect.">
            <a:extLst>
              <a:ext uri="{FF2B5EF4-FFF2-40B4-BE49-F238E27FC236}">
                <a16:creationId xmlns:a16="http://schemas.microsoft.com/office/drawing/2014/main" id="{9DA822DC-EA6F-C834-636F-0CFA0983C12B}"/>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799716" y="1147469"/>
            <a:ext cx="1169451" cy="376843"/>
          </a:xfrm>
          <a:prstGeom prst="rect">
            <a:avLst/>
          </a:prstGeom>
        </p:spPr>
      </p:pic>
      <p:pic>
        <p:nvPicPr>
          <p:cNvPr id="24" name="Graphique 23">
            <a:extLst>
              <a:ext uri="{FF2B5EF4-FFF2-40B4-BE49-F238E27FC236}">
                <a16:creationId xmlns:a16="http://schemas.microsoft.com/office/drawing/2014/main" id="{14057C36-7CA7-EB30-FD33-9F60CDAC5026}"/>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6702387" y="6400644"/>
            <a:ext cx="233674" cy="233674"/>
          </a:xfrm>
          <a:prstGeom prst="rect">
            <a:avLst/>
          </a:prstGeom>
        </p:spPr>
      </p:pic>
      <p:sp>
        <p:nvSpPr>
          <p:cNvPr id="4" name="Espace réservé du numéro de diapositive 5">
            <a:extLst>
              <a:ext uri="{FF2B5EF4-FFF2-40B4-BE49-F238E27FC236}">
                <a16:creationId xmlns:a16="http://schemas.microsoft.com/office/drawing/2014/main" id="{C90A4D89-6DDA-98F5-5988-356E7336010B}"/>
              </a:ext>
            </a:extLst>
          </p:cNvPr>
          <p:cNvSpPr txBox="1">
            <a:spLocks/>
          </p:cNvSpPr>
          <p:nvPr userDrawn="1"/>
        </p:nvSpPr>
        <p:spPr>
          <a:xfrm>
            <a:off x="8143986" y="6335963"/>
            <a:ext cx="227396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a:solidFill>
                  <a:srgbClr val="346296"/>
                </a:solidFill>
              </a:rPr>
              <a:t>@</a:t>
            </a:r>
            <a:r>
              <a:rPr lang="en-GB" b="1" dirty="0" err="1">
                <a:solidFill>
                  <a:srgbClr val="346296"/>
                </a:solidFill>
              </a:rPr>
              <a:t>PalmEmanuel</a:t>
            </a:r>
            <a:endParaRPr lang="en-GB" b="1" dirty="0">
              <a:solidFill>
                <a:srgbClr val="346296"/>
              </a:solidFill>
            </a:endParaRPr>
          </a:p>
        </p:txBody>
      </p:sp>
      <p:pic>
        <p:nvPicPr>
          <p:cNvPr id="5" name="Image 10" descr="Une image contenant capture d’écran, ligne, Graphique, Bleu électrique&#10;&#10;Description générée automatiquement">
            <a:extLst>
              <a:ext uri="{FF2B5EF4-FFF2-40B4-BE49-F238E27FC236}">
                <a16:creationId xmlns:a16="http://schemas.microsoft.com/office/drawing/2014/main" id="{E03B0DAE-A785-6DA0-BF26-61009CC65B5F}"/>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7210863" y="6405925"/>
            <a:ext cx="248745" cy="254529"/>
          </a:xfrm>
          <a:prstGeom prst="rect">
            <a:avLst/>
          </a:prstGeom>
        </p:spPr>
      </p:pic>
      <p:pic>
        <p:nvPicPr>
          <p:cNvPr id="6" name="Graphic 56">
            <a:extLst>
              <a:ext uri="{FF2B5EF4-FFF2-40B4-BE49-F238E27FC236}">
                <a16:creationId xmlns:a16="http://schemas.microsoft.com/office/drawing/2014/main" id="{357E8442-4C45-BEEC-9FC8-3C018EF3ED16}"/>
              </a:ext>
            </a:extLst>
          </p:cNvPr>
          <p:cNvPicPr>
            <a:picLocks noChangeAspect="1"/>
          </p:cNvPicPr>
          <p:nvPr userDrawn="1"/>
        </p:nvPicPr>
        <p:blipFill>
          <a:blip>
            <a:extLst>
              <a:ext uri="{96DAC541-7B7A-43D3-8B79-37D633B846F1}">
                <asvg:svgBlip xmlns:asvg="http://schemas.microsoft.com/office/drawing/2016/SVG/main" r:embed="rId17"/>
              </a:ext>
            </a:extLst>
          </a:blip>
          <a:srcRect/>
          <a:stretch/>
        </p:blipFill>
        <p:spPr>
          <a:xfrm>
            <a:off x="7501865" y="6368594"/>
            <a:ext cx="327439" cy="320756"/>
          </a:xfrm>
          <a:prstGeom prst="rect">
            <a:avLst/>
          </a:prstGeom>
          <a:effectLst/>
        </p:spPr>
      </p:pic>
      <p:pic>
        <p:nvPicPr>
          <p:cNvPr id="9" name="Picture 8" descr="A blue and black logo&#10;&#10;Description automatically generated">
            <a:extLst>
              <a:ext uri="{FF2B5EF4-FFF2-40B4-BE49-F238E27FC236}">
                <a16:creationId xmlns:a16="http://schemas.microsoft.com/office/drawing/2014/main" id="{00343B52-63FF-5962-24A0-33E05E14BE13}"/>
              </a:ext>
            </a:extLst>
          </p:cNvPr>
          <p:cNvPicPr>
            <a:picLocks noChangeAspect="1"/>
          </p:cNvPicPr>
          <p:nvPr userDrawn="1"/>
        </p:nvPicPr>
        <p:blipFill>
          <a:blip r:embed="rId18">
            <a:extLst>
              <a:ext uri="{BEBA8EAE-BF5A-486C-A8C5-ECC9F3942E4B}">
                <a14:imgProps xmlns:a14="http://schemas.microsoft.com/office/drawing/2010/main">
                  <a14:imgLayer r:embed="rId19">
                    <a14:imgEffect>
                      <a14:colorTemperature colorTemp="11500"/>
                    </a14:imgEffect>
                    <a14:imgEffect>
                      <a14:saturation sat="82000"/>
                    </a14:imgEffect>
                    <a14:imgEffect>
                      <a14:brightnessContrast bright="-5000" contrast="-1000"/>
                    </a14:imgEffect>
                  </a14:imgLayer>
                </a14:imgProps>
              </a:ext>
              <a:ext uri="{28A0092B-C50C-407E-A947-70E740481C1C}">
                <a14:useLocalDpi xmlns:a14="http://schemas.microsoft.com/office/drawing/2010/main" val="0"/>
              </a:ext>
            </a:extLst>
          </a:blip>
          <a:stretch>
            <a:fillRect/>
          </a:stretch>
        </p:blipFill>
        <p:spPr>
          <a:xfrm>
            <a:off x="7888187" y="6381655"/>
            <a:ext cx="299384" cy="299382"/>
          </a:xfrm>
          <a:prstGeom prst="rect">
            <a:avLst/>
          </a:prstGeom>
        </p:spPr>
      </p:pic>
      <p:pic>
        <p:nvPicPr>
          <p:cNvPr id="11" name="Picture 10" descr="A blue butterfly on a black background&#10;&#10;AI-generated content may be incorrect.">
            <a:extLst>
              <a:ext uri="{FF2B5EF4-FFF2-40B4-BE49-F238E27FC236}">
                <a16:creationId xmlns:a16="http://schemas.microsoft.com/office/drawing/2014/main" id="{29C3A7CF-7948-0BAB-159D-6A4CA435DF0B}"/>
              </a:ext>
            </a:extLst>
          </p:cNvPr>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a:xfrm>
            <a:off x="6804136" y="6381655"/>
            <a:ext cx="344286" cy="300336"/>
          </a:xfrm>
          <a:prstGeom prst="rect">
            <a:avLst/>
          </a:prstGeom>
        </p:spPr>
      </p:pic>
    </p:spTree>
    <p:extLst>
      <p:ext uri="{BB962C8B-B14F-4D97-AF65-F5344CB8AC3E}">
        <p14:creationId xmlns:p14="http://schemas.microsoft.com/office/powerpoint/2010/main" val="257769973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Lst>
  <p:txStyles>
    <p:titleStyle>
      <a:lvl1pPr algn="l" defTabSz="914400" rtl="0" eaLnBrk="1" latinLnBrk="0" hangingPunct="1">
        <a:lnSpc>
          <a:spcPct val="90000"/>
        </a:lnSpc>
        <a:spcBef>
          <a:spcPct val="0"/>
        </a:spcBef>
        <a:buNone/>
        <a:defRPr sz="5400" b="1" kern="120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3200" kern="1200">
          <a:solidFill>
            <a:srgbClr val="346297"/>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2.jpeg"/><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customXml" Target="../ink/ink1.xml"/><Relationship Id="rId7" Type="http://schemas.openxmlformats.org/officeDocument/2006/relationships/image" Target="../media/image90.png"/><Relationship Id="rId2" Type="http://schemas.openxmlformats.org/officeDocument/2006/relationships/image" Target="../media/image14.svg"/><Relationship Id="rId1" Type="http://schemas.openxmlformats.org/officeDocument/2006/relationships/slideLayout" Target="../slideLayouts/slideLayout10.xml"/><Relationship Id="rId6" Type="http://schemas.openxmlformats.org/officeDocument/2006/relationships/customXml" Target="../ink/ink2.xml"/><Relationship Id="rId5" Type="http://schemas.openxmlformats.org/officeDocument/2006/relationships/image" Target="../media/image80.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sv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4.sv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22.png"/><Relationship Id="rId4" Type="http://schemas.openxmlformats.org/officeDocument/2006/relationships/image" Target="../media/image21.jpeg"/></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26.jpg"/><Relationship Id="rId7" Type="http://schemas.openxmlformats.org/officeDocument/2006/relationships/image" Target="../media/image130.png"/><Relationship Id="rId2" Type="http://schemas.openxmlformats.org/officeDocument/2006/relationships/image" Target="../media/image25.png"/><Relationship Id="rId1" Type="http://schemas.openxmlformats.org/officeDocument/2006/relationships/slideLayout" Target="../slideLayouts/slideLayout6.xml"/><Relationship Id="rId5" Type="http://schemas.openxmlformats.org/officeDocument/2006/relationships/customXml" Target="../ink/ink3.xml"/><Relationship Id="rId4" Type="http://schemas.openxmlformats.org/officeDocument/2006/relationships/image" Target="../media/image27.png"/><Relationship Id="rId9" Type="http://schemas.openxmlformats.org/officeDocument/2006/relationships/image" Target="../media/image140.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22.png"/><Relationship Id="rId4" Type="http://schemas.openxmlformats.org/officeDocument/2006/relationships/image" Target="../media/image30.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8" Type="http://schemas.openxmlformats.org/officeDocument/2006/relationships/image" Target="../media/image36.png"/><Relationship Id="rId18" Type="http://schemas.openxmlformats.org/officeDocument/2006/relationships/customXml" Target="../ink/ink10.xml"/><Relationship Id="rId26" Type="http://schemas.openxmlformats.org/officeDocument/2006/relationships/image" Target="../media/image44.png"/><Relationship Id="rId3" Type="http://schemas.openxmlformats.org/officeDocument/2006/relationships/image" Target="../media/image33.svg"/><Relationship Id="rId21" Type="http://schemas.openxmlformats.org/officeDocument/2006/relationships/image" Target="../media/image41.png"/><Relationship Id="rId7" Type="http://schemas.openxmlformats.org/officeDocument/2006/relationships/customXml" Target="../ink/ink6.xml"/><Relationship Id="rId17" Type="http://schemas.openxmlformats.org/officeDocument/2006/relationships/image" Target="../media/image38.png"/><Relationship Id="rId25" Type="http://schemas.openxmlformats.org/officeDocument/2006/relationships/customXml" Target="../ink/ink13.xml"/><Relationship Id="rId2" Type="http://schemas.openxmlformats.org/officeDocument/2006/relationships/image" Target="../media/image32.svg"/><Relationship Id="rId16" Type="http://schemas.openxmlformats.org/officeDocument/2006/relationships/customXml" Target="../ink/ink9.xml"/><Relationship Id="rId20" Type="http://schemas.openxmlformats.org/officeDocument/2006/relationships/customXml" Target="../ink/ink11.xml"/><Relationship Id="rId1" Type="http://schemas.openxmlformats.org/officeDocument/2006/relationships/slideLayout" Target="../slideLayouts/slideLayout8.xml"/><Relationship Id="rId6" Type="http://schemas.openxmlformats.org/officeDocument/2006/relationships/image" Target="../media/image35.png"/><Relationship Id="rId11" Type="http://schemas.openxmlformats.org/officeDocument/2006/relationships/customXml" Target="../ink/ink8.xml"/><Relationship Id="rId24" Type="http://schemas.openxmlformats.org/officeDocument/2006/relationships/image" Target="../media/image43.png"/><Relationship Id="rId5" Type="http://schemas.openxmlformats.org/officeDocument/2006/relationships/customXml" Target="../ink/ink5.xml"/><Relationship Id="rId15" Type="http://schemas.openxmlformats.org/officeDocument/2006/relationships/image" Target="../media/image39.png"/><Relationship Id="rId23" Type="http://schemas.openxmlformats.org/officeDocument/2006/relationships/image" Target="../media/image42.png"/><Relationship Id="rId28" Type="http://schemas.openxmlformats.org/officeDocument/2006/relationships/image" Target="../media/image45.png"/><Relationship Id="rId10" Type="http://schemas.openxmlformats.org/officeDocument/2006/relationships/image" Target="../media/image37.png"/><Relationship Id="rId19" Type="http://schemas.openxmlformats.org/officeDocument/2006/relationships/image" Target="../media/image40.png"/><Relationship Id="rId4" Type="http://schemas.openxmlformats.org/officeDocument/2006/relationships/image" Target="../media/image34.svg"/><Relationship Id="rId9" Type="http://schemas.openxmlformats.org/officeDocument/2006/relationships/customXml" Target="../ink/ink7.xml"/><Relationship Id="rId22" Type="http://schemas.openxmlformats.org/officeDocument/2006/relationships/customXml" Target="../ink/ink12.xml"/><Relationship Id="rId27" Type="http://schemas.openxmlformats.org/officeDocument/2006/relationships/customXml" Target="../ink/ink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svg"/><Relationship Id="rId1" Type="http://schemas.openxmlformats.org/officeDocument/2006/relationships/slideLayout" Target="../slideLayouts/slideLayout8.xml"/><Relationship Id="rId4" Type="http://schemas.openxmlformats.org/officeDocument/2006/relationships/image" Target="../media/image14.svg"/></Relationships>
</file>

<file path=ppt/slides/_rels/slide29.xml.rels><?xml version="1.0" encoding="UTF-8" standalone="yes"?>
<Relationships xmlns="http://schemas.openxmlformats.org/package/2006/relationships"><Relationship Id="rId3" Type="http://schemas.openxmlformats.org/officeDocument/2006/relationships/image" Target="../media/image48.svg"/><Relationship Id="rId7" Type="http://schemas.openxmlformats.org/officeDocument/2006/relationships/image" Target="../media/image50.png"/><Relationship Id="rId2" Type="http://schemas.openxmlformats.org/officeDocument/2006/relationships/image" Target="../media/image14.svg"/><Relationship Id="rId1" Type="http://schemas.openxmlformats.org/officeDocument/2006/relationships/slideLayout" Target="../slideLayouts/slideLayout8.xml"/><Relationship Id="rId6" Type="http://schemas.openxmlformats.org/officeDocument/2006/relationships/customXml" Target="../ink/ink15.xml"/><Relationship Id="rId5" Type="http://schemas.openxmlformats.org/officeDocument/2006/relationships/image" Target="../media/image49.svg"/><Relationship Id="rId4" Type="http://schemas.openxmlformats.org/officeDocument/2006/relationships/image" Target="../media/image47.svg"/></Relationships>
</file>

<file path=ppt/slides/_rels/slide30.xml.rels><?xml version="1.0" encoding="UTF-8" standalone="yes"?>
<Relationships xmlns="http://schemas.openxmlformats.org/package/2006/relationships"><Relationship Id="rId2" Type="http://schemas.openxmlformats.org/officeDocument/2006/relationships/image" Target="../media/image51.sv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3" Type="http://schemas.openxmlformats.org/officeDocument/2006/relationships/image" Target="../media/image170.png"/><Relationship Id="rId3" Type="http://schemas.openxmlformats.org/officeDocument/2006/relationships/image" Target="../media/image53.png"/><Relationship Id="rId2" Type="http://schemas.openxmlformats.org/officeDocument/2006/relationships/image" Target="../media/image52.svg"/><Relationship Id="rId1" Type="http://schemas.openxmlformats.org/officeDocument/2006/relationships/slideLayout" Target="../slideLayouts/slideLayout7.xml"/><Relationship Id="rId6" Type="http://schemas.openxmlformats.org/officeDocument/2006/relationships/customXml" Target="../ink/ink16.xml"/><Relationship Id="rId5" Type="http://schemas.openxmlformats.org/officeDocument/2006/relationships/image" Target="../media/image8.png"/><Relationship Id="rId15" Type="http://schemas.openxmlformats.org/officeDocument/2006/relationships/image" Target="../media/image180.png"/><Relationship Id="rId4" Type="http://schemas.openxmlformats.org/officeDocument/2006/relationships/image" Target="../media/image54.png"/><Relationship Id="rId14" Type="http://schemas.openxmlformats.org/officeDocument/2006/relationships/customXml" Target="../ink/ink17.xml"/></Relationships>
</file>

<file path=ppt/slides/_rels/slide3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1.xml"/><Relationship Id="rId1" Type="http://schemas.openxmlformats.org/officeDocument/2006/relationships/slideLayout" Target="../slideLayouts/slideLayout11.xml"/><Relationship Id="rId5" Type="http://schemas.openxmlformats.org/officeDocument/2006/relationships/image" Target="../media/image57.png"/><Relationship Id="rId4" Type="http://schemas.openxmlformats.org/officeDocument/2006/relationships/image" Target="../media/image56.sv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A13D084F-E8FE-14E3-7A60-1AB8B95A44C2}"/>
              </a:ext>
            </a:extLst>
          </p:cNvPr>
          <p:cNvSpPr txBox="1"/>
          <p:nvPr/>
        </p:nvSpPr>
        <p:spPr>
          <a:xfrm>
            <a:off x="1046162" y="1057275"/>
            <a:ext cx="4892675" cy="5187830"/>
          </a:xfrm>
          <a:prstGeom prst="rect">
            <a:avLst/>
          </a:prstGeom>
          <a:noFill/>
        </p:spPr>
        <p:txBody>
          <a:bodyPr wrap="square" rtlCol="0">
            <a:spAutoFit/>
          </a:bodyPr>
          <a:lstStyle/>
          <a:p>
            <a:pPr>
              <a:lnSpc>
                <a:spcPct val="110000"/>
              </a:lnSpc>
            </a:pPr>
            <a:r>
              <a:rPr lang="en-US" sz="1400"/>
              <a:t>Dear Speaker, we are thrilled and honored to have you with us in Wiesbaden in 2026. Take your time and read this before you prepare your session. </a:t>
            </a:r>
          </a:p>
          <a:p>
            <a:pPr>
              <a:lnSpc>
                <a:spcPct val="110000"/>
              </a:lnSpc>
            </a:pPr>
            <a:endParaRPr lang="en-US" sz="1400"/>
          </a:p>
          <a:p>
            <a:pPr>
              <a:lnSpc>
                <a:spcPct val="110000"/>
              </a:lnSpc>
              <a:spcAft>
                <a:spcPts val="1000"/>
              </a:spcAft>
            </a:pPr>
            <a:r>
              <a:rPr lang="en-US" sz="1400"/>
              <a:t>Since most of you have been with us before, you will already know a lot about </a:t>
            </a:r>
            <a:r>
              <a:rPr lang="en-US" sz="1400" err="1"/>
              <a:t>PSConfEU</a:t>
            </a:r>
            <a:r>
              <a:rPr lang="en-US" sz="1400"/>
              <a:t>. You know that we try to capture all sessions carefully and publish your work on YouTube. </a:t>
            </a:r>
            <a:r>
              <a:rPr lang="en-US" sz="1400" b="1" u="sng"/>
              <a:t>There are a few easily avoidable stumbling blocks that we would like to draw your attention to: </a:t>
            </a:r>
          </a:p>
          <a:p>
            <a:pPr marL="285750" indent="-285750">
              <a:lnSpc>
                <a:spcPct val="110000"/>
              </a:lnSpc>
              <a:buClr>
                <a:srgbClr val="C00000"/>
              </a:buClr>
              <a:buFont typeface="Arial" panose="020B0604020202020204" pitchFamily="34" charset="0"/>
              <a:buChar char="•"/>
            </a:pPr>
            <a:r>
              <a:rPr lang="en-US" sz="1400"/>
              <a:t>Your screen resolution should be</a:t>
            </a:r>
            <a:br>
              <a:rPr lang="en-US" sz="1400"/>
            </a:br>
            <a:r>
              <a:rPr lang="en-US" sz="1400"/>
              <a:t>1920x1080 </a:t>
            </a:r>
            <a:r>
              <a:rPr lang="en-US" sz="1400" err="1"/>
              <a:t>px</a:t>
            </a:r>
            <a:r>
              <a:rPr lang="en-US" sz="1400"/>
              <a:t> (</a:t>
            </a:r>
            <a:r>
              <a:rPr lang="en-US" sz="1400" err="1"/>
              <a:t>FullHD</a:t>
            </a:r>
            <a:r>
              <a:rPr lang="en-US" sz="1400"/>
              <a:t>)</a:t>
            </a:r>
          </a:p>
          <a:p>
            <a:pPr marL="285750" indent="-285750">
              <a:lnSpc>
                <a:spcPct val="110000"/>
              </a:lnSpc>
              <a:buClr>
                <a:srgbClr val="C00000"/>
              </a:buClr>
              <a:buFont typeface="Arial" panose="020B0604020202020204" pitchFamily="34" charset="0"/>
              <a:buChar char="•"/>
            </a:pPr>
            <a:r>
              <a:rPr lang="en-US" sz="1400"/>
              <a:t>You should provide a full size HDMI socket</a:t>
            </a:r>
          </a:p>
          <a:p>
            <a:pPr marL="285750" indent="-285750">
              <a:lnSpc>
                <a:spcPct val="110000"/>
              </a:lnSpc>
              <a:buClr>
                <a:srgbClr val="C00000"/>
              </a:buClr>
              <a:buFont typeface="Arial" panose="020B0604020202020204" pitchFamily="34" charset="0"/>
              <a:buChar char="•"/>
            </a:pPr>
            <a:r>
              <a:rPr lang="en-US" sz="1400"/>
              <a:t>Mirror your screen</a:t>
            </a:r>
          </a:p>
          <a:p>
            <a:pPr marL="285750" indent="-285750">
              <a:lnSpc>
                <a:spcPct val="110000"/>
              </a:lnSpc>
              <a:buClr>
                <a:srgbClr val="C00000"/>
              </a:buClr>
              <a:buFont typeface="Arial" panose="020B0604020202020204" pitchFamily="34" charset="0"/>
              <a:buChar char="•"/>
            </a:pPr>
            <a:r>
              <a:rPr lang="en-US" sz="1400"/>
              <a:t>Disable "Presenter View" in PowerPoint</a:t>
            </a:r>
          </a:p>
          <a:p>
            <a:pPr marL="285750" indent="-285750">
              <a:lnSpc>
                <a:spcPct val="110000"/>
              </a:lnSpc>
              <a:buClr>
                <a:srgbClr val="C00000"/>
              </a:buClr>
              <a:buFont typeface="Arial" panose="020B0604020202020204" pitchFamily="34" charset="0"/>
              <a:buChar char="•"/>
            </a:pPr>
            <a:r>
              <a:rPr lang="en-US" sz="1400"/>
              <a:t>Using MAC or Surface book? </a:t>
            </a:r>
            <a:br>
              <a:rPr lang="en-US" sz="1400"/>
            </a:br>
            <a:r>
              <a:rPr lang="en-US" sz="1400"/>
              <a:t>Be aware of HDCP!</a:t>
            </a:r>
          </a:p>
          <a:p>
            <a:pPr marL="285750" indent="-285750">
              <a:lnSpc>
                <a:spcPct val="110000"/>
              </a:lnSpc>
              <a:buClr>
                <a:srgbClr val="C00000"/>
              </a:buClr>
              <a:buFont typeface="Arial" panose="020B0604020202020204" pitchFamily="34" charset="0"/>
              <a:buChar char="•"/>
            </a:pPr>
            <a:r>
              <a:rPr lang="en-US" sz="1400"/>
              <a:t>Disable the ‘Night Light’ Mode</a:t>
            </a:r>
          </a:p>
          <a:p>
            <a:pPr marL="285750" indent="-285750">
              <a:lnSpc>
                <a:spcPct val="110000"/>
              </a:lnSpc>
              <a:buClr>
                <a:srgbClr val="C00000"/>
              </a:buClr>
              <a:buFont typeface="Arial" panose="020B0604020202020204" pitchFamily="34" charset="0"/>
              <a:buChar char="•"/>
            </a:pPr>
            <a:r>
              <a:rPr lang="en-GB" sz="1400"/>
              <a:t>Enable the presentation setting</a:t>
            </a:r>
            <a:br>
              <a:rPr lang="en-GB" sz="1400"/>
            </a:br>
            <a:r>
              <a:rPr lang="en-GB" sz="1400" i="1"/>
              <a:t>(presentationsettings.exe in Windows)</a:t>
            </a:r>
          </a:p>
          <a:p>
            <a:pPr marL="285750" indent="-285750">
              <a:lnSpc>
                <a:spcPct val="110000"/>
              </a:lnSpc>
              <a:buClr>
                <a:srgbClr val="C00000"/>
              </a:buClr>
              <a:buFont typeface="Arial" panose="020B0604020202020204" pitchFamily="34" charset="0"/>
              <a:buChar char="•"/>
            </a:pPr>
            <a:r>
              <a:rPr lang="en-GB" sz="1400"/>
              <a:t>If you present sensitive information on web portals, consider using something like "</a:t>
            </a:r>
            <a:r>
              <a:rPr lang="en-GB" sz="1400" err="1"/>
              <a:t>CloudCloak</a:t>
            </a:r>
            <a:r>
              <a:rPr lang="en-GB" sz="1400"/>
              <a:t>"</a:t>
            </a:r>
            <a:endParaRPr lang="en-US" sz="1400" i="1"/>
          </a:p>
        </p:txBody>
      </p:sp>
      <p:sp>
        <p:nvSpPr>
          <p:cNvPr id="4" name="Rechteck 3">
            <a:extLst>
              <a:ext uri="{FF2B5EF4-FFF2-40B4-BE49-F238E27FC236}">
                <a16:creationId xmlns:a16="http://schemas.microsoft.com/office/drawing/2014/main" id="{CBA44082-0847-F389-B219-CBA49C7725C2}"/>
              </a:ext>
            </a:extLst>
          </p:cNvPr>
          <p:cNvSpPr/>
          <p:nvPr/>
        </p:nvSpPr>
        <p:spPr>
          <a:xfrm>
            <a:off x="0" y="0"/>
            <a:ext cx="889000" cy="685800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4400">
                <a:latin typeface="Calibri" panose="020F0502020204030204" pitchFamily="34" charset="0"/>
                <a:ea typeface="Calibri" panose="020F0502020204030204" pitchFamily="34" charset="0"/>
                <a:cs typeface="Calibri" panose="020F0502020204030204" pitchFamily="34" charset="0"/>
              </a:rPr>
              <a:t>BURN AFTER READING</a:t>
            </a:r>
            <a:endParaRPr lang="en-DE" sz="4400">
              <a:latin typeface="Calibri" panose="020F0502020204030204" pitchFamily="34" charset="0"/>
              <a:ea typeface="Calibri" panose="020F0502020204030204" pitchFamily="34" charset="0"/>
              <a:cs typeface="Calibri" panose="020F0502020204030204" pitchFamily="34" charset="0"/>
            </a:endParaRPr>
          </a:p>
        </p:txBody>
      </p:sp>
      <p:sp>
        <p:nvSpPr>
          <p:cNvPr id="2" name="Textfeld 1">
            <a:extLst>
              <a:ext uri="{FF2B5EF4-FFF2-40B4-BE49-F238E27FC236}">
                <a16:creationId xmlns:a16="http://schemas.microsoft.com/office/drawing/2014/main" id="{A196BBFD-A430-8F6F-DBB7-52C55DB3DA2F}"/>
              </a:ext>
            </a:extLst>
          </p:cNvPr>
          <p:cNvSpPr txBox="1"/>
          <p:nvPr/>
        </p:nvSpPr>
        <p:spPr>
          <a:xfrm>
            <a:off x="5938836" y="663834"/>
            <a:ext cx="5972175" cy="5087290"/>
          </a:xfrm>
          <a:prstGeom prst="rect">
            <a:avLst/>
          </a:prstGeom>
          <a:noFill/>
        </p:spPr>
        <p:txBody>
          <a:bodyPr wrap="square" rtlCol="0">
            <a:spAutoFit/>
          </a:bodyPr>
          <a:lstStyle/>
          <a:p>
            <a:pPr>
              <a:lnSpc>
                <a:spcPct val="110000"/>
              </a:lnSpc>
              <a:spcAft>
                <a:spcPts val="800"/>
              </a:spcAft>
            </a:pPr>
            <a:r>
              <a:rPr lang="en-US" sz="1600" b="1" err="1">
                <a:highlight>
                  <a:srgbClr val="00FF00"/>
                </a:highlight>
              </a:rPr>
              <a:t>about_SlideDeck</a:t>
            </a:r>
            <a:endParaRPr lang="en-US" sz="1600" b="1">
              <a:highlight>
                <a:srgbClr val="00FF00"/>
              </a:highlight>
            </a:endParaRPr>
          </a:p>
          <a:p>
            <a:pPr>
              <a:lnSpc>
                <a:spcPct val="110000"/>
              </a:lnSpc>
            </a:pPr>
            <a:r>
              <a:rPr lang="en-US" sz="1400"/>
              <a:t>The actual presentation starts with slide 6 ("Session title"). The first five slides have a purely </a:t>
            </a:r>
            <a:r>
              <a:rPr lang="en-US" sz="1400" err="1"/>
              <a:t>organisational</a:t>
            </a:r>
            <a:r>
              <a:rPr lang="en-US" sz="1400"/>
              <a:t> purpose. During the break before your session, you should start the presentation with slide 2 ("Next up"), so that the audience knows that they are in the right room. It's fine if you start chatting with the audience during this break, </a:t>
            </a:r>
            <a:r>
              <a:rPr lang="en-US" sz="1400" b="1"/>
              <a:t>but</a:t>
            </a:r>
            <a:r>
              <a:rPr lang="en-US" sz="1400"/>
              <a:t> </a:t>
            </a:r>
            <a:r>
              <a:rPr lang="en-US" sz="1400" b="1"/>
              <a:t>we need a precise starting point for your presentation </a:t>
            </a:r>
            <a:r>
              <a:rPr lang="en-US" sz="1400"/>
              <a:t>in terms of editing your video. That means: </a:t>
            </a:r>
          </a:p>
          <a:p>
            <a:pPr>
              <a:lnSpc>
                <a:spcPct val="110000"/>
              </a:lnSpc>
            </a:pPr>
            <a:r>
              <a:rPr lang="en-US" sz="1400"/>
              <a:t>The recording of your presentation will start after the countdown. </a:t>
            </a:r>
            <a:r>
              <a:rPr lang="en-US" sz="1400" b="1"/>
              <a:t>Please  (RE)START talking after the countdown</a:t>
            </a:r>
            <a:r>
              <a:rPr lang="en-US" sz="1400"/>
              <a:t>, not during it! Otherwise your recording will start with a half sentence.  </a:t>
            </a:r>
          </a:p>
          <a:p>
            <a:pPr>
              <a:lnSpc>
                <a:spcPct val="110000"/>
              </a:lnSpc>
            </a:pPr>
            <a:r>
              <a:rPr lang="en-US" sz="1400"/>
              <a:t>It is not necessary to explicitly signal to the PA operator, this is your signal! </a:t>
            </a:r>
          </a:p>
          <a:p>
            <a:pPr>
              <a:lnSpc>
                <a:spcPct val="110000"/>
              </a:lnSpc>
            </a:pPr>
            <a:endParaRPr lang="en-US" sz="1400"/>
          </a:p>
          <a:p>
            <a:pPr>
              <a:lnSpc>
                <a:spcPct val="110000"/>
              </a:lnSpc>
            </a:pPr>
            <a:r>
              <a:rPr lang="en-US" sz="1400"/>
              <a:t>Finally, do you have to use this slide deck? </a:t>
            </a:r>
            <a:br>
              <a:rPr lang="en-US" sz="1400"/>
            </a:br>
            <a:r>
              <a:rPr lang="en-US" sz="1400"/>
              <a:t>No, you are free to present the way you like it. But you are asked </a:t>
            </a:r>
            <a:br>
              <a:rPr lang="en-US" sz="1400"/>
            </a:br>
            <a:r>
              <a:rPr lang="en-US" sz="1400"/>
              <a:t>to use the intro slides: countdown, session title, sponsor slide.</a:t>
            </a:r>
            <a:br>
              <a:rPr lang="en-US" sz="1400"/>
            </a:br>
            <a:r>
              <a:rPr lang="en-US" sz="1400"/>
              <a:t>Beyond that, use what is good for the cause – from no slides to sketches from your children, from </a:t>
            </a:r>
            <a:r>
              <a:rPr lang="en-US" sz="1400" err="1"/>
              <a:t>Jupyter</a:t>
            </a:r>
            <a:r>
              <a:rPr lang="en-US" sz="1400"/>
              <a:t> to $</a:t>
            </a:r>
            <a:r>
              <a:rPr lang="en-US" sz="1400" err="1"/>
              <a:t>youNameIt</a:t>
            </a:r>
            <a:r>
              <a:rPr lang="en-US" sz="1400"/>
              <a:t>. </a:t>
            </a:r>
          </a:p>
          <a:p>
            <a:pPr>
              <a:lnSpc>
                <a:spcPct val="110000"/>
              </a:lnSpc>
              <a:spcAft>
                <a:spcPts val="1000"/>
              </a:spcAft>
            </a:pPr>
            <a:r>
              <a:rPr lang="en-US" sz="1400"/>
              <a:t>You will find additional information in the notes below.</a:t>
            </a:r>
          </a:p>
          <a:p>
            <a:pPr>
              <a:lnSpc>
                <a:spcPct val="110000"/>
              </a:lnSpc>
            </a:pPr>
            <a:r>
              <a:rPr lang="en-US" sz="1400" i="1"/>
              <a:t>Sincerely, your hosts!</a:t>
            </a:r>
          </a:p>
        </p:txBody>
      </p:sp>
      <p:sp>
        <p:nvSpPr>
          <p:cNvPr id="5" name="Titel 4">
            <a:extLst>
              <a:ext uri="{FF2B5EF4-FFF2-40B4-BE49-F238E27FC236}">
                <a16:creationId xmlns:a16="http://schemas.microsoft.com/office/drawing/2014/main" id="{E2CFEAF8-3999-F242-E154-0BD39B8675DC}"/>
              </a:ext>
            </a:extLst>
          </p:cNvPr>
          <p:cNvSpPr>
            <a:spLocks noGrp="1"/>
          </p:cNvSpPr>
          <p:nvPr>
            <p:ph type="title" idx="4294967295"/>
          </p:nvPr>
        </p:nvSpPr>
        <p:spPr>
          <a:xfrm>
            <a:off x="1046161" y="66675"/>
            <a:ext cx="4892675" cy="662782"/>
          </a:xfrm>
          <a:prstGeom prst="rect">
            <a:avLst/>
          </a:prstGeom>
        </p:spPr>
        <p:txBody>
          <a:bodyPr/>
          <a:lstStyle/>
          <a:p>
            <a:r>
              <a:rPr lang="en-DE" sz="4200">
                <a:latin typeface="Calibri" panose="020F0502020204030204" pitchFamily="34" charset="0"/>
                <a:ea typeface="Calibri" panose="020F0502020204030204" pitchFamily="34" charset="0"/>
                <a:cs typeface="Calibri" panose="020F0502020204030204" pitchFamily="34" charset="0"/>
              </a:rPr>
              <a:t>R</a:t>
            </a:r>
            <a:r>
              <a:rPr lang="en-US" sz="4200">
                <a:latin typeface="Calibri" panose="020F0502020204030204" pitchFamily="34" charset="0"/>
                <a:ea typeface="Calibri" panose="020F0502020204030204" pitchFamily="34" charset="0"/>
                <a:cs typeface="Calibri" panose="020F0502020204030204" pitchFamily="34" charset="0"/>
              </a:rPr>
              <a:t>EADME</a:t>
            </a:r>
            <a:endParaRPr lang="en-DE" sz="42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31095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512BD2B3-5213-AE89-B245-3E2067844782}"/>
              </a:ext>
            </a:extLst>
          </p:cNvPr>
          <p:cNvSpPr txBox="1">
            <a:spLocks/>
          </p:cNvSpPr>
          <p:nvPr/>
        </p:nvSpPr>
        <p:spPr>
          <a:xfrm>
            <a:off x="1524000" y="4271395"/>
            <a:ext cx="9144000" cy="631759"/>
          </a:xfrm>
          <a:prstGeom prst="rect">
            <a:avLst/>
          </a:prstGeom>
        </p:spPr>
        <p:txBody>
          <a:bodyP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i="1" dirty="0">
                <a:latin typeface="Segoe UI" panose="020B0502040204020203" pitchFamily="34" charset="0"/>
                <a:cs typeface="Segoe UI" panose="020B0502040204020203" pitchFamily="34" charset="0"/>
              </a:rPr>
              <a:t>Emanuel Palm</a:t>
            </a:r>
            <a:endParaRPr lang="en-GB" b="1" i="1" dirty="0">
              <a:latin typeface="Segoe UI" panose="020B0502040204020203" pitchFamily="34" charset="0"/>
              <a:cs typeface="Segoe UI" panose="020B0502040204020203" pitchFamily="34" charset="0"/>
            </a:endParaRPr>
          </a:p>
        </p:txBody>
      </p:sp>
      <p:cxnSp>
        <p:nvCxnSpPr>
          <p:cNvPr id="4" name="Connecteur droit 5">
            <a:extLst>
              <a:ext uri="{FF2B5EF4-FFF2-40B4-BE49-F238E27FC236}">
                <a16:creationId xmlns:a16="http://schemas.microsoft.com/office/drawing/2014/main" id="{E9631884-5100-1BA8-2365-47609B2977D7}"/>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5" name="Titel 4">
            <a:extLst>
              <a:ext uri="{FF2B5EF4-FFF2-40B4-BE49-F238E27FC236}">
                <a16:creationId xmlns:a16="http://schemas.microsoft.com/office/drawing/2014/main" id="{EC34FE26-AFCF-2A09-DB2E-84FFA4D454A5}"/>
              </a:ext>
            </a:extLst>
          </p:cNvPr>
          <p:cNvSpPr>
            <a:spLocks noGrp="1"/>
          </p:cNvSpPr>
          <p:nvPr>
            <p:ph type="title" idx="4294967295"/>
          </p:nvPr>
        </p:nvSpPr>
        <p:spPr>
          <a:xfrm>
            <a:off x="863600" y="2672840"/>
            <a:ext cx="10515600" cy="1325563"/>
          </a:xfrm>
          <a:prstGeom prst="rect">
            <a:avLst/>
          </a:prstGeom>
        </p:spPr>
        <p:txBody>
          <a:bodyPr anchor="b" anchorCtr="0"/>
          <a:lstStyle/>
          <a:p>
            <a:pPr algn="ctr"/>
            <a:r>
              <a:rPr lang="en-DE" sz="6000" b="1">
                <a:solidFill>
                  <a:srgbClr val="346296"/>
                </a:solidFill>
                <a:latin typeface="Segoe UI Light" panose="020B0502040204020203" pitchFamily="34" charset="0"/>
                <a:cs typeface="Segoe UI Light" panose="020B0502040204020203" pitchFamily="34" charset="0"/>
              </a:rPr>
              <a:t>N</a:t>
            </a:r>
            <a:r>
              <a:rPr lang="en-US" sz="6000" b="1" err="1">
                <a:solidFill>
                  <a:srgbClr val="346296"/>
                </a:solidFill>
                <a:latin typeface="Segoe UI Light" panose="020B0502040204020203" pitchFamily="34" charset="0"/>
                <a:cs typeface="Segoe UI Light" panose="020B0502040204020203" pitchFamily="34" charset="0"/>
              </a:rPr>
              <a:t>ext</a:t>
            </a:r>
            <a:r>
              <a:rPr lang="en-US" sz="6000" b="1">
                <a:solidFill>
                  <a:srgbClr val="346296"/>
                </a:solidFill>
                <a:latin typeface="Segoe UI Light" panose="020B0502040204020203" pitchFamily="34" charset="0"/>
                <a:cs typeface="Segoe UI Light" panose="020B0502040204020203" pitchFamily="34" charset="0"/>
              </a:rPr>
              <a:t> Up:</a:t>
            </a:r>
            <a:endParaRPr lang="en-DE" sz="6000" b="1">
              <a:solidFill>
                <a:srgbClr val="346296"/>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315886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82643D59-896E-68AE-5BCA-3F8558F198EF}"/>
              </a:ext>
            </a:extLst>
          </p:cNvPr>
          <p:cNvSpPr txBox="1">
            <a:spLocks/>
          </p:cNvSpPr>
          <p:nvPr/>
        </p:nvSpPr>
        <p:spPr>
          <a:xfrm>
            <a:off x="838200" y="365125"/>
            <a:ext cx="973328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a:t>3</a:t>
            </a:r>
            <a:endParaRPr lang="en-GB"/>
          </a:p>
        </p:txBody>
      </p:sp>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a:solidFill>
                  <a:schemeClr val="bg1"/>
                </a:solidFill>
                <a:latin typeface="Stencil" panose="040409050D0802020404" pitchFamily="82" charset="0"/>
              </a:rPr>
              <a:t>3</a:t>
            </a:r>
            <a:endParaRPr lang="en-DE" sz="25000">
              <a:solidFill>
                <a:schemeClr val="bg1"/>
              </a:solidFill>
              <a:latin typeface="Stencil" panose="040409050D0802020404" pitchFamily="82" charset="0"/>
            </a:endParaRPr>
          </a:p>
        </p:txBody>
      </p:sp>
    </p:spTree>
    <p:extLst>
      <p:ext uri="{BB962C8B-B14F-4D97-AF65-F5344CB8AC3E}">
        <p14:creationId xmlns:p14="http://schemas.microsoft.com/office/powerpoint/2010/main" val="2970004164"/>
      </p:ext>
    </p:extLst>
  </p:cSld>
  <p:clrMapOvr>
    <a:masterClrMapping/>
  </p:clrMapOvr>
  <p:transition spd="slow" advTm="1000">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a:solidFill>
                  <a:schemeClr val="bg1"/>
                </a:solidFill>
                <a:latin typeface="Stencil" panose="040409050D0802020404" pitchFamily="82" charset="0"/>
              </a:rPr>
              <a:t>2</a:t>
            </a:r>
            <a:endParaRPr lang="en-DE" sz="25000">
              <a:solidFill>
                <a:schemeClr val="bg1"/>
              </a:solidFill>
              <a:latin typeface="Stencil" panose="040409050D0802020404" pitchFamily="82" charset="0"/>
            </a:endParaRPr>
          </a:p>
        </p:txBody>
      </p:sp>
    </p:spTree>
    <p:extLst>
      <p:ext uri="{BB962C8B-B14F-4D97-AF65-F5344CB8AC3E}">
        <p14:creationId xmlns:p14="http://schemas.microsoft.com/office/powerpoint/2010/main" val="986012733"/>
      </p:ext>
    </p:extLst>
  </p:cSld>
  <p:clrMapOvr>
    <a:masterClrMapping/>
  </p:clrMapOvr>
  <p:transition spd="slow" advTm="1000">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a:latin typeface="Stencil" panose="040409050D0802020404" pitchFamily="82" charset="0"/>
              </a:rPr>
              <a:t>1</a:t>
            </a:r>
            <a:endParaRPr lang="en-DE" sz="25000">
              <a:latin typeface="Stencil" panose="040409050D0802020404" pitchFamily="82" charset="0"/>
            </a:endParaRPr>
          </a:p>
        </p:txBody>
      </p:sp>
    </p:spTree>
    <p:extLst>
      <p:ext uri="{BB962C8B-B14F-4D97-AF65-F5344CB8AC3E}">
        <p14:creationId xmlns:p14="http://schemas.microsoft.com/office/powerpoint/2010/main" val="73231530"/>
      </p:ext>
    </p:extLst>
  </p:cSld>
  <p:clrMapOvr>
    <a:masterClrMapping/>
  </p:clrMapOvr>
  <p:transition spd="slow" advTm="1000">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145A3-D453-0047-C772-ED03164FD26F}"/>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3D337DCC-7275-13FA-F9E0-7DCE8E6A9B87}"/>
              </a:ext>
            </a:extLst>
          </p:cNvPr>
          <p:cNvSpPr txBox="1">
            <a:spLocks/>
          </p:cNvSpPr>
          <p:nvPr/>
        </p:nvSpPr>
        <p:spPr>
          <a:xfrm>
            <a:off x="1524000" y="4597215"/>
            <a:ext cx="9144000" cy="631759"/>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3600" b="1" i="1" dirty="0"/>
              <a:t>Emanuel Palm</a:t>
            </a:r>
            <a:endParaRPr lang="en-GB" sz="3600" b="1" i="1" dirty="0"/>
          </a:p>
        </p:txBody>
      </p:sp>
      <p:cxnSp>
        <p:nvCxnSpPr>
          <p:cNvPr id="6" name="Connecteur droit 5">
            <a:extLst>
              <a:ext uri="{FF2B5EF4-FFF2-40B4-BE49-F238E27FC236}">
                <a16:creationId xmlns:a16="http://schemas.microsoft.com/office/drawing/2014/main" id="{A675592C-4C3B-EAB9-2582-2F213947B3F7}"/>
              </a:ext>
            </a:extLst>
          </p:cNvPr>
          <p:cNvCxnSpPr/>
          <p:nvPr/>
        </p:nvCxnSpPr>
        <p:spPr>
          <a:xfrm>
            <a:off x="3867150" y="441522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4" name="Titel 3">
            <a:extLst>
              <a:ext uri="{FF2B5EF4-FFF2-40B4-BE49-F238E27FC236}">
                <a16:creationId xmlns:a16="http://schemas.microsoft.com/office/drawing/2014/main" id="{46D77E42-4AD5-2F55-8E85-0363A48920EA}"/>
              </a:ext>
            </a:extLst>
          </p:cNvPr>
          <p:cNvSpPr>
            <a:spLocks noGrp="1"/>
          </p:cNvSpPr>
          <p:nvPr>
            <p:ph type="title" idx="4294967295"/>
          </p:nvPr>
        </p:nvSpPr>
        <p:spPr>
          <a:xfrm>
            <a:off x="105103" y="1978492"/>
            <a:ext cx="11981794" cy="2436728"/>
          </a:xfrm>
          <a:prstGeom prst="rect">
            <a:avLst/>
          </a:prstGeom>
          <a:ln>
            <a:noFill/>
          </a:ln>
        </p:spPr>
        <p:txBody>
          <a:bodyPr anchor="b" anchorCtr="0"/>
          <a:lstStyle/>
          <a:p>
            <a:pPr algn="ctr"/>
            <a:r>
              <a:rPr lang="en-US" sz="4000" i="1" dirty="0">
                <a:solidFill>
                  <a:srgbClr val="346297"/>
                </a:solidFill>
                <a:effectLst/>
                <a:latin typeface="+mn-lt"/>
              </a:rPr>
              <a:t>Charting the Cloudy Sea </a:t>
            </a:r>
            <a:r>
              <a:rPr lang="en-US" sz="4000" i="1" dirty="0">
                <a:solidFill>
                  <a:srgbClr val="CEA451"/>
                </a:solidFill>
                <a:effectLst/>
                <a:latin typeface="+mn-lt"/>
              </a:rPr>
              <a:t>with</a:t>
            </a:r>
            <a:br>
              <a:rPr lang="en-US" sz="5400" b="1" dirty="0">
                <a:solidFill>
                  <a:srgbClr val="346297"/>
                </a:solidFill>
                <a:effectLst/>
                <a:latin typeface="+mn-lt"/>
              </a:rPr>
            </a:br>
            <a:r>
              <a:rPr lang="en-US" sz="5400" b="1" dirty="0">
                <a:solidFill>
                  <a:srgbClr val="346297"/>
                </a:solidFill>
                <a:effectLst/>
                <a:latin typeface="+mn-lt"/>
              </a:rPr>
              <a:t>Azure Resource Graph</a:t>
            </a:r>
            <a:endParaRPr lang="en-DE" i="1" dirty="0">
              <a:solidFill>
                <a:srgbClr val="346297"/>
              </a:solidFill>
              <a:effectLst/>
              <a:latin typeface="+mn-lt"/>
            </a:endParaRPr>
          </a:p>
        </p:txBody>
      </p:sp>
    </p:spTree>
    <p:extLst>
      <p:ext uri="{BB962C8B-B14F-4D97-AF65-F5344CB8AC3E}">
        <p14:creationId xmlns:p14="http://schemas.microsoft.com/office/powerpoint/2010/main" val="155290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4E28A0A-8806-84B0-DA34-97DCC3E9355D}"/>
              </a:ext>
            </a:extLst>
          </p:cNvPr>
          <p:cNvSpPr>
            <a:spLocks noGrp="1"/>
          </p:cNvSpPr>
          <p:nvPr>
            <p:ph type="title"/>
          </p:nvPr>
        </p:nvSpPr>
        <p:spPr>
          <a:xfrm>
            <a:off x="457200" y="767663"/>
            <a:ext cx="8229600" cy="914400"/>
          </a:xfrm>
        </p:spPr>
        <p:txBody>
          <a:bodyPr>
            <a:normAutofit fontScale="90000"/>
          </a:bodyPr>
          <a:lstStyle/>
          <a:p>
            <a:r>
              <a:rPr lang="en-US" sz="3600" dirty="0">
                <a:latin typeface="+mn-lt"/>
              </a:rPr>
              <a:t>What’s a pirate’s favorite Azure service? 🏴‍☠️</a:t>
            </a:r>
          </a:p>
        </p:txBody>
      </p:sp>
      <p:pic>
        <p:nvPicPr>
          <p:cNvPr id="8" name="Picture 7">
            <a:extLst>
              <a:ext uri="{FF2B5EF4-FFF2-40B4-BE49-F238E27FC236}">
                <a16:creationId xmlns:a16="http://schemas.microsoft.com/office/drawing/2014/main" id="{7B0CF338-9938-80D2-8331-1128EBB649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4784" y="1285875"/>
            <a:ext cx="2235994" cy="257175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High Quality Gives Pause Pirate Blank Meme Template">
            <a:extLst>
              <a:ext uri="{FF2B5EF4-FFF2-40B4-BE49-F238E27FC236}">
                <a16:creationId xmlns:a16="http://schemas.microsoft.com/office/drawing/2014/main" id="{1D0ED9F0-2367-3E2E-9A6B-F2A82C6B3D2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02"/>
          <a:stretch>
            <a:fillRect/>
          </a:stretch>
        </p:blipFill>
        <p:spPr bwMode="auto">
          <a:xfrm>
            <a:off x="9223417" y="1474757"/>
            <a:ext cx="2511383" cy="2193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1666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E1C6B-393C-B330-657C-3858E062442A}"/>
            </a:ext>
          </a:extLst>
        </p:cNvPr>
        <p:cNvGrpSpPr/>
        <p:nvPr/>
      </p:nvGrpSpPr>
      <p:grpSpPr>
        <a:xfrm>
          <a:off x="0" y="0"/>
          <a:ext cx="0" cy="0"/>
          <a:chOff x="0" y="0"/>
          <a:chExt cx="0" cy="0"/>
        </a:xfrm>
      </p:grpSpPr>
      <p:pic>
        <p:nvPicPr>
          <p:cNvPr id="20" name="Picture 2">
            <a:extLst>
              <a:ext uri="{FF2B5EF4-FFF2-40B4-BE49-F238E27FC236}">
                <a16:creationId xmlns:a16="http://schemas.microsoft.com/office/drawing/2014/main" id="{E6F99858-075A-997D-66E3-98A1C41317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392" y="1285875"/>
            <a:ext cx="2235994" cy="2571750"/>
          </a:xfrm>
          <a:prstGeom prst="rect">
            <a:avLst/>
          </a:prstGeom>
          <a:noFill/>
          <a:extLst>
            <a:ext uri="{909E8E84-426E-40DD-AFC4-6F175D3DCCD1}">
              <a14:hiddenFill xmlns:a14="http://schemas.microsoft.com/office/drawing/2010/main">
                <a:solidFill>
                  <a:srgbClr val="FFFFFF"/>
                </a:solidFill>
              </a14:hiddenFill>
            </a:ext>
          </a:extLst>
        </p:spPr>
      </p:pic>
      <p:sp>
        <p:nvSpPr>
          <p:cNvPr id="21" name="Oval Callout 20">
            <a:extLst>
              <a:ext uri="{FF2B5EF4-FFF2-40B4-BE49-F238E27FC236}">
                <a16:creationId xmlns:a16="http://schemas.microsoft.com/office/drawing/2014/main" id="{D93BEDC6-93EF-6770-071A-33789CF790CF}"/>
              </a:ext>
            </a:extLst>
          </p:cNvPr>
          <p:cNvSpPr/>
          <p:nvPr/>
        </p:nvSpPr>
        <p:spPr>
          <a:xfrm>
            <a:off x="3004363" y="1581640"/>
            <a:ext cx="3135273" cy="1980220"/>
          </a:xfrm>
          <a:prstGeom prst="wedgeEllipseCallout">
            <a:avLst>
              <a:gd name="adj1" fmla="val -77266"/>
              <a:gd name="adj2" fmla="val -1974"/>
            </a:avLst>
          </a:prstGeom>
          <a:solidFill>
            <a:schemeClr val="bg1"/>
          </a:solidFill>
          <a:ln w="25400">
            <a:solidFill>
              <a:srgbClr val="ED2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Title 1">
            <a:extLst>
              <a:ext uri="{FF2B5EF4-FFF2-40B4-BE49-F238E27FC236}">
                <a16:creationId xmlns:a16="http://schemas.microsoft.com/office/drawing/2014/main" id="{BF1EAD2E-0E5A-04AB-0808-45ACB6E4D9F6}"/>
              </a:ext>
            </a:extLst>
          </p:cNvPr>
          <p:cNvSpPr txBox="1">
            <a:spLocks/>
          </p:cNvSpPr>
          <p:nvPr/>
        </p:nvSpPr>
        <p:spPr>
          <a:xfrm>
            <a:off x="2357497" y="1347614"/>
            <a:ext cx="2765874" cy="2448272"/>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3200" kern="1200" baseline="0">
                <a:solidFill>
                  <a:srgbClr val="ED2A24"/>
                </a:solidFill>
                <a:latin typeface="Roboto" panose="02000000000000000000" pitchFamily="2" charset="0"/>
                <a:ea typeface="+mj-ea"/>
                <a:cs typeface="Roboto" panose="02000000000000000000" pitchFamily="2" charset="0"/>
              </a:defRPr>
            </a:lvl1pPr>
          </a:lstStyle>
          <a:p>
            <a:r>
              <a:rPr lang="en-US" sz="9600" dirty="0">
                <a:latin typeface="+mn-lt"/>
              </a:rPr>
              <a:t>A</a:t>
            </a:r>
          </a:p>
        </p:txBody>
      </p:sp>
      <p:sp>
        <p:nvSpPr>
          <p:cNvPr id="23" name="Title 1">
            <a:extLst>
              <a:ext uri="{FF2B5EF4-FFF2-40B4-BE49-F238E27FC236}">
                <a16:creationId xmlns:a16="http://schemas.microsoft.com/office/drawing/2014/main" id="{D5CE04DE-3FA9-C3A9-3DD9-36F0BEECB87E}"/>
              </a:ext>
            </a:extLst>
          </p:cNvPr>
          <p:cNvSpPr txBox="1">
            <a:spLocks/>
          </p:cNvSpPr>
          <p:nvPr/>
        </p:nvSpPr>
        <p:spPr>
          <a:xfrm>
            <a:off x="3309274" y="1491630"/>
            <a:ext cx="2525452" cy="2160240"/>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3200" kern="1200" baseline="0">
                <a:solidFill>
                  <a:srgbClr val="ED2A24"/>
                </a:solidFill>
                <a:latin typeface="Roboto" panose="02000000000000000000" pitchFamily="2" charset="0"/>
                <a:ea typeface="+mj-ea"/>
                <a:cs typeface="Roboto" panose="02000000000000000000" pitchFamily="2" charset="0"/>
              </a:defRPr>
            </a:lvl1pPr>
          </a:lstStyle>
          <a:p>
            <a:r>
              <a:rPr lang="en-US" sz="9600" dirty="0">
                <a:latin typeface="+mn-lt"/>
              </a:rPr>
              <a:t>R</a:t>
            </a:r>
          </a:p>
        </p:txBody>
      </p:sp>
      <p:sp>
        <p:nvSpPr>
          <p:cNvPr id="24" name="Title 1">
            <a:extLst>
              <a:ext uri="{FF2B5EF4-FFF2-40B4-BE49-F238E27FC236}">
                <a16:creationId xmlns:a16="http://schemas.microsoft.com/office/drawing/2014/main" id="{00E303E2-67DF-192F-0971-490E748E4A7D}"/>
              </a:ext>
            </a:extLst>
          </p:cNvPr>
          <p:cNvSpPr txBox="1">
            <a:spLocks/>
          </p:cNvSpPr>
          <p:nvPr/>
        </p:nvSpPr>
        <p:spPr>
          <a:xfrm>
            <a:off x="4067944" y="1491630"/>
            <a:ext cx="2664296" cy="2160240"/>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3200" kern="1200" baseline="0">
                <a:solidFill>
                  <a:srgbClr val="ED2A24"/>
                </a:solidFill>
                <a:latin typeface="Roboto" panose="02000000000000000000" pitchFamily="2" charset="0"/>
                <a:ea typeface="+mj-ea"/>
                <a:cs typeface="Roboto" panose="02000000000000000000" pitchFamily="2" charset="0"/>
              </a:defRPr>
            </a:lvl1pPr>
          </a:lstStyle>
          <a:p>
            <a:r>
              <a:rPr lang="en-US" sz="9600" dirty="0">
                <a:latin typeface="+mn-lt"/>
              </a:rPr>
              <a:t>G</a:t>
            </a:r>
          </a:p>
        </p:txBody>
      </p:sp>
      <p:pic>
        <p:nvPicPr>
          <p:cNvPr id="26" name="Graphic 25">
            <a:extLst>
              <a:ext uri="{FF2B5EF4-FFF2-40B4-BE49-F238E27FC236}">
                <a16:creationId xmlns:a16="http://schemas.microsoft.com/office/drawing/2014/main" id="{F410672C-F8C8-7B00-DC0B-B9BBD0C241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64288" y="-1676722"/>
            <a:ext cx="1517848" cy="1517848"/>
          </a:xfrm>
          <a:prstGeom prst="rect">
            <a:avLst/>
          </a:prstGeom>
        </p:spPr>
      </p:pic>
      <p:pic>
        <p:nvPicPr>
          <p:cNvPr id="2" name="Picture 2" descr="High Quality Gives Pause Pirate Blank Meme Template">
            <a:extLst>
              <a:ext uri="{FF2B5EF4-FFF2-40B4-BE49-F238E27FC236}">
                <a16:creationId xmlns:a16="http://schemas.microsoft.com/office/drawing/2014/main" id="{C4EA9E19-25FB-B9BE-0CAF-320A2FAEC9C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802"/>
          <a:stretch>
            <a:fillRect/>
          </a:stretch>
        </p:blipFill>
        <p:spPr bwMode="auto">
          <a:xfrm>
            <a:off x="14082969" y="1474757"/>
            <a:ext cx="2511383" cy="2193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42785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A8F39-F6BA-0C6E-3FE8-03CA65B89A4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E546703-BF9C-38DB-9ABD-0FBEB582D7F5}"/>
              </a:ext>
            </a:extLst>
          </p:cNvPr>
          <p:cNvSpPr>
            <a:spLocks noGrp="1"/>
          </p:cNvSpPr>
          <p:nvPr>
            <p:ph type="title"/>
          </p:nvPr>
        </p:nvSpPr>
        <p:spPr/>
        <p:txBody>
          <a:bodyPr>
            <a:normAutofit/>
          </a:bodyPr>
          <a:lstStyle/>
          <a:p>
            <a:r>
              <a:rPr lang="en-US" sz="3600" dirty="0">
                <a:latin typeface="+mn-lt"/>
              </a:rPr>
              <a:t>Azure Resource Graph</a:t>
            </a:r>
          </a:p>
        </p:txBody>
      </p:sp>
      <p:sp>
        <p:nvSpPr>
          <p:cNvPr id="15" name="Content Placeholder 14">
            <a:extLst>
              <a:ext uri="{FF2B5EF4-FFF2-40B4-BE49-F238E27FC236}">
                <a16:creationId xmlns:a16="http://schemas.microsoft.com/office/drawing/2014/main" id="{C2037B6A-D3B5-0037-BB8D-30CB8B451356}"/>
              </a:ext>
            </a:extLst>
          </p:cNvPr>
          <p:cNvSpPr>
            <a:spLocks noGrp="1"/>
          </p:cNvSpPr>
          <p:nvPr>
            <p:ph idx="1"/>
          </p:nvPr>
        </p:nvSpPr>
        <p:spPr/>
        <p:txBody>
          <a:bodyPr/>
          <a:lstStyle/>
          <a:p>
            <a:r>
              <a:rPr lang="en-US" dirty="0"/>
              <a:t>Query the Azure management plane</a:t>
            </a:r>
          </a:p>
          <a:p>
            <a:pPr lvl="1"/>
            <a:r>
              <a:rPr lang="en-US" dirty="0"/>
              <a:t>Across </a:t>
            </a:r>
            <a:r>
              <a:rPr lang="en-US" dirty="0">
                <a:solidFill>
                  <a:srgbClr val="336297"/>
                </a:solidFill>
              </a:rPr>
              <a:t>management</a:t>
            </a:r>
            <a:r>
              <a:rPr lang="en-US" dirty="0"/>
              <a:t> groups and subscriptions</a:t>
            </a:r>
          </a:p>
          <a:p>
            <a:r>
              <a:rPr lang="en-US" dirty="0"/>
              <a:t>Uses Kusto Query Language (KQL)</a:t>
            </a:r>
          </a:p>
          <a:p>
            <a:pPr lvl="1"/>
            <a:r>
              <a:rPr lang="en-US" dirty="0"/>
              <a:t>A subset of the KQL supported by</a:t>
            </a:r>
            <a:br>
              <a:rPr lang="en-US" dirty="0"/>
            </a:br>
            <a:r>
              <a:rPr lang="en-US" dirty="0"/>
              <a:t>	Azure Monitor/Log Analytics, Data Explorer, Sentinel</a:t>
            </a:r>
          </a:p>
          <a:p>
            <a:r>
              <a:rPr lang="en-US" dirty="0"/>
              <a:t>Based on Azure RBAC with your own permissions</a:t>
            </a:r>
          </a:p>
          <a:p>
            <a:r>
              <a:rPr lang="en-US" dirty="0"/>
              <a:t>Flexible usage through tooling</a:t>
            </a:r>
          </a:p>
          <a:p>
            <a:endParaRPr lang="en-US" dirty="0"/>
          </a:p>
        </p:txBody>
      </p:sp>
      <p:sp>
        <p:nvSpPr>
          <p:cNvPr id="6" name="Title 1">
            <a:extLst>
              <a:ext uri="{FF2B5EF4-FFF2-40B4-BE49-F238E27FC236}">
                <a16:creationId xmlns:a16="http://schemas.microsoft.com/office/drawing/2014/main" id="{86CB3112-5945-D4D2-63B6-138610377686}"/>
              </a:ext>
            </a:extLst>
          </p:cNvPr>
          <p:cNvSpPr txBox="1">
            <a:spLocks/>
          </p:cNvSpPr>
          <p:nvPr/>
        </p:nvSpPr>
        <p:spPr>
          <a:xfrm>
            <a:off x="1532777" y="-951438"/>
            <a:ext cx="8229600" cy="9144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3200" kern="1200" baseline="0">
                <a:solidFill>
                  <a:srgbClr val="ED2A24"/>
                </a:solidFill>
                <a:latin typeface="Roboto" panose="02000000000000000000" pitchFamily="2" charset="0"/>
                <a:ea typeface="+mj-ea"/>
                <a:cs typeface="Roboto" panose="02000000000000000000" pitchFamily="2" charset="0"/>
              </a:defRPr>
            </a:lvl1pPr>
          </a:lstStyle>
          <a:p>
            <a:r>
              <a:rPr lang="en-US" sz="3600" b="1" dirty="0">
                <a:solidFill>
                  <a:srgbClr val="3B2B45"/>
                </a:solidFill>
                <a:latin typeface="+mn-lt"/>
              </a:rPr>
              <a:t>Explorer</a:t>
            </a:r>
          </a:p>
        </p:txBody>
      </p:sp>
      <p:sp>
        <p:nvSpPr>
          <p:cNvPr id="7" name="Plassholder for tekst 2">
            <a:extLst>
              <a:ext uri="{FF2B5EF4-FFF2-40B4-BE49-F238E27FC236}">
                <a16:creationId xmlns:a16="http://schemas.microsoft.com/office/drawing/2014/main" id="{D1188FA5-55BB-DF4D-7E9E-4CA49B995311}"/>
              </a:ext>
            </a:extLst>
          </p:cNvPr>
          <p:cNvSpPr txBox="1">
            <a:spLocks/>
          </p:cNvSpPr>
          <p:nvPr/>
        </p:nvSpPr>
        <p:spPr>
          <a:xfrm>
            <a:off x="457200" y="1563688"/>
            <a:ext cx="8229600" cy="2663825"/>
          </a:xfrm>
          <a:prstGeom prst="rect">
            <a:avLst/>
          </a:prstGeom>
        </p:spPr>
        <p:txBody>
          <a:bodyPr>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3200" kern="1200">
                <a:solidFill>
                  <a:srgbClr val="346297"/>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dirty="0">
              <a:ea typeface="Roboto" panose="02000000000000000000" pitchFamily="2" charset="0"/>
            </a:endParaRPr>
          </a:p>
        </p:txBody>
      </p:sp>
      <p:pic>
        <p:nvPicPr>
          <p:cNvPr id="8" name="Graphic 7">
            <a:extLst>
              <a:ext uri="{FF2B5EF4-FFF2-40B4-BE49-F238E27FC236}">
                <a16:creationId xmlns:a16="http://schemas.microsoft.com/office/drawing/2014/main" id="{6981A689-7A46-3230-2D38-46B40B2A9C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049374" y="130983"/>
            <a:ext cx="2331855" cy="2331855"/>
          </a:xfrm>
          <a:prstGeom prst="rect">
            <a:avLst/>
          </a:prstGeom>
        </p:spPr>
      </p:pic>
      <p:grpSp>
        <p:nvGrpSpPr>
          <p:cNvPr id="9" name="Group 8">
            <a:extLst>
              <a:ext uri="{FF2B5EF4-FFF2-40B4-BE49-F238E27FC236}">
                <a16:creationId xmlns:a16="http://schemas.microsoft.com/office/drawing/2014/main" id="{E84C4BEA-018B-8907-E531-599AAB165B87}"/>
              </a:ext>
            </a:extLst>
          </p:cNvPr>
          <p:cNvGrpSpPr/>
          <p:nvPr/>
        </p:nvGrpSpPr>
        <p:grpSpPr>
          <a:xfrm rot="21437984">
            <a:off x="1760654" y="3802227"/>
            <a:ext cx="8600962" cy="1035345"/>
            <a:chOff x="4156776" y="2579638"/>
            <a:chExt cx="3130629" cy="425056"/>
          </a:xfrm>
        </p:grpSpPr>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2433565F-70F8-8687-81CA-B1F12A86D254}"/>
                    </a:ext>
                  </a:extLst>
                </p14:cNvPr>
                <p14:cNvContentPartPr/>
                <p14:nvPr/>
              </p14:nvContentPartPr>
              <p14:xfrm rot="21514194">
                <a:off x="4198016" y="2579638"/>
                <a:ext cx="3089389" cy="425056"/>
              </p14:xfrm>
            </p:contentPart>
          </mc:Choice>
          <mc:Fallback xmlns="">
            <p:pic>
              <p:nvPicPr>
                <p:cNvPr id="18" name="Ink 17">
                  <a:extLst>
                    <a:ext uri="{FF2B5EF4-FFF2-40B4-BE49-F238E27FC236}">
                      <a16:creationId xmlns:a16="http://schemas.microsoft.com/office/drawing/2014/main" id="{22256D3E-4B8D-693A-DCDD-FC475E83D1EF}"/>
                    </a:ext>
                  </a:extLst>
                </p:cNvPr>
                <p:cNvPicPr/>
                <p:nvPr/>
              </p:nvPicPr>
              <p:blipFill>
                <a:blip r:embed="rId5"/>
                <a:stretch>
                  <a:fillRect/>
                </a:stretch>
              </p:blipFill>
              <p:spPr>
                <a:xfrm rot="21514194">
                  <a:off x="4181641" y="2563592"/>
                  <a:ext cx="3121812" cy="457476"/>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E82D3CBB-B15B-6F7A-DE8D-BA8D1CA2061D}"/>
                    </a:ext>
                  </a:extLst>
                </p14:cNvPr>
                <p14:cNvContentPartPr/>
                <p14:nvPr/>
              </p14:nvContentPartPr>
              <p14:xfrm rot="335331">
                <a:off x="4156776" y="2635637"/>
                <a:ext cx="3098520" cy="309600"/>
              </p14:xfrm>
            </p:contentPart>
          </mc:Choice>
          <mc:Fallback xmlns="">
            <p:pic>
              <p:nvPicPr>
                <p:cNvPr id="19" name="Ink 18">
                  <a:extLst>
                    <a:ext uri="{FF2B5EF4-FFF2-40B4-BE49-F238E27FC236}">
                      <a16:creationId xmlns:a16="http://schemas.microsoft.com/office/drawing/2014/main" id="{2C0B588A-F398-639B-6997-D6EC92E5ED0A}"/>
                    </a:ext>
                  </a:extLst>
                </p:cNvPr>
                <p:cNvPicPr/>
                <p:nvPr/>
              </p:nvPicPr>
              <p:blipFill>
                <a:blip r:embed="rId7"/>
                <a:stretch>
                  <a:fillRect/>
                </a:stretch>
              </p:blipFill>
              <p:spPr>
                <a:xfrm rot="335331">
                  <a:off x="4140728" y="2619256"/>
                  <a:ext cx="3130943" cy="342034"/>
                </a:xfrm>
                <a:prstGeom prst="rect">
                  <a:avLst/>
                </a:prstGeom>
              </p:spPr>
            </p:pic>
          </mc:Fallback>
        </mc:AlternateContent>
      </p:grpSp>
      <p:sp>
        <p:nvSpPr>
          <p:cNvPr id="12" name="Title 1">
            <a:extLst>
              <a:ext uri="{FF2B5EF4-FFF2-40B4-BE49-F238E27FC236}">
                <a16:creationId xmlns:a16="http://schemas.microsoft.com/office/drawing/2014/main" id="{57946470-E0B5-8F0E-AFA1-6EFC7C0B9B3F}"/>
              </a:ext>
            </a:extLst>
          </p:cNvPr>
          <p:cNvSpPr txBox="1">
            <a:spLocks/>
          </p:cNvSpPr>
          <p:nvPr/>
        </p:nvSpPr>
        <p:spPr>
          <a:xfrm>
            <a:off x="-315104" y="-227152"/>
            <a:ext cx="2765874" cy="2448272"/>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3200" kern="1200" baseline="0">
                <a:solidFill>
                  <a:srgbClr val="ED2A24"/>
                </a:solidFill>
                <a:latin typeface="Roboto" panose="02000000000000000000" pitchFamily="2" charset="0"/>
                <a:ea typeface="+mj-ea"/>
                <a:cs typeface="Roboto" panose="02000000000000000000" pitchFamily="2" charset="0"/>
              </a:defRPr>
            </a:lvl1pPr>
          </a:lstStyle>
          <a:p>
            <a:r>
              <a:rPr lang="en-US" sz="3600" b="1" dirty="0">
                <a:solidFill>
                  <a:srgbClr val="3B2B45"/>
                </a:solidFill>
                <a:latin typeface="+mn-lt"/>
              </a:rPr>
              <a:t>A</a:t>
            </a:r>
          </a:p>
        </p:txBody>
      </p:sp>
      <p:sp>
        <p:nvSpPr>
          <p:cNvPr id="13" name="Title 1">
            <a:extLst>
              <a:ext uri="{FF2B5EF4-FFF2-40B4-BE49-F238E27FC236}">
                <a16:creationId xmlns:a16="http://schemas.microsoft.com/office/drawing/2014/main" id="{5334E047-1129-C826-DBBD-8447BEFD94AC}"/>
              </a:ext>
            </a:extLst>
          </p:cNvPr>
          <p:cNvSpPr txBox="1">
            <a:spLocks/>
          </p:cNvSpPr>
          <p:nvPr/>
        </p:nvSpPr>
        <p:spPr>
          <a:xfrm>
            <a:off x="985702" y="-83136"/>
            <a:ext cx="2525452" cy="2160240"/>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3200" kern="1200" baseline="0">
                <a:solidFill>
                  <a:srgbClr val="ED2A24"/>
                </a:solidFill>
                <a:latin typeface="Roboto" panose="02000000000000000000" pitchFamily="2" charset="0"/>
                <a:ea typeface="+mj-ea"/>
                <a:cs typeface="Roboto" panose="02000000000000000000" pitchFamily="2" charset="0"/>
              </a:defRPr>
            </a:lvl1pPr>
          </a:lstStyle>
          <a:p>
            <a:r>
              <a:rPr lang="en-US" sz="3600" b="1" dirty="0">
                <a:solidFill>
                  <a:srgbClr val="3B2B45"/>
                </a:solidFill>
                <a:latin typeface="+mn-lt"/>
              </a:rPr>
              <a:t>R</a:t>
            </a:r>
          </a:p>
        </p:txBody>
      </p:sp>
      <p:sp>
        <p:nvSpPr>
          <p:cNvPr id="14" name="Title 1">
            <a:extLst>
              <a:ext uri="{FF2B5EF4-FFF2-40B4-BE49-F238E27FC236}">
                <a16:creationId xmlns:a16="http://schemas.microsoft.com/office/drawing/2014/main" id="{C5C4CE85-7944-3B93-8E13-DFF2DDFAB292}"/>
              </a:ext>
            </a:extLst>
          </p:cNvPr>
          <p:cNvSpPr txBox="1">
            <a:spLocks/>
          </p:cNvSpPr>
          <p:nvPr/>
        </p:nvSpPr>
        <p:spPr>
          <a:xfrm>
            <a:off x="2775721" y="-77246"/>
            <a:ext cx="2664296" cy="2160240"/>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3200" kern="1200" baseline="0">
                <a:solidFill>
                  <a:srgbClr val="ED2A24"/>
                </a:solidFill>
                <a:latin typeface="Roboto" panose="02000000000000000000" pitchFamily="2" charset="0"/>
                <a:ea typeface="+mj-ea"/>
                <a:cs typeface="Roboto" panose="02000000000000000000" pitchFamily="2" charset="0"/>
              </a:defRPr>
            </a:lvl1pPr>
          </a:lstStyle>
          <a:p>
            <a:r>
              <a:rPr lang="en-US" sz="3600" b="1" dirty="0">
                <a:solidFill>
                  <a:srgbClr val="3B2B45"/>
                </a:solidFill>
                <a:latin typeface="+mn-lt"/>
              </a:rPr>
              <a:t>G</a:t>
            </a:r>
          </a:p>
        </p:txBody>
      </p:sp>
    </p:spTree>
    <p:extLst>
      <p:ext uri="{BB962C8B-B14F-4D97-AF65-F5344CB8AC3E}">
        <p14:creationId xmlns:p14="http://schemas.microsoft.com/office/powerpoint/2010/main" val="154140829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xEl>
                                              <p:pRg st="1" end="1"/>
                                            </p:txEl>
                                          </p:spTgt>
                                        </p:tgtEl>
                                        <p:attrNameLst>
                                          <p:attrName>style.visibility</p:attrName>
                                        </p:attrNameLst>
                                      </p:cBhvr>
                                      <p:to>
                                        <p:strVal val="visible"/>
                                      </p:to>
                                    </p:set>
                                    <p:animEffect transition="in" filter="fade">
                                      <p:cBhvr>
                                        <p:cTn id="12" dur="500"/>
                                        <p:tgtEl>
                                          <p:spTgt spid="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xEl>
                                              <p:pRg st="2" end="2"/>
                                            </p:txEl>
                                          </p:spTgt>
                                        </p:tgtEl>
                                        <p:attrNameLst>
                                          <p:attrName>style.visibility</p:attrName>
                                        </p:attrNameLst>
                                      </p:cBhvr>
                                      <p:to>
                                        <p:strVal val="visible"/>
                                      </p:to>
                                    </p:set>
                                    <p:animEffect transition="in" filter="fade">
                                      <p:cBhvr>
                                        <p:cTn id="17" dur="500"/>
                                        <p:tgtEl>
                                          <p:spTgt spid="15">
                                            <p:txEl>
                                              <p:pRg st="2" end="2"/>
                                            </p:txEl>
                                          </p:spTgt>
                                        </p:tgtEl>
                                      </p:cBhvr>
                                    </p:animEffect>
                                  </p:childTnLst>
                                </p:cTn>
                              </p:par>
                              <p:par>
                                <p:cTn id="18" presetID="9" presetClass="emph" presetSubtype="0" grpId="1" nodeType="withEffect">
                                  <p:stCondLst>
                                    <p:cond delay="0"/>
                                  </p:stCondLst>
                                  <p:childTnLst>
                                    <p:set>
                                      <p:cBhvr>
                                        <p:cTn id="19" dur="indefinite"/>
                                        <p:tgtEl>
                                          <p:spTgt spid="15">
                                            <p:txEl>
                                              <p:pRg st="0" end="0"/>
                                            </p:txEl>
                                          </p:spTgt>
                                        </p:tgtEl>
                                        <p:attrNameLst>
                                          <p:attrName>style.opacity</p:attrName>
                                        </p:attrNameLst>
                                      </p:cBhvr>
                                      <p:to>
                                        <p:strVal val="0.5"/>
                                      </p:to>
                                    </p:set>
                                    <p:animEffect filter="image" prLst="opacity: 0.5">
                                      <p:cBhvr rctx="IE">
                                        <p:cTn id="20" dur="indefinite"/>
                                        <p:tgtEl>
                                          <p:spTgt spid="15">
                                            <p:txEl>
                                              <p:pRg st="0" end="0"/>
                                            </p:txEl>
                                          </p:spTgt>
                                        </p:tgtEl>
                                      </p:cBhvr>
                                    </p:animEffect>
                                  </p:childTnLst>
                                </p:cTn>
                              </p:par>
                              <p:par>
                                <p:cTn id="21" presetID="9" presetClass="emph" presetSubtype="0" grpId="1" nodeType="withEffect">
                                  <p:stCondLst>
                                    <p:cond delay="0"/>
                                  </p:stCondLst>
                                  <p:childTnLst>
                                    <p:set>
                                      <p:cBhvr>
                                        <p:cTn id="22" dur="indefinite"/>
                                        <p:tgtEl>
                                          <p:spTgt spid="15">
                                            <p:txEl>
                                              <p:pRg st="1" end="1"/>
                                            </p:txEl>
                                          </p:spTgt>
                                        </p:tgtEl>
                                        <p:attrNameLst>
                                          <p:attrName>style.opacity</p:attrName>
                                        </p:attrNameLst>
                                      </p:cBhvr>
                                      <p:to>
                                        <p:strVal val="0.5"/>
                                      </p:to>
                                    </p:set>
                                    <p:animEffect filter="image" prLst="opacity: 0.5">
                                      <p:cBhvr rctx="IE">
                                        <p:cTn id="23" dur="indefinite"/>
                                        <p:tgtEl>
                                          <p:spTgt spid="15">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xEl>
                                              <p:pRg st="3" end="3"/>
                                            </p:txEl>
                                          </p:spTgt>
                                        </p:tgtEl>
                                        <p:attrNameLst>
                                          <p:attrName>style.visibility</p:attrName>
                                        </p:attrNameLst>
                                      </p:cBhvr>
                                      <p:to>
                                        <p:strVal val="visible"/>
                                      </p:to>
                                    </p:set>
                                    <p:animEffect transition="in" filter="fade">
                                      <p:cBhvr>
                                        <p:cTn id="28" dur="500"/>
                                        <p:tgtEl>
                                          <p:spTgt spid="15">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63"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p:cTn id="33" dur="700" fill="hold"/>
                                        <p:tgtEl>
                                          <p:spTgt spid="9"/>
                                        </p:tgtEl>
                                        <p:attrNameLst>
                                          <p:attrName>drawProgress</p:attrName>
                                        </p:attrNameLst>
                                      </p:cBhvr>
                                      <p:tavLst>
                                        <p:tav tm="0">
                                          <p:val>
                                            <p:fltVal val="0"/>
                                          </p:val>
                                        </p:tav>
                                        <p:tav tm="100000">
                                          <p:val>
                                            <p:fltVal val="1"/>
                                          </p:val>
                                        </p:tav>
                                      </p:tavLst>
                                    </p:anim>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5">
                                            <p:txEl>
                                              <p:pRg st="4" end="4"/>
                                            </p:txEl>
                                          </p:spTgt>
                                        </p:tgtEl>
                                        <p:attrNameLst>
                                          <p:attrName>style.visibility</p:attrName>
                                        </p:attrNameLst>
                                      </p:cBhvr>
                                      <p:to>
                                        <p:strVal val="visible"/>
                                      </p:to>
                                    </p:set>
                                    <p:animEffect transition="in" filter="fade">
                                      <p:cBhvr>
                                        <p:cTn id="38" dur="500"/>
                                        <p:tgtEl>
                                          <p:spTgt spid="15">
                                            <p:txEl>
                                              <p:pRg st="4" end="4"/>
                                            </p:txEl>
                                          </p:spTgt>
                                        </p:tgtEl>
                                      </p:cBhvr>
                                    </p:animEffect>
                                  </p:childTnLst>
                                </p:cTn>
                              </p:par>
                              <p:par>
                                <p:cTn id="39" presetID="9" presetClass="emph" presetSubtype="0" grpId="1" nodeType="withEffect">
                                  <p:stCondLst>
                                    <p:cond delay="0"/>
                                  </p:stCondLst>
                                  <p:childTnLst>
                                    <p:set>
                                      <p:cBhvr>
                                        <p:cTn id="40" dur="indefinite"/>
                                        <p:tgtEl>
                                          <p:spTgt spid="15">
                                            <p:txEl>
                                              <p:pRg st="2" end="2"/>
                                            </p:txEl>
                                          </p:spTgt>
                                        </p:tgtEl>
                                        <p:attrNameLst>
                                          <p:attrName>style.opacity</p:attrName>
                                        </p:attrNameLst>
                                      </p:cBhvr>
                                      <p:to>
                                        <p:strVal val="0.5"/>
                                      </p:to>
                                    </p:set>
                                    <p:animEffect filter="image" prLst="opacity: 0.5">
                                      <p:cBhvr rctx="IE">
                                        <p:cTn id="41" dur="indefinite"/>
                                        <p:tgtEl>
                                          <p:spTgt spid="15">
                                            <p:txEl>
                                              <p:pRg st="2" end="2"/>
                                            </p:txEl>
                                          </p:spTgt>
                                        </p:tgtEl>
                                      </p:cBhvr>
                                    </p:animEffect>
                                  </p:childTnLst>
                                </p:cTn>
                              </p:par>
                              <p:par>
                                <p:cTn id="42" presetID="9" presetClass="emph" presetSubtype="0" grpId="1" nodeType="withEffect">
                                  <p:stCondLst>
                                    <p:cond delay="0"/>
                                  </p:stCondLst>
                                  <p:childTnLst>
                                    <p:set>
                                      <p:cBhvr>
                                        <p:cTn id="43" dur="indefinite"/>
                                        <p:tgtEl>
                                          <p:spTgt spid="15">
                                            <p:txEl>
                                              <p:pRg st="3" end="3"/>
                                            </p:txEl>
                                          </p:spTgt>
                                        </p:tgtEl>
                                        <p:attrNameLst>
                                          <p:attrName>style.opacity</p:attrName>
                                        </p:attrNameLst>
                                      </p:cBhvr>
                                      <p:to>
                                        <p:strVal val="0.5"/>
                                      </p:to>
                                    </p:set>
                                    <p:animEffect filter="image" prLst="opacity: 0.5">
                                      <p:cBhvr rctx="IE">
                                        <p:cTn id="44" dur="indefinite"/>
                                        <p:tgtEl>
                                          <p:spTgt spid="15">
                                            <p:txEl>
                                              <p:pRg st="3" end="3"/>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5">
                                            <p:txEl>
                                              <p:pRg st="5" end="5"/>
                                            </p:txEl>
                                          </p:spTgt>
                                        </p:tgtEl>
                                        <p:attrNameLst>
                                          <p:attrName>style.visibility</p:attrName>
                                        </p:attrNameLst>
                                      </p:cBhvr>
                                      <p:to>
                                        <p:strVal val="visible"/>
                                      </p:to>
                                    </p:set>
                                    <p:animEffect transition="in" filter="fade">
                                      <p:cBhvr>
                                        <p:cTn id="49" dur="500"/>
                                        <p:tgtEl>
                                          <p:spTgt spid="15">
                                            <p:txEl>
                                              <p:pRg st="5" end="5"/>
                                            </p:txEl>
                                          </p:spTgt>
                                        </p:tgtEl>
                                      </p:cBhvr>
                                    </p:animEffect>
                                  </p:childTnLst>
                                </p:cTn>
                              </p:par>
                              <p:par>
                                <p:cTn id="50" presetID="9" presetClass="emph" presetSubtype="0" grpId="1" nodeType="withEffect">
                                  <p:stCondLst>
                                    <p:cond delay="0"/>
                                  </p:stCondLst>
                                  <p:childTnLst>
                                    <p:set>
                                      <p:cBhvr>
                                        <p:cTn id="51" dur="indefinite"/>
                                        <p:tgtEl>
                                          <p:spTgt spid="15">
                                            <p:txEl>
                                              <p:pRg st="4" end="4"/>
                                            </p:txEl>
                                          </p:spTgt>
                                        </p:tgtEl>
                                        <p:attrNameLst>
                                          <p:attrName>style.opacity</p:attrName>
                                        </p:attrNameLst>
                                      </p:cBhvr>
                                      <p:to>
                                        <p:strVal val="0.5"/>
                                      </p:to>
                                    </p:set>
                                    <p:animEffect filter="image" prLst="opacity: 0.5">
                                      <p:cBhvr rctx="IE">
                                        <p:cTn id="52" dur="indefinite"/>
                                        <p:tgtEl>
                                          <p:spTgt spid="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uiExpand="1" build="p"/>
      <p:bldP spid="15" grpId="1"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127D6-3480-0166-D1A8-5AF41E7F4411}"/>
            </a:ext>
          </a:extLst>
        </p:cNvPr>
        <p:cNvGrpSpPr/>
        <p:nvPr/>
      </p:nvGrpSpPr>
      <p:grpSpPr>
        <a:xfrm>
          <a:off x="0" y="0"/>
          <a:ext cx="0" cy="0"/>
          <a:chOff x="0" y="0"/>
          <a:chExt cx="0" cy="0"/>
        </a:xfrm>
      </p:grpSpPr>
      <p:pic>
        <p:nvPicPr>
          <p:cNvPr id="20" name="Graphic 19">
            <a:extLst>
              <a:ext uri="{FF2B5EF4-FFF2-40B4-BE49-F238E27FC236}">
                <a16:creationId xmlns:a16="http://schemas.microsoft.com/office/drawing/2014/main" id="{714478C5-6E9F-B888-148F-36287847771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32897" y="1765897"/>
            <a:ext cx="3326205" cy="3326205"/>
          </a:xfrm>
          <a:prstGeom prst="rect">
            <a:avLst/>
          </a:prstGeom>
        </p:spPr>
      </p:pic>
      <p:sp>
        <p:nvSpPr>
          <p:cNvPr id="4" name="Title 1">
            <a:extLst>
              <a:ext uri="{FF2B5EF4-FFF2-40B4-BE49-F238E27FC236}">
                <a16:creationId xmlns:a16="http://schemas.microsoft.com/office/drawing/2014/main" id="{2867B93E-6E91-A577-24BA-F68D1EC539BD}"/>
              </a:ext>
            </a:extLst>
          </p:cNvPr>
          <p:cNvSpPr txBox="1">
            <a:spLocks/>
          </p:cNvSpPr>
          <p:nvPr/>
        </p:nvSpPr>
        <p:spPr>
          <a:xfrm>
            <a:off x="838200" y="365125"/>
            <a:ext cx="9733280" cy="1325563"/>
          </a:xfrm>
        </p:spPr>
        <p:txBody>
          <a:bodyPr>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3600" dirty="0">
                <a:latin typeface="+mn-lt"/>
              </a:rPr>
              <a:t>Azure Resource Graph</a:t>
            </a:r>
          </a:p>
        </p:txBody>
      </p:sp>
      <p:sp>
        <p:nvSpPr>
          <p:cNvPr id="5" name="Title 1">
            <a:extLst>
              <a:ext uri="{FF2B5EF4-FFF2-40B4-BE49-F238E27FC236}">
                <a16:creationId xmlns:a16="http://schemas.microsoft.com/office/drawing/2014/main" id="{2D1AEEA8-E1E2-E797-65B0-075BC2BB4B1A}"/>
              </a:ext>
            </a:extLst>
          </p:cNvPr>
          <p:cNvSpPr txBox="1">
            <a:spLocks/>
          </p:cNvSpPr>
          <p:nvPr/>
        </p:nvSpPr>
        <p:spPr>
          <a:xfrm>
            <a:off x="5131675" y="365125"/>
            <a:ext cx="2551387" cy="664889"/>
          </a:xfrm>
        </p:spPr>
        <p:txBody>
          <a:bodyPr>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3600" dirty="0">
                <a:latin typeface="+mn-lt"/>
              </a:rPr>
              <a:t>Explorer</a:t>
            </a:r>
          </a:p>
        </p:txBody>
      </p:sp>
      <p:pic>
        <p:nvPicPr>
          <p:cNvPr id="6" name="Picture 5">
            <a:extLst>
              <a:ext uri="{FF2B5EF4-FFF2-40B4-BE49-F238E27FC236}">
                <a16:creationId xmlns:a16="http://schemas.microsoft.com/office/drawing/2014/main" id="{9BA9F26D-0AF2-EDE3-B278-9BE38BC6917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807651" y="3348"/>
            <a:ext cx="12383098" cy="6851304"/>
          </a:xfrm>
          <a:prstGeom prst="rect">
            <a:avLst/>
          </a:prstGeom>
        </p:spPr>
      </p:pic>
    </p:spTree>
    <p:extLst>
      <p:ext uri="{BB962C8B-B14F-4D97-AF65-F5344CB8AC3E}">
        <p14:creationId xmlns:p14="http://schemas.microsoft.com/office/powerpoint/2010/main" val="55976357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A1BFBE3F-36D2-6B9E-313F-846786785DE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056829" y="1765897"/>
            <a:ext cx="3326205" cy="3326205"/>
          </a:xfrm>
          <a:prstGeom prst="rect">
            <a:avLst/>
          </a:prstGeom>
        </p:spPr>
      </p:pic>
      <p:sp>
        <p:nvSpPr>
          <p:cNvPr id="12" name="Title 1">
            <a:extLst>
              <a:ext uri="{FF2B5EF4-FFF2-40B4-BE49-F238E27FC236}">
                <a16:creationId xmlns:a16="http://schemas.microsoft.com/office/drawing/2014/main" id="{F7AE54F6-A4AC-CD9A-96CD-6CD43F272411}"/>
              </a:ext>
            </a:extLst>
          </p:cNvPr>
          <p:cNvSpPr txBox="1">
            <a:spLocks/>
          </p:cNvSpPr>
          <p:nvPr/>
        </p:nvSpPr>
        <p:spPr>
          <a:xfrm>
            <a:off x="838200" y="365125"/>
            <a:ext cx="9733280" cy="1325563"/>
          </a:xfrm>
        </p:spPr>
        <p:txBody>
          <a:bodyPr>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3600" dirty="0">
                <a:latin typeface="+mn-lt"/>
              </a:rPr>
              <a:t>Azure Resource Graph</a:t>
            </a:r>
          </a:p>
        </p:txBody>
      </p:sp>
      <p:sp>
        <p:nvSpPr>
          <p:cNvPr id="13" name="Title 1">
            <a:extLst>
              <a:ext uri="{FF2B5EF4-FFF2-40B4-BE49-F238E27FC236}">
                <a16:creationId xmlns:a16="http://schemas.microsoft.com/office/drawing/2014/main" id="{4C76D901-1D50-8F6D-34C6-682EDCE6C6F5}"/>
              </a:ext>
            </a:extLst>
          </p:cNvPr>
          <p:cNvSpPr txBox="1">
            <a:spLocks/>
          </p:cNvSpPr>
          <p:nvPr/>
        </p:nvSpPr>
        <p:spPr>
          <a:xfrm>
            <a:off x="5131675" y="365125"/>
            <a:ext cx="2551387" cy="664889"/>
          </a:xfrm>
        </p:spPr>
        <p:txBody>
          <a:bodyPr>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3600" dirty="0">
                <a:latin typeface="+mn-lt"/>
              </a:rPr>
              <a:t>Explorer</a:t>
            </a:r>
          </a:p>
        </p:txBody>
      </p:sp>
      <p:pic>
        <p:nvPicPr>
          <p:cNvPr id="14" name="Picture 13">
            <a:extLst>
              <a:ext uri="{FF2B5EF4-FFF2-40B4-BE49-F238E27FC236}">
                <a16:creationId xmlns:a16="http://schemas.microsoft.com/office/drawing/2014/main" id="{98F52A2B-D7EA-6990-5F98-4FF216C309A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5549" y="0"/>
            <a:ext cx="12383097" cy="6858000"/>
          </a:xfrm>
          <a:prstGeom prst="rect">
            <a:avLst/>
          </a:prstGeom>
        </p:spPr>
      </p:pic>
    </p:spTree>
    <p:extLst>
      <p:ext uri="{BB962C8B-B14F-4D97-AF65-F5344CB8AC3E}">
        <p14:creationId xmlns:p14="http://schemas.microsoft.com/office/powerpoint/2010/main" val="24761935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D7D3C-5FD6-3B0B-0102-00A2E555F467}"/>
            </a:ext>
          </a:extLst>
        </p:cNvPr>
        <p:cNvGrpSpPr/>
        <p:nvPr/>
      </p:nvGrpSpPr>
      <p:grpSpPr>
        <a:xfrm>
          <a:off x="0" y="0"/>
          <a:ext cx="0" cy="0"/>
          <a:chOff x="0" y="0"/>
          <a:chExt cx="0" cy="0"/>
        </a:xfrm>
      </p:grpSpPr>
      <p:pic>
        <p:nvPicPr>
          <p:cNvPr id="2" name="Graphic 1">
            <a:extLst>
              <a:ext uri="{FF2B5EF4-FFF2-40B4-BE49-F238E27FC236}">
                <a16:creationId xmlns:a16="http://schemas.microsoft.com/office/drawing/2014/main" id="{F566D154-8291-9977-7D36-A545CAAEC32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056829" y="1765897"/>
            <a:ext cx="3326205" cy="3326205"/>
          </a:xfrm>
          <a:prstGeom prst="rect">
            <a:avLst/>
          </a:prstGeom>
        </p:spPr>
      </p:pic>
      <p:sp>
        <p:nvSpPr>
          <p:cNvPr id="12" name="Title 1">
            <a:extLst>
              <a:ext uri="{FF2B5EF4-FFF2-40B4-BE49-F238E27FC236}">
                <a16:creationId xmlns:a16="http://schemas.microsoft.com/office/drawing/2014/main" id="{3CDA8886-ECE0-8447-B805-B998B91A82A4}"/>
              </a:ext>
            </a:extLst>
          </p:cNvPr>
          <p:cNvSpPr txBox="1">
            <a:spLocks/>
          </p:cNvSpPr>
          <p:nvPr/>
        </p:nvSpPr>
        <p:spPr>
          <a:xfrm>
            <a:off x="838200" y="365125"/>
            <a:ext cx="9733280" cy="1325563"/>
          </a:xfrm>
        </p:spPr>
        <p:txBody>
          <a:bodyPr>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3600" dirty="0">
                <a:latin typeface="+mn-lt"/>
              </a:rPr>
              <a:t>Azure Resource Graph</a:t>
            </a:r>
          </a:p>
        </p:txBody>
      </p:sp>
      <p:sp>
        <p:nvSpPr>
          <p:cNvPr id="13" name="Title 1">
            <a:extLst>
              <a:ext uri="{FF2B5EF4-FFF2-40B4-BE49-F238E27FC236}">
                <a16:creationId xmlns:a16="http://schemas.microsoft.com/office/drawing/2014/main" id="{08D0B149-5BD6-3B3E-2295-5BD27D680AA3}"/>
              </a:ext>
            </a:extLst>
          </p:cNvPr>
          <p:cNvSpPr txBox="1">
            <a:spLocks/>
          </p:cNvSpPr>
          <p:nvPr/>
        </p:nvSpPr>
        <p:spPr>
          <a:xfrm>
            <a:off x="5131675" y="365125"/>
            <a:ext cx="2551387" cy="664889"/>
          </a:xfrm>
        </p:spPr>
        <p:txBody>
          <a:bodyPr>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3600" dirty="0">
                <a:latin typeface="+mn-lt"/>
              </a:rPr>
              <a:t>Explorer</a:t>
            </a:r>
          </a:p>
        </p:txBody>
      </p:sp>
      <p:pic>
        <p:nvPicPr>
          <p:cNvPr id="14" name="Picture 13">
            <a:extLst>
              <a:ext uri="{FF2B5EF4-FFF2-40B4-BE49-F238E27FC236}">
                <a16:creationId xmlns:a16="http://schemas.microsoft.com/office/drawing/2014/main" id="{3469A12D-A6CF-3507-7C14-3AFD64167AD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5549" y="3348"/>
            <a:ext cx="12383097" cy="6851303"/>
          </a:xfrm>
          <a:prstGeom prst="rect">
            <a:avLst/>
          </a:prstGeom>
        </p:spPr>
      </p:pic>
      <p:pic>
        <p:nvPicPr>
          <p:cNvPr id="3" name="Picture 2">
            <a:extLst>
              <a:ext uri="{FF2B5EF4-FFF2-40B4-BE49-F238E27FC236}">
                <a16:creationId xmlns:a16="http://schemas.microsoft.com/office/drawing/2014/main" id="{4BDB3ECB-4CAA-0F02-05D8-412A10A31134}"/>
              </a:ext>
            </a:extLst>
          </p:cNvPr>
          <p:cNvPicPr>
            <a:picLocks noChangeAspect="1"/>
          </p:cNvPicPr>
          <p:nvPr/>
        </p:nvPicPr>
        <p:blipFill>
          <a:blip r:embed="rId4"/>
          <a:stretch>
            <a:fillRect/>
          </a:stretch>
        </p:blipFill>
        <p:spPr>
          <a:xfrm>
            <a:off x="8073855" y="-3349"/>
            <a:ext cx="4213693" cy="6858000"/>
          </a:xfrm>
          <a:prstGeom prst="rect">
            <a:avLst/>
          </a:prstGeom>
        </p:spPr>
      </p:pic>
      <p:pic>
        <p:nvPicPr>
          <p:cNvPr id="4" name="Picture 3">
            <a:extLst>
              <a:ext uri="{FF2B5EF4-FFF2-40B4-BE49-F238E27FC236}">
                <a16:creationId xmlns:a16="http://schemas.microsoft.com/office/drawing/2014/main" id="{7B09FD9C-07BB-9A6F-8512-60A77A83B134}"/>
              </a:ext>
            </a:extLst>
          </p:cNvPr>
          <p:cNvPicPr>
            <a:picLocks noChangeAspect="1"/>
          </p:cNvPicPr>
          <p:nvPr/>
        </p:nvPicPr>
        <p:blipFill>
          <a:blip r:embed="rId5"/>
          <a:stretch>
            <a:fillRect/>
          </a:stretch>
        </p:blipFill>
        <p:spPr>
          <a:xfrm>
            <a:off x="8066689" y="-3349"/>
            <a:ext cx="4220859" cy="6858000"/>
          </a:xfrm>
          <a:prstGeom prst="rect">
            <a:avLst/>
          </a:prstGeom>
        </p:spPr>
      </p:pic>
      <p:sp>
        <p:nvSpPr>
          <p:cNvPr id="6" name="Rectangle 5">
            <a:extLst>
              <a:ext uri="{FF2B5EF4-FFF2-40B4-BE49-F238E27FC236}">
                <a16:creationId xmlns:a16="http://schemas.microsoft.com/office/drawing/2014/main" id="{7C0FD4CF-A780-18E1-661F-B86040A782C5}"/>
              </a:ext>
            </a:extLst>
          </p:cNvPr>
          <p:cNvSpPr/>
          <p:nvPr/>
        </p:nvSpPr>
        <p:spPr>
          <a:xfrm>
            <a:off x="1216405" y="914654"/>
            <a:ext cx="620784" cy="21786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5CE42ED-2917-0203-B030-BF55A14BD96D}"/>
              </a:ext>
            </a:extLst>
          </p:cNvPr>
          <p:cNvSpPr/>
          <p:nvPr/>
        </p:nvSpPr>
        <p:spPr>
          <a:xfrm>
            <a:off x="8581938" y="1619075"/>
            <a:ext cx="1333849" cy="51172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5863635"/>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1"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1"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par>
                                <p:cTn id="19" presetID="10" presetClass="exit" presetSubtype="0" fill="hold" grpId="0" nodeType="withEffect">
                                  <p:stCondLst>
                                    <p:cond delay="0"/>
                                  </p:stCondLst>
                                  <p:childTnLst>
                                    <p:animEffect transition="out" filter="fade">
                                      <p:cBhvr>
                                        <p:cTn id="20" dur="500"/>
                                        <p:tgtEl>
                                          <p:spTgt spid="6"/>
                                        </p:tgtEl>
                                      </p:cBhvr>
                                    </p:animEffect>
                                    <p:set>
                                      <p:cBhvr>
                                        <p:cTn id="21" dur="1" fill="hold">
                                          <p:stCondLst>
                                            <p:cond delay="499"/>
                                          </p:stCondLst>
                                        </p:cTn>
                                        <p:tgtEl>
                                          <p:spTgt spid="6"/>
                                        </p:tgtEl>
                                        <p:attrNameLst>
                                          <p:attrName>style.visibility</p:attrName>
                                        </p:attrNameLst>
                                      </p:cBhvr>
                                      <p:to>
                                        <p:strVal val="hidden"/>
                                      </p:to>
                                    </p:set>
                                  </p:childTnLst>
                                </p:cTn>
                              </p:par>
                              <p:par>
                                <p:cTn id="22" presetID="10" presetClass="exit" presetSubtype="0" fill="hold" grpId="0" nodeType="withEffect">
                                  <p:stCondLst>
                                    <p:cond delay="0"/>
                                  </p:stCondLst>
                                  <p:childTnLst>
                                    <p:animEffect transition="out" filter="fade">
                                      <p:cBhvr>
                                        <p:cTn id="23" dur="500"/>
                                        <p:tgtEl>
                                          <p:spTgt spid="8"/>
                                        </p:tgtEl>
                                      </p:cBhvr>
                                    </p:animEffect>
                                    <p:set>
                                      <p:cBhvr>
                                        <p:cTn id="24"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8" grpId="0" animBg="1"/>
      <p:bldP spid="8"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F8D32-9FF6-C73C-30E2-9CBDD60A2D62}"/>
            </a:ext>
          </a:extLst>
        </p:cNvPr>
        <p:cNvGrpSpPr/>
        <p:nvPr/>
      </p:nvGrpSpPr>
      <p:grpSpPr>
        <a:xfrm>
          <a:off x="0" y="0"/>
          <a:ext cx="0" cy="0"/>
          <a:chOff x="0" y="0"/>
          <a:chExt cx="0" cy="0"/>
        </a:xfrm>
      </p:grpSpPr>
      <p:pic>
        <p:nvPicPr>
          <p:cNvPr id="13" name="Graphic 12">
            <a:extLst>
              <a:ext uri="{FF2B5EF4-FFF2-40B4-BE49-F238E27FC236}">
                <a16:creationId xmlns:a16="http://schemas.microsoft.com/office/drawing/2014/main" id="{3359E780-557C-DC24-925B-E48F9F934A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157192" y="1635646"/>
            <a:ext cx="2448272" cy="2448272"/>
          </a:xfrm>
          <a:prstGeom prst="rect">
            <a:avLst/>
          </a:prstGeom>
        </p:spPr>
      </p:pic>
      <p:pic>
        <p:nvPicPr>
          <p:cNvPr id="15" name="Picture 2">
            <a:extLst>
              <a:ext uri="{FF2B5EF4-FFF2-40B4-BE49-F238E27FC236}">
                <a16:creationId xmlns:a16="http://schemas.microsoft.com/office/drawing/2014/main" id="{B3E41277-188F-7F3F-D52E-2EA6C94A11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93790" y="1532056"/>
            <a:ext cx="3024336" cy="302433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6" name="Picture 4" descr="This Is Brilliant But I Like This Meme Generator - Piñata Farms - The best  meme generator and meme maker for video &amp; image memes">
            <a:extLst>
              <a:ext uri="{FF2B5EF4-FFF2-40B4-BE49-F238E27FC236}">
                <a16:creationId xmlns:a16="http://schemas.microsoft.com/office/drawing/2014/main" id="{6A31C904-A99E-D34D-E70B-4C7C480711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70200" y="874299"/>
            <a:ext cx="5251600" cy="5422303"/>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A blue ribbon with a black background&#10;&#10;AI-generated content may be incorrect.">
            <a:extLst>
              <a:ext uri="{FF2B5EF4-FFF2-40B4-BE49-F238E27FC236}">
                <a16:creationId xmlns:a16="http://schemas.microsoft.com/office/drawing/2014/main" id="{CC9367BF-57A2-F5B6-9A60-BE8CF9921220}"/>
              </a:ext>
            </a:extLst>
          </p:cNvPr>
          <p:cNvPicPr>
            <a:picLocks noChangeAspect="1"/>
          </p:cNvPicPr>
          <p:nvPr/>
        </p:nvPicPr>
        <p:blipFill>
          <a:blip r:embed="rId5"/>
          <a:stretch>
            <a:fillRect/>
          </a:stretch>
        </p:blipFill>
        <p:spPr>
          <a:xfrm>
            <a:off x="4207550" y="1812421"/>
            <a:ext cx="1209379" cy="1209379"/>
          </a:xfrm>
          <a:prstGeom prst="rect">
            <a:avLst/>
          </a:prstGeom>
        </p:spPr>
      </p:pic>
      <p:sp>
        <p:nvSpPr>
          <p:cNvPr id="2" name="Title 1">
            <a:extLst>
              <a:ext uri="{FF2B5EF4-FFF2-40B4-BE49-F238E27FC236}">
                <a16:creationId xmlns:a16="http://schemas.microsoft.com/office/drawing/2014/main" id="{C78D7EA3-5D38-9EC4-FDAE-A50F608479BF}"/>
              </a:ext>
            </a:extLst>
          </p:cNvPr>
          <p:cNvSpPr txBox="1">
            <a:spLocks/>
          </p:cNvSpPr>
          <p:nvPr/>
        </p:nvSpPr>
        <p:spPr>
          <a:xfrm>
            <a:off x="838200" y="365125"/>
            <a:ext cx="9733280" cy="1325563"/>
          </a:xfrm>
        </p:spPr>
        <p:txBody>
          <a:bodyPr>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3600" dirty="0">
                <a:latin typeface="+mn-lt"/>
              </a:rPr>
              <a:t>Azure Resource Graph Explorer</a:t>
            </a:r>
          </a:p>
        </p:txBody>
      </p:sp>
      <p:pic>
        <p:nvPicPr>
          <p:cNvPr id="6" name="Picture 5">
            <a:extLst>
              <a:ext uri="{FF2B5EF4-FFF2-40B4-BE49-F238E27FC236}">
                <a16:creationId xmlns:a16="http://schemas.microsoft.com/office/drawing/2014/main" id="{BDF83C9C-37D4-E7E7-F44B-75FCD17F3375}"/>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6154279" y="2072611"/>
            <a:ext cx="1422739" cy="787171"/>
          </a:xfrm>
          <a:prstGeom prst="rect">
            <a:avLst/>
          </a:prstGeom>
        </p:spPr>
      </p:pic>
      <p:pic>
        <p:nvPicPr>
          <p:cNvPr id="7" name="Picture 6" descr="A blue ribbon with a black background&#10;&#10;AI-generated content may be incorrect.">
            <a:extLst>
              <a:ext uri="{FF2B5EF4-FFF2-40B4-BE49-F238E27FC236}">
                <a16:creationId xmlns:a16="http://schemas.microsoft.com/office/drawing/2014/main" id="{E094AAB9-C33C-F3C4-8ACB-075506385765}"/>
              </a:ext>
            </a:extLst>
          </p:cNvPr>
          <p:cNvPicPr>
            <a:picLocks noChangeAspect="1"/>
          </p:cNvPicPr>
          <p:nvPr/>
        </p:nvPicPr>
        <p:blipFill>
          <a:blip r:embed="rId5"/>
          <a:stretch>
            <a:fillRect/>
          </a:stretch>
        </p:blipFill>
        <p:spPr>
          <a:xfrm>
            <a:off x="4142204" y="4398094"/>
            <a:ext cx="1209379" cy="1209379"/>
          </a:xfrm>
          <a:prstGeom prst="rect">
            <a:avLst/>
          </a:prstGeom>
        </p:spPr>
      </p:pic>
      <p:pic>
        <p:nvPicPr>
          <p:cNvPr id="8" name="Picture 7">
            <a:extLst>
              <a:ext uri="{FF2B5EF4-FFF2-40B4-BE49-F238E27FC236}">
                <a16:creationId xmlns:a16="http://schemas.microsoft.com/office/drawing/2014/main" id="{10449811-F8E8-775D-039F-401BE565742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6129049" y="4773726"/>
            <a:ext cx="1422739" cy="787171"/>
          </a:xfrm>
          <a:prstGeom prst="rect">
            <a:avLst/>
          </a:prstGeom>
        </p:spPr>
      </p:pic>
      <p:sp>
        <p:nvSpPr>
          <p:cNvPr id="9" name="Title 1">
            <a:extLst>
              <a:ext uri="{FF2B5EF4-FFF2-40B4-BE49-F238E27FC236}">
                <a16:creationId xmlns:a16="http://schemas.microsoft.com/office/drawing/2014/main" id="{8DDC9AD3-D137-4FD3-B303-8DF1D608A0F7}"/>
              </a:ext>
            </a:extLst>
          </p:cNvPr>
          <p:cNvSpPr txBox="1">
            <a:spLocks/>
          </p:cNvSpPr>
          <p:nvPr/>
        </p:nvSpPr>
        <p:spPr>
          <a:xfrm>
            <a:off x="-1868200" y="365124"/>
            <a:ext cx="9733280" cy="1325563"/>
          </a:xfrm>
        </p:spPr>
        <p:txBody>
          <a:bodyPr>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3600" dirty="0">
                <a:latin typeface="+mn-lt"/>
              </a:rPr>
              <a:t>boosted</a:t>
            </a:r>
          </a:p>
        </p:txBody>
      </p:sp>
    </p:spTree>
    <p:extLst>
      <p:ext uri="{BB962C8B-B14F-4D97-AF65-F5344CB8AC3E}">
        <p14:creationId xmlns:p14="http://schemas.microsoft.com/office/powerpoint/2010/main" val="43803939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FC9EA-0CFF-74CE-79A4-0D54813017F4}"/>
            </a:ext>
          </a:extLst>
        </p:cNvPr>
        <p:cNvGrpSpPr/>
        <p:nvPr/>
      </p:nvGrpSpPr>
      <p:grpSpPr>
        <a:xfrm>
          <a:off x="0" y="0"/>
          <a:ext cx="0" cy="0"/>
          <a:chOff x="0" y="0"/>
          <a:chExt cx="0" cy="0"/>
        </a:xfrm>
      </p:grpSpPr>
      <p:pic>
        <p:nvPicPr>
          <p:cNvPr id="6" name="Picture 2">
            <a:extLst>
              <a:ext uri="{FF2B5EF4-FFF2-40B4-BE49-F238E27FC236}">
                <a16:creationId xmlns:a16="http://schemas.microsoft.com/office/drawing/2014/main" id="{F0570B4F-9C27-AE55-962E-15762E0BD4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6312" y="1916832"/>
            <a:ext cx="3024336" cy="302433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9" name="Title 1">
            <a:extLst>
              <a:ext uri="{FF2B5EF4-FFF2-40B4-BE49-F238E27FC236}">
                <a16:creationId xmlns:a16="http://schemas.microsoft.com/office/drawing/2014/main" id="{D9C8D97B-3313-0E5E-26DD-9E65B5480125}"/>
              </a:ext>
            </a:extLst>
          </p:cNvPr>
          <p:cNvSpPr txBox="1">
            <a:spLocks/>
          </p:cNvSpPr>
          <p:nvPr/>
        </p:nvSpPr>
        <p:spPr>
          <a:xfrm>
            <a:off x="838200" y="365124"/>
            <a:ext cx="9733280" cy="1325563"/>
          </a:xfrm>
        </p:spPr>
        <p:txBody>
          <a:bodyPr>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3600" dirty="0">
                <a:latin typeface="+mn-lt"/>
              </a:rPr>
              <a:t>boosted</a:t>
            </a:r>
          </a:p>
        </p:txBody>
      </p:sp>
      <p:sp>
        <p:nvSpPr>
          <p:cNvPr id="8" name="Title 1">
            <a:extLst>
              <a:ext uri="{FF2B5EF4-FFF2-40B4-BE49-F238E27FC236}">
                <a16:creationId xmlns:a16="http://schemas.microsoft.com/office/drawing/2014/main" id="{71CB550B-F55A-EC07-7946-BA6428AB1744}"/>
              </a:ext>
            </a:extLst>
          </p:cNvPr>
          <p:cNvSpPr txBox="1">
            <a:spLocks/>
          </p:cNvSpPr>
          <p:nvPr/>
        </p:nvSpPr>
        <p:spPr>
          <a:xfrm>
            <a:off x="2483104" y="365125"/>
            <a:ext cx="9733280" cy="1325563"/>
          </a:xfrm>
        </p:spPr>
        <p:txBody>
          <a:bodyPr>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3600" dirty="0">
                <a:latin typeface="+mn-lt"/>
              </a:rPr>
              <a:t>Azure Resource Graph Explorer</a:t>
            </a:r>
          </a:p>
        </p:txBody>
      </p:sp>
    </p:spTree>
    <p:extLst>
      <p:ext uri="{BB962C8B-B14F-4D97-AF65-F5344CB8AC3E}">
        <p14:creationId xmlns:p14="http://schemas.microsoft.com/office/powerpoint/2010/main" val="57748624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5D64E-A86B-1229-80B5-A91D2139599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4167A1A-E619-61F8-1C06-BFFD184506B4}"/>
              </a:ext>
            </a:extLst>
          </p:cNvPr>
          <p:cNvPicPr>
            <a:picLocks noChangeAspect="1"/>
          </p:cNvPicPr>
          <p:nvPr/>
        </p:nvPicPr>
        <p:blipFill>
          <a:blip r:embed="rId2"/>
          <a:srcRect b="8099"/>
          <a:stretch>
            <a:fillRect/>
          </a:stretch>
        </p:blipFill>
        <p:spPr>
          <a:xfrm>
            <a:off x="0" y="0"/>
            <a:ext cx="12192000" cy="6004560"/>
          </a:xfrm>
          <a:prstGeom prst="rect">
            <a:avLst/>
          </a:prstGeom>
        </p:spPr>
      </p:pic>
      <p:pic>
        <p:nvPicPr>
          <p:cNvPr id="9" name="Picture 2">
            <a:extLst>
              <a:ext uri="{FF2B5EF4-FFF2-40B4-BE49-F238E27FC236}">
                <a16:creationId xmlns:a16="http://schemas.microsoft.com/office/drawing/2014/main" id="{E771DB68-7942-7FFB-514C-416147739890}"/>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a:stretch>
            <a:fillRect/>
          </a:stretch>
        </p:blipFill>
        <p:spPr bwMode="auto">
          <a:xfrm>
            <a:off x="2053311" y="246162"/>
            <a:ext cx="903991" cy="903991"/>
          </a:xfrm>
          <a:prstGeom prst="snip2DiagRect">
            <a:avLst>
              <a:gd name="adj1" fmla="val 0"/>
              <a:gd name="adj2" fmla="val 0"/>
            </a:avLst>
          </a:prstGeom>
          <a:noFill/>
          <a:ln w="88900" cap="sq">
            <a:noFill/>
            <a:miter lim="800000"/>
          </a:ln>
          <a:effectLst/>
        </p:spPr>
      </p:pic>
    </p:spTree>
    <p:extLst>
      <p:ext uri="{BB962C8B-B14F-4D97-AF65-F5344CB8AC3E}">
        <p14:creationId xmlns:p14="http://schemas.microsoft.com/office/powerpoint/2010/main" val="322607859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D531CB4D-40EE-4CEA-4C1F-A86C158A8A50}"/>
              </a:ext>
            </a:extLst>
          </p:cNvPr>
          <p:cNvSpPr>
            <a:spLocks noGrp="1"/>
          </p:cNvSpPr>
          <p:nvPr>
            <p:ph type="title" idx="4294967295"/>
          </p:nvPr>
        </p:nvSpPr>
        <p:spPr>
          <a:xfrm>
            <a:off x="1009061" y="630961"/>
            <a:ext cx="9733280" cy="1325563"/>
          </a:xfrm>
        </p:spPr>
        <p:txBody>
          <a:bodyPr/>
          <a:lstStyle/>
          <a:p>
            <a:pPr rtl="0" eaLnBrk="1" latinLnBrk="0" hangingPunct="1"/>
            <a:r>
              <a:rPr lang="fr-FR" sz="4000" b="1" kern="1200" err="1">
                <a:solidFill>
                  <a:srgbClr val="3B2A47"/>
                </a:solidFill>
                <a:effectLst/>
                <a:latin typeface="Calibri" panose="020F0502020204030204" pitchFamily="34" charset="0"/>
                <a:ea typeface="+mn-ea"/>
                <a:cs typeface="+mn-cs"/>
              </a:rPr>
              <a:t>Many</a:t>
            </a:r>
            <a:r>
              <a:rPr lang="fr-FR" sz="4000" b="1" kern="1200">
                <a:solidFill>
                  <a:srgbClr val="3B2A47"/>
                </a:solidFill>
                <a:effectLst/>
                <a:latin typeface="Calibri" panose="020F0502020204030204" pitchFamily="34" charset="0"/>
                <a:ea typeface="+mn-ea"/>
                <a:cs typeface="+mn-cs"/>
              </a:rPr>
              <a:t> </a:t>
            </a:r>
            <a:r>
              <a:rPr lang="fr-FR" sz="4000" b="1" kern="1200" err="1">
                <a:solidFill>
                  <a:srgbClr val="3B2A47"/>
                </a:solidFill>
                <a:effectLst/>
                <a:latin typeface="Calibri" panose="020F0502020204030204" pitchFamily="34" charset="0"/>
                <a:ea typeface="+mn-ea"/>
                <a:cs typeface="+mn-cs"/>
              </a:rPr>
              <a:t>thanks</a:t>
            </a:r>
            <a:r>
              <a:rPr lang="fr-FR" sz="4000" b="1" kern="1200">
                <a:solidFill>
                  <a:srgbClr val="3B2A47"/>
                </a:solidFill>
                <a:effectLst/>
                <a:latin typeface="Calibri" panose="020F0502020204030204" pitchFamily="34" charset="0"/>
                <a:ea typeface="+mn-ea"/>
                <a:cs typeface="+mn-cs"/>
              </a:rPr>
              <a:t> to </a:t>
            </a:r>
            <a:r>
              <a:rPr lang="fr-FR" sz="4000" b="1" kern="1200" err="1">
                <a:solidFill>
                  <a:srgbClr val="3B2A47"/>
                </a:solidFill>
                <a:effectLst/>
                <a:latin typeface="Calibri" panose="020F0502020204030204" pitchFamily="34" charset="0"/>
                <a:ea typeface="+mn-ea"/>
                <a:cs typeface="+mn-cs"/>
              </a:rPr>
              <a:t>our</a:t>
            </a:r>
            <a:r>
              <a:rPr lang="fr-FR" sz="4000" b="1" kern="1200">
                <a:solidFill>
                  <a:srgbClr val="3B2A47"/>
                </a:solidFill>
                <a:effectLst/>
                <a:latin typeface="Calibri" panose="020F0502020204030204" pitchFamily="34" charset="0"/>
                <a:ea typeface="+mn-ea"/>
                <a:cs typeface="+mn-cs"/>
              </a:rPr>
              <a:t> sponsors:</a:t>
            </a:r>
            <a:endParaRPr lang="en-DE">
              <a:solidFill>
                <a:srgbClr val="3B2A47"/>
              </a:solidFill>
            </a:endParaRPr>
          </a:p>
        </p:txBody>
      </p:sp>
      <p:pic>
        <p:nvPicPr>
          <p:cNvPr id="8" name="Graphique 7">
            <a:extLst>
              <a:ext uri="{FF2B5EF4-FFF2-40B4-BE49-F238E27FC236}">
                <a16:creationId xmlns:a16="http://schemas.microsoft.com/office/drawing/2014/main" id="{C4BDF3A9-64A1-2EA9-AABD-6B9AFBACBB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42212" y="2028538"/>
            <a:ext cx="8666978" cy="3146276"/>
          </a:xfrm>
          <a:prstGeom prst="rect">
            <a:avLst/>
          </a:prstGeom>
        </p:spPr>
      </p:pic>
    </p:spTree>
    <p:extLst>
      <p:ext uri="{BB962C8B-B14F-4D97-AF65-F5344CB8AC3E}">
        <p14:creationId xmlns:p14="http://schemas.microsoft.com/office/powerpoint/2010/main" val="3984835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3F84C9-7486-D81C-EDE7-12CE856D5B81}"/>
              </a:ext>
            </a:extLst>
          </p:cNvPr>
          <p:cNvSpPr>
            <a:spLocks noGrp="1"/>
          </p:cNvSpPr>
          <p:nvPr>
            <p:ph type="title"/>
          </p:nvPr>
        </p:nvSpPr>
        <p:spPr>
          <a:xfrm>
            <a:off x="3467312" y="324852"/>
            <a:ext cx="7886485" cy="1325563"/>
          </a:xfrm>
        </p:spPr>
        <p:txBody>
          <a:bodyPr>
            <a:normAutofit/>
          </a:bodyPr>
          <a:lstStyle/>
          <a:p>
            <a:r>
              <a:rPr lang="sv-SE" sz="6600" dirty="0">
                <a:solidFill>
                  <a:srgbClr val="346296"/>
                </a:solidFill>
                <a:latin typeface="+mn-lt"/>
                <a:ea typeface="+mn-ea"/>
                <a:cs typeface="+mn-cs"/>
              </a:rPr>
              <a:t>Emanuel Palm</a:t>
            </a:r>
            <a:endParaRPr lang="en-DE" sz="6600" dirty="0">
              <a:solidFill>
                <a:srgbClr val="346296"/>
              </a:solidFill>
              <a:latin typeface="+mn-lt"/>
              <a:ea typeface="+mn-ea"/>
              <a:cs typeface="+mn-cs"/>
            </a:endParaRPr>
          </a:p>
        </p:txBody>
      </p:sp>
      <p:pic>
        <p:nvPicPr>
          <p:cNvPr id="4" name="Image 3">
            <a:extLst>
              <a:ext uri="{FF2B5EF4-FFF2-40B4-BE49-F238E27FC236}">
                <a16:creationId xmlns:a16="http://schemas.microsoft.com/office/drawing/2014/main" id="{E6BA0E72-B9E1-A0C6-F8B0-8254DF100C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4464" y="210232"/>
            <a:ext cx="3218768" cy="3218768"/>
          </a:xfrm>
          <a:prstGeom prst="rect">
            <a:avLst/>
          </a:prstGeom>
        </p:spPr>
      </p:pic>
      <p:pic>
        <p:nvPicPr>
          <p:cNvPr id="3" name="Picture 2" descr="A blue and white diamond with letters&#10;&#10;Description automatically generated">
            <a:extLst>
              <a:ext uri="{FF2B5EF4-FFF2-40B4-BE49-F238E27FC236}">
                <a16:creationId xmlns:a16="http://schemas.microsoft.com/office/drawing/2014/main" id="{F97277A8-B1FA-11C6-BBB6-F4A3EFCAC185}"/>
              </a:ext>
            </a:extLst>
          </p:cNvPr>
          <p:cNvPicPr>
            <a:picLocks noChangeAspect="1"/>
          </p:cNvPicPr>
          <p:nvPr/>
        </p:nvPicPr>
        <p:blipFill>
          <a:blip r:embed="rId3"/>
          <a:stretch>
            <a:fillRect/>
          </a:stretch>
        </p:blipFill>
        <p:spPr>
          <a:xfrm rot="21448086">
            <a:off x="2973506" y="2873177"/>
            <a:ext cx="456337" cy="456335"/>
          </a:xfrm>
          <a:prstGeom prst="rect">
            <a:avLst/>
          </a:prstGeom>
        </p:spPr>
      </p:pic>
      <p:pic>
        <p:nvPicPr>
          <p:cNvPr id="6" name="Picture 5" descr="A logo with a white cloud and a colorful circle&#10;&#10;Description automatically generated">
            <a:extLst>
              <a:ext uri="{FF2B5EF4-FFF2-40B4-BE49-F238E27FC236}">
                <a16:creationId xmlns:a16="http://schemas.microsoft.com/office/drawing/2014/main" id="{2BED39B6-1FCD-A92F-1634-0E73D80CDF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32147" y="324853"/>
            <a:ext cx="1930668" cy="1930668"/>
          </a:xfrm>
          <a:prstGeom prst="rect">
            <a:avLst/>
          </a:prstGeom>
        </p:spPr>
      </p:pic>
      <p:sp>
        <p:nvSpPr>
          <p:cNvPr id="7" name="Text Placeholder 2">
            <a:extLst>
              <a:ext uri="{FF2B5EF4-FFF2-40B4-BE49-F238E27FC236}">
                <a16:creationId xmlns:a16="http://schemas.microsoft.com/office/drawing/2014/main" id="{EEF835CA-A013-16AF-30EB-7AC2D9709289}"/>
              </a:ext>
            </a:extLst>
          </p:cNvPr>
          <p:cNvSpPr txBox="1">
            <a:spLocks/>
          </p:cNvSpPr>
          <p:nvPr/>
        </p:nvSpPr>
        <p:spPr>
          <a:xfrm>
            <a:off x="3619714" y="2005263"/>
            <a:ext cx="7886486" cy="43241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 Everything-as-Code</a:t>
            </a:r>
          </a:p>
          <a:p>
            <a:pPr marL="0" indent="0">
              <a:buNone/>
            </a:pPr>
            <a:r>
              <a:rPr lang="en-US" dirty="0"/>
              <a:t>📦 Makes modules &amp; tools</a:t>
            </a:r>
          </a:p>
          <a:p>
            <a:pPr marL="0" indent="0">
              <a:buNone/>
            </a:pPr>
            <a:r>
              <a:rPr lang="en-US" dirty="0"/>
              <a:t>📃 Fan of Open Source</a:t>
            </a:r>
            <a:endParaRPr lang="en-US" dirty="0">
              <a:solidFill>
                <a:srgbClr val="346296"/>
              </a:solidFill>
            </a:endParaRPr>
          </a:p>
        </p:txBody>
      </p:sp>
      <p:sp>
        <p:nvSpPr>
          <p:cNvPr id="9" name="TextBox 8">
            <a:extLst>
              <a:ext uri="{FF2B5EF4-FFF2-40B4-BE49-F238E27FC236}">
                <a16:creationId xmlns:a16="http://schemas.microsoft.com/office/drawing/2014/main" id="{D27D671E-CAF7-7B95-3408-E5D8C5DC5333}"/>
              </a:ext>
            </a:extLst>
          </p:cNvPr>
          <p:cNvSpPr txBox="1"/>
          <p:nvPr/>
        </p:nvSpPr>
        <p:spPr>
          <a:xfrm>
            <a:off x="3723927" y="1202611"/>
            <a:ext cx="6154056" cy="461665"/>
          </a:xfrm>
          <a:prstGeom prst="rect">
            <a:avLst/>
          </a:prstGeom>
          <a:noFill/>
        </p:spPr>
        <p:txBody>
          <a:bodyPr wrap="square">
            <a:spAutoFit/>
          </a:bodyPr>
          <a:lstStyle/>
          <a:p>
            <a:r>
              <a:rPr lang="en-US" sz="2400" dirty="0"/>
              <a:t>Cloud Specialist @ Unwonted</a:t>
            </a:r>
            <a:endParaRPr lang="en-SE" sz="2400" dirty="0"/>
          </a:p>
        </p:txBody>
      </p:sp>
      <p:sp>
        <p:nvSpPr>
          <p:cNvPr id="10" name="TextBox 9">
            <a:extLst>
              <a:ext uri="{FF2B5EF4-FFF2-40B4-BE49-F238E27FC236}">
                <a16:creationId xmlns:a16="http://schemas.microsoft.com/office/drawing/2014/main" id="{55401B36-322C-52C1-E68F-A2CE3FC6EC2B}"/>
              </a:ext>
            </a:extLst>
          </p:cNvPr>
          <p:cNvSpPr txBox="1"/>
          <p:nvPr/>
        </p:nvSpPr>
        <p:spPr>
          <a:xfrm rot="21397328">
            <a:off x="376066" y="3456631"/>
            <a:ext cx="2812637" cy="523220"/>
          </a:xfrm>
          <a:prstGeom prst="rect">
            <a:avLst/>
          </a:prstGeom>
          <a:noFill/>
        </p:spPr>
        <p:txBody>
          <a:bodyPr wrap="square" rtlCol="0">
            <a:spAutoFit/>
          </a:bodyPr>
          <a:lstStyle/>
          <a:p>
            <a:pPr algn="ctr"/>
            <a:r>
              <a:rPr lang="sv-SE" sz="2800" dirty="0"/>
              <a:t>🏃</a:t>
            </a:r>
            <a:r>
              <a:rPr lang="en-US" sz="2800" dirty="0"/>
              <a:t>🧗🥏🍰🧙</a:t>
            </a:r>
          </a:p>
        </p:txBody>
      </p:sp>
      <p:grpSp>
        <p:nvGrpSpPr>
          <p:cNvPr id="11" name="Group 10">
            <a:extLst>
              <a:ext uri="{FF2B5EF4-FFF2-40B4-BE49-F238E27FC236}">
                <a16:creationId xmlns:a16="http://schemas.microsoft.com/office/drawing/2014/main" id="{DD9907D7-6CEF-C079-6C32-2211DA521DCF}"/>
              </a:ext>
            </a:extLst>
          </p:cNvPr>
          <p:cNvGrpSpPr/>
          <p:nvPr/>
        </p:nvGrpSpPr>
        <p:grpSpPr>
          <a:xfrm>
            <a:off x="8438899" y="5016209"/>
            <a:ext cx="817560" cy="1278360"/>
            <a:chOff x="8375688" y="4864248"/>
            <a:chExt cx="817560" cy="1278360"/>
          </a:xfrm>
        </p:grpSpPr>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7746B6E0-A707-2122-282D-0CF3A782A007}"/>
                    </a:ext>
                  </a:extLst>
                </p14:cNvPr>
                <p14:cNvContentPartPr/>
                <p14:nvPr/>
              </p14:nvContentPartPr>
              <p14:xfrm>
                <a:off x="8375688" y="4864248"/>
                <a:ext cx="629280" cy="1250640"/>
              </p14:xfrm>
            </p:contentPart>
          </mc:Choice>
          <mc:Fallback xmlns="">
            <p:pic>
              <p:nvPicPr>
                <p:cNvPr id="8" name="Ink 7">
                  <a:extLst>
                    <a:ext uri="{FF2B5EF4-FFF2-40B4-BE49-F238E27FC236}">
                      <a16:creationId xmlns:a16="http://schemas.microsoft.com/office/drawing/2014/main" id="{D6169C14-5151-D4D9-8FAD-0FA4BFFCA066}"/>
                    </a:ext>
                  </a:extLst>
                </p:cNvPr>
                <p:cNvPicPr/>
                <p:nvPr/>
              </p:nvPicPr>
              <p:blipFill>
                <a:blip r:embed="rId7"/>
                <a:stretch>
                  <a:fillRect/>
                </a:stretch>
              </p:blipFill>
              <p:spPr>
                <a:xfrm>
                  <a:off x="8357688" y="4846608"/>
                  <a:ext cx="664920" cy="1286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ACA3077A-727F-F221-4162-F97E8A04264A}"/>
                    </a:ext>
                  </a:extLst>
                </p14:cNvPr>
                <p14:cNvContentPartPr/>
                <p14:nvPr/>
              </p14:nvContentPartPr>
              <p14:xfrm>
                <a:off x="8787168" y="5888448"/>
                <a:ext cx="406080" cy="254160"/>
              </p14:xfrm>
            </p:contentPart>
          </mc:Choice>
          <mc:Fallback xmlns="">
            <p:pic>
              <p:nvPicPr>
                <p:cNvPr id="15" name="Ink 14">
                  <a:extLst>
                    <a:ext uri="{FF2B5EF4-FFF2-40B4-BE49-F238E27FC236}">
                      <a16:creationId xmlns:a16="http://schemas.microsoft.com/office/drawing/2014/main" id="{3C995D08-6431-7C2F-14FC-D6475CE53A6A}"/>
                    </a:ext>
                  </a:extLst>
                </p:cNvPr>
                <p:cNvPicPr/>
                <p:nvPr/>
              </p:nvPicPr>
              <p:blipFill>
                <a:blip r:embed="rId9"/>
                <a:stretch>
                  <a:fillRect/>
                </a:stretch>
              </p:blipFill>
              <p:spPr>
                <a:xfrm>
                  <a:off x="8769528" y="5870448"/>
                  <a:ext cx="441720" cy="289800"/>
                </a:xfrm>
                <a:prstGeom prst="rect">
                  <a:avLst/>
                </a:prstGeom>
              </p:spPr>
            </p:pic>
          </mc:Fallback>
        </mc:AlternateContent>
      </p:grpSp>
      <p:sp>
        <p:nvSpPr>
          <p:cNvPr id="15" name="TextBox 14">
            <a:extLst>
              <a:ext uri="{FF2B5EF4-FFF2-40B4-BE49-F238E27FC236}">
                <a16:creationId xmlns:a16="http://schemas.microsoft.com/office/drawing/2014/main" id="{6A14B45C-ABDC-982F-9C12-AA46B13D0BBC}"/>
              </a:ext>
            </a:extLst>
          </p:cNvPr>
          <p:cNvSpPr txBox="1"/>
          <p:nvPr/>
        </p:nvSpPr>
        <p:spPr>
          <a:xfrm>
            <a:off x="93158" y="5786064"/>
            <a:ext cx="6096000" cy="923330"/>
          </a:xfrm>
          <a:prstGeom prst="rect">
            <a:avLst/>
          </a:prstGeom>
          <a:noFill/>
        </p:spPr>
        <p:txBody>
          <a:bodyPr wrap="square">
            <a:spAutoFit/>
          </a:bodyPr>
          <a:lstStyle/>
          <a:p>
            <a:r>
              <a:rPr lang="en-US" dirty="0">
                <a:solidFill>
                  <a:srgbClr val="346297"/>
                </a:solidFill>
              </a:rPr>
              <a:t>https://</a:t>
            </a:r>
            <a:r>
              <a:rPr lang="en-US" dirty="0" err="1">
                <a:solidFill>
                  <a:srgbClr val="346297"/>
                </a:solidFill>
              </a:rPr>
              <a:t>www.powershellgallery.com</a:t>
            </a:r>
            <a:r>
              <a:rPr lang="en-US" dirty="0">
                <a:solidFill>
                  <a:srgbClr val="346297"/>
                </a:solidFill>
              </a:rPr>
              <a:t>/packages/Bicep</a:t>
            </a:r>
            <a:br>
              <a:rPr lang="en-US" dirty="0">
                <a:solidFill>
                  <a:srgbClr val="346297"/>
                </a:solidFill>
              </a:rPr>
            </a:br>
            <a:r>
              <a:rPr lang="en-US" dirty="0">
                <a:solidFill>
                  <a:srgbClr val="346297"/>
                </a:solidFill>
              </a:rPr>
              <a:t>https://</a:t>
            </a:r>
            <a:r>
              <a:rPr lang="en-US" dirty="0" err="1">
                <a:solidFill>
                  <a:srgbClr val="346297"/>
                </a:solidFill>
              </a:rPr>
              <a:t>www.powershellgallery.com</a:t>
            </a:r>
            <a:r>
              <a:rPr lang="en-US" dirty="0">
                <a:solidFill>
                  <a:srgbClr val="346297"/>
                </a:solidFill>
              </a:rPr>
              <a:t>/packages/</a:t>
            </a:r>
            <a:r>
              <a:rPr lang="en-US" dirty="0" err="1">
                <a:solidFill>
                  <a:srgbClr val="346297"/>
                </a:solidFill>
              </a:rPr>
              <a:t>AzAuth</a:t>
            </a:r>
            <a:br>
              <a:rPr lang="en-US" dirty="0">
                <a:solidFill>
                  <a:srgbClr val="346297"/>
                </a:solidFill>
              </a:rPr>
            </a:br>
            <a:r>
              <a:rPr lang="en-US" dirty="0">
                <a:solidFill>
                  <a:srgbClr val="346297"/>
                </a:solidFill>
              </a:rPr>
              <a:t>https://</a:t>
            </a:r>
            <a:r>
              <a:rPr lang="en-US" dirty="0" err="1">
                <a:solidFill>
                  <a:srgbClr val="346297"/>
                </a:solidFill>
              </a:rPr>
              <a:t>www.powershellgallery.com</a:t>
            </a:r>
            <a:r>
              <a:rPr lang="en-US" dirty="0">
                <a:solidFill>
                  <a:srgbClr val="346297"/>
                </a:solidFill>
              </a:rPr>
              <a:t>/packages/</a:t>
            </a:r>
            <a:r>
              <a:rPr lang="en-US" dirty="0" err="1">
                <a:solidFill>
                  <a:srgbClr val="346297"/>
                </a:solidFill>
              </a:rPr>
              <a:t>AzBobbyTables</a:t>
            </a:r>
            <a:endParaRPr lang="en-US" dirty="0">
              <a:solidFill>
                <a:srgbClr val="346297"/>
              </a:solidFill>
            </a:endParaRPr>
          </a:p>
        </p:txBody>
      </p:sp>
    </p:spTree>
    <p:extLst>
      <p:ext uri="{BB962C8B-B14F-4D97-AF65-F5344CB8AC3E}">
        <p14:creationId xmlns:p14="http://schemas.microsoft.com/office/powerpoint/2010/main" val="492384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xEl>
                                              <p:pRg st="2" end="2"/>
                                            </p:txEl>
                                          </p:spTgt>
                                        </p:tgtEl>
                                        <p:attrNameLst>
                                          <p:attrName>style.visibility</p:attrName>
                                        </p:attrNameLst>
                                      </p:cBhvr>
                                      <p:to>
                                        <p:strVal val="visible"/>
                                      </p:to>
                                    </p:set>
                                    <p:animEffect transition="in" filter="fade">
                                      <p:cBhvr>
                                        <p:cTn id="20" dur="500"/>
                                        <p:tgtEl>
                                          <p:spTgt spid="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100"/>
                                  </p:stCondLst>
                                  <p:iterate type="lt">
                                    <p:tmAbs val="500"/>
                                  </p:iterate>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63"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1C3E2-C51C-37B8-B59F-C3F4C07450EC}"/>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1AF12977-463C-D51D-5BEE-B916CAF0A2FE}"/>
              </a:ext>
            </a:extLst>
          </p:cNvPr>
          <p:cNvGrpSpPr/>
          <p:nvPr/>
        </p:nvGrpSpPr>
        <p:grpSpPr>
          <a:xfrm>
            <a:off x="449855" y="1690689"/>
            <a:ext cx="2536336" cy="2874891"/>
            <a:chOff x="797710" y="2083666"/>
            <a:chExt cx="1287264" cy="1459090"/>
          </a:xfrm>
        </p:grpSpPr>
        <p:pic>
          <p:nvPicPr>
            <p:cNvPr id="10" name="Graphic 9">
              <a:extLst>
                <a:ext uri="{FF2B5EF4-FFF2-40B4-BE49-F238E27FC236}">
                  <a16:creationId xmlns:a16="http://schemas.microsoft.com/office/drawing/2014/main" id="{892095BB-400D-6A4D-5096-A9B7BD2FA1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7710" y="2083666"/>
              <a:ext cx="1287264" cy="1287264"/>
            </a:xfrm>
            <a:prstGeom prst="rect">
              <a:avLst/>
            </a:prstGeom>
          </p:spPr>
        </p:pic>
        <p:sp>
          <p:nvSpPr>
            <p:cNvPr id="11" name="TextBox 10">
              <a:extLst>
                <a:ext uri="{FF2B5EF4-FFF2-40B4-BE49-F238E27FC236}">
                  <a16:creationId xmlns:a16="http://schemas.microsoft.com/office/drawing/2014/main" id="{79CCFE26-E340-F241-E5F6-982B5AE6F69E}"/>
                </a:ext>
              </a:extLst>
            </p:cNvPr>
            <p:cNvSpPr txBox="1"/>
            <p:nvPr/>
          </p:nvSpPr>
          <p:spPr>
            <a:xfrm>
              <a:off x="1028373" y="3370930"/>
              <a:ext cx="825937" cy="171826"/>
            </a:xfrm>
            <a:prstGeom prst="rect">
              <a:avLst/>
            </a:prstGeom>
            <a:noFill/>
          </p:spPr>
          <p:txBody>
            <a:bodyPr wrap="none" rtlCol="0">
              <a:spAutoFit/>
            </a:bodyPr>
            <a:lstStyle/>
            <a:p>
              <a:pPr algn="ctr"/>
              <a:r>
                <a:rPr lang="en-US" sz="1600" dirty="0">
                  <a:solidFill>
                    <a:srgbClr val="3B2B45"/>
                  </a:solidFill>
                  <a:latin typeface="Cascadia Code" panose="020B0609020000020004" pitchFamily="34" charset="0"/>
                  <a:ea typeface="Cascadia Code" panose="020B0609020000020004" pitchFamily="34" charset="0"/>
                  <a:cs typeface="Cascadia Code" panose="020B0609020000020004" pitchFamily="34" charset="0"/>
                </a:rPr>
                <a:t>Azure Portal</a:t>
              </a:r>
            </a:p>
          </p:txBody>
        </p:sp>
      </p:grpSp>
      <p:grpSp>
        <p:nvGrpSpPr>
          <p:cNvPr id="12" name="Group 11">
            <a:extLst>
              <a:ext uri="{FF2B5EF4-FFF2-40B4-BE49-F238E27FC236}">
                <a16:creationId xmlns:a16="http://schemas.microsoft.com/office/drawing/2014/main" id="{67E86A9F-1E57-3418-2367-9CAC1F8B522B}"/>
              </a:ext>
            </a:extLst>
          </p:cNvPr>
          <p:cNvGrpSpPr/>
          <p:nvPr/>
        </p:nvGrpSpPr>
        <p:grpSpPr>
          <a:xfrm>
            <a:off x="3365482" y="1517339"/>
            <a:ext cx="2869653" cy="3048241"/>
            <a:chOff x="2771800" y="1995686"/>
            <a:chExt cx="1456432" cy="1547070"/>
          </a:xfrm>
        </p:grpSpPr>
        <p:pic>
          <p:nvPicPr>
            <p:cNvPr id="13" name="Picture 12" descr="A white arrow in a blue square&#10;&#10;AI-generated content may be incorrect.">
              <a:extLst>
                <a:ext uri="{FF2B5EF4-FFF2-40B4-BE49-F238E27FC236}">
                  <a16:creationId xmlns:a16="http://schemas.microsoft.com/office/drawing/2014/main" id="{AB9450B3-9863-F0C1-42E9-E6A79B331474}"/>
                </a:ext>
              </a:extLst>
            </p:cNvPr>
            <p:cNvPicPr>
              <a:picLocks noChangeAspect="1"/>
            </p:cNvPicPr>
            <p:nvPr/>
          </p:nvPicPr>
          <p:blipFill>
            <a:blip r:embed="rId3"/>
            <a:stretch>
              <a:fillRect/>
            </a:stretch>
          </p:blipFill>
          <p:spPr>
            <a:xfrm>
              <a:off x="2771800" y="1995686"/>
              <a:ext cx="1456432" cy="1456432"/>
            </a:xfrm>
            <a:prstGeom prst="rect">
              <a:avLst/>
            </a:prstGeom>
          </p:spPr>
        </p:pic>
        <p:sp>
          <p:nvSpPr>
            <p:cNvPr id="14" name="TextBox 13">
              <a:extLst>
                <a:ext uri="{FF2B5EF4-FFF2-40B4-BE49-F238E27FC236}">
                  <a16:creationId xmlns:a16="http://schemas.microsoft.com/office/drawing/2014/main" id="{76CBABF6-6B79-A6B7-A745-C097AB0A8A07}"/>
                </a:ext>
              </a:extLst>
            </p:cNvPr>
            <p:cNvSpPr txBox="1"/>
            <p:nvPr/>
          </p:nvSpPr>
          <p:spPr>
            <a:xfrm>
              <a:off x="2970216" y="3370930"/>
              <a:ext cx="1070007" cy="171826"/>
            </a:xfrm>
            <a:prstGeom prst="rect">
              <a:avLst/>
            </a:prstGeom>
            <a:noFill/>
          </p:spPr>
          <p:txBody>
            <a:bodyPr wrap="none" rtlCol="0">
              <a:spAutoFit/>
            </a:bodyPr>
            <a:lstStyle/>
            <a:p>
              <a:pPr algn="ctr"/>
              <a:r>
                <a:rPr lang="en-US" sz="1600" dirty="0">
                  <a:solidFill>
                    <a:srgbClr val="3B2B45"/>
                  </a:solidFill>
                  <a:latin typeface="Cascadia Code" panose="020B0609020000020004" pitchFamily="34" charset="0"/>
                  <a:ea typeface="Cascadia Code" panose="020B0609020000020004" pitchFamily="34" charset="0"/>
                  <a:cs typeface="Cascadia Code" panose="020B0609020000020004" pitchFamily="34" charset="0"/>
                </a:rPr>
                <a:t>PowerShell &amp; CLI</a:t>
              </a:r>
            </a:p>
          </p:txBody>
        </p:sp>
      </p:grpSp>
      <p:grpSp>
        <p:nvGrpSpPr>
          <p:cNvPr id="15" name="Group 14">
            <a:extLst>
              <a:ext uri="{FF2B5EF4-FFF2-40B4-BE49-F238E27FC236}">
                <a16:creationId xmlns:a16="http://schemas.microsoft.com/office/drawing/2014/main" id="{1E2E807E-4417-F222-21CA-482C9253DCEB}"/>
              </a:ext>
            </a:extLst>
          </p:cNvPr>
          <p:cNvGrpSpPr/>
          <p:nvPr/>
        </p:nvGrpSpPr>
        <p:grpSpPr>
          <a:xfrm>
            <a:off x="6614426" y="1690688"/>
            <a:ext cx="2305753" cy="2874892"/>
            <a:chOff x="5014728" y="2083666"/>
            <a:chExt cx="1170236" cy="1459090"/>
          </a:xfrm>
        </p:grpSpPr>
        <p:pic>
          <p:nvPicPr>
            <p:cNvPr id="16" name="Graphic 15">
              <a:extLst>
                <a:ext uri="{FF2B5EF4-FFF2-40B4-BE49-F238E27FC236}">
                  <a16:creationId xmlns:a16="http://schemas.microsoft.com/office/drawing/2014/main" id="{0DF33B09-2982-428E-D4AC-3605A34E2DB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014728" y="2083666"/>
              <a:ext cx="1170236" cy="1196240"/>
            </a:xfrm>
            <a:prstGeom prst="rect">
              <a:avLst/>
            </a:prstGeom>
          </p:spPr>
        </p:pic>
        <p:sp>
          <p:nvSpPr>
            <p:cNvPr id="17" name="TextBox 16">
              <a:extLst>
                <a:ext uri="{FF2B5EF4-FFF2-40B4-BE49-F238E27FC236}">
                  <a16:creationId xmlns:a16="http://schemas.microsoft.com/office/drawing/2014/main" id="{2B83655C-0E1D-766A-91ED-55D0F6772C94}"/>
                </a:ext>
              </a:extLst>
            </p:cNvPr>
            <p:cNvSpPr txBox="1"/>
            <p:nvPr/>
          </p:nvSpPr>
          <p:spPr>
            <a:xfrm>
              <a:off x="5308913" y="3370930"/>
              <a:ext cx="581866" cy="171826"/>
            </a:xfrm>
            <a:prstGeom prst="rect">
              <a:avLst/>
            </a:prstGeom>
            <a:noFill/>
          </p:spPr>
          <p:txBody>
            <a:bodyPr wrap="none" rtlCol="0">
              <a:spAutoFit/>
            </a:bodyPr>
            <a:lstStyle/>
            <a:p>
              <a:pPr algn="ctr"/>
              <a:r>
                <a:rPr lang="en-US" sz="1600" dirty="0">
                  <a:solidFill>
                    <a:srgbClr val="3B2B45"/>
                  </a:solidFill>
                  <a:latin typeface="Cascadia Code" panose="020B0609020000020004" pitchFamily="34" charset="0"/>
                  <a:ea typeface="Cascadia Code" panose="020B0609020000020004" pitchFamily="34" charset="0"/>
                  <a:cs typeface="Cascadia Code" panose="020B0609020000020004" pitchFamily="34" charset="0"/>
                </a:rPr>
                <a:t>REST API</a:t>
              </a:r>
            </a:p>
          </p:txBody>
        </p:sp>
      </p:grpSp>
      <p:grpSp>
        <p:nvGrpSpPr>
          <p:cNvPr id="18" name="Group 17">
            <a:extLst>
              <a:ext uri="{FF2B5EF4-FFF2-40B4-BE49-F238E27FC236}">
                <a16:creationId xmlns:a16="http://schemas.microsoft.com/office/drawing/2014/main" id="{B188E0D9-C45A-69A3-913B-02260CE11241}"/>
              </a:ext>
            </a:extLst>
          </p:cNvPr>
          <p:cNvGrpSpPr/>
          <p:nvPr/>
        </p:nvGrpSpPr>
        <p:grpSpPr>
          <a:xfrm>
            <a:off x="9299470" y="1772466"/>
            <a:ext cx="2356989" cy="2790973"/>
            <a:chOff x="6971460" y="2124115"/>
            <a:chExt cx="1196240" cy="1416499"/>
          </a:xfrm>
        </p:grpSpPr>
        <p:pic>
          <p:nvPicPr>
            <p:cNvPr id="19" name="Picture 18" descr="A blue ribbon with a black background&#10;&#10;AI-generated content may be incorrect.">
              <a:extLst>
                <a:ext uri="{FF2B5EF4-FFF2-40B4-BE49-F238E27FC236}">
                  <a16:creationId xmlns:a16="http://schemas.microsoft.com/office/drawing/2014/main" id="{29D97899-92B9-B5A3-BF40-1CDA2A4A4F49}"/>
                </a:ext>
              </a:extLst>
            </p:cNvPr>
            <p:cNvPicPr>
              <a:picLocks noChangeAspect="1"/>
            </p:cNvPicPr>
            <p:nvPr/>
          </p:nvPicPr>
          <p:blipFill>
            <a:blip r:embed="rId5"/>
            <a:stretch>
              <a:fillRect/>
            </a:stretch>
          </p:blipFill>
          <p:spPr>
            <a:xfrm>
              <a:off x="6971460" y="2124115"/>
              <a:ext cx="1196240" cy="1196240"/>
            </a:xfrm>
            <a:prstGeom prst="rect">
              <a:avLst/>
            </a:prstGeom>
          </p:spPr>
        </p:pic>
        <p:sp>
          <p:nvSpPr>
            <p:cNvPr id="20" name="TextBox 19">
              <a:extLst>
                <a:ext uri="{FF2B5EF4-FFF2-40B4-BE49-F238E27FC236}">
                  <a16:creationId xmlns:a16="http://schemas.microsoft.com/office/drawing/2014/main" id="{6E5A32BE-E178-150C-C52A-15FF0F389D39}"/>
                </a:ext>
              </a:extLst>
            </p:cNvPr>
            <p:cNvSpPr txBox="1"/>
            <p:nvPr/>
          </p:nvSpPr>
          <p:spPr>
            <a:xfrm>
              <a:off x="7309156" y="3368788"/>
              <a:ext cx="520848" cy="171826"/>
            </a:xfrm>
            <a:prstGeom prst="rect">
              <a:avLst/>
            </a:prstGeom>
            <a:noFill/>
          </p:spPr>
          <p:txBody>
            <a:bodyPr wrap="none" rtlCol="0">
              <a:spAutoFit/>
            </a:bodyPr>
            <a:lstStyle/>
            <a:p>
              <a:pPr algn="ctr"/>
              <a:r>
                <a:rPr lang="en-US" sz="1600" dirty="0">
                  <a:solidFill>
                    <a:srgbClr val="3B2B45"/>
                  </a:solidFill>
                  <a:latin typeface="Cascadia Code" panose="020B0609020000020004" pitchFamily="34" charset="0"/>
                  <a:ea typeface="Cascadia Code" panose="020B0609020000020004" pitchFamily="34" charset="0"/>
                  <a:cs typeface="Cascadia Code" panose="020B0609020000020004" pitchFamily="34" charset="0"/>
                </a:rPr>
                <a:t>VS Code</a:t>
              </a:r>
            </a:p>
          </p:txBody>
        </p:sp>
      </p:grpSp>
      <p:pic>
        <p:nvPicPr>
          <p:cNvPr id="21" name="Picture 2">
            <a:extLst>
              <a:ext uri="{FF2B5EF4-FFF2-40B4-BE49-F238E27FC236}">
                <a16:creationId xmlns:a16="http://schemas.microsoft.com/office/drawing/2014/main" id="{C47671CC-F3AC-1C1B-6F8D-B88BF11F4AC4}"/>
              </a:ext>
            </a:extLst>
          </p:cNvPr>
          <p:cNvPicPr>
            <a:picLocks noChangeAspect="1" noChangeArrowheads="1"/>
          </p:cNvPicPr>
          <p:nvPr/>
        </p:nvPicPr>
        <p:blipFill>
          <a:blip r:embed="rId6">
            <a:alphaModFix/>
            <a:extLst>
              <a:ext uri="{28A0092B-C50C-407E-A947-70E740481C1C}">
                <a14:useLocalDpi xmlns:a14="http://schemas.microsoft.com/office/drawing/2010/main" val="0"/>
              </a:ext>
            </a:extLst>
          </a:blip>
          <a:srcRect/>
          <a:stretch>
            <a:fillRect/>
          </a:stretch>
        </p:blipFill>
        <p:spPr bwMode="auto">
          <a:xfrm>
            <a:off x="10362360" y="2409207"/>
            <a:ext cx="1075205" cy="1075205"/>
          </a:xfrm>
          <a:prstGeom prst="snip2DiagRect">
            <a:avLst>
              <a:gd name="adj1" fmla="val 0"/>
              <a:gd name="adj2" fmla="val 0"/>
            </a:avLst>
          </a:prstGeom>
          <a:noFill/>
          <a:ln w="88900" cap="sq">
            <a:noFill/>
            <a:miter lim="800000"/>
          </a:ln>
          <a:effectLst/>
        </p:spPr>
      </p:pic>
      <p:sp>
        <p:nvSpPr>
          <p:cNvPr id="2" name="Title 1">
            <a:extLst>
              <a:ext uri="{FF2B5EF4-FFF2-40B4-BE49-F238E27FC236}">
                <a16:creationId xmlns:a16="http://schemas.microsoft.com/office/drawing/2014/main" id="{FA64819B-7B49-2598-50FB-5DAA6A459ADF}"/>
              </a:ext>
            </a:extLst>
          </p:cNvPr>
          <p:cNvSpPr txBox="1">
            <a:spLocks/>
          </p:cNvSpPr>
          <p:nvPr/>
        </p:nvSpPr>
        <p:spPr>
          <a:xfrm>
            <a:off x="838200" y="365125"/>
            <a:ext cx="9733280" cy="1325563"/>
          </a:xfrm>
        </p:spPr>
        <p:txBody>
          <a:bodyPr>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3600" dirty="0">
                <a:latin typeface="+mn-lt"/>
              </a:rPr>
              <a:t>Ways to use Azure Resource Graph</a:t>
            </a:r>
          </a:p>
        </p:txBody>
      </p:sp>
    </p:spTree>
    <p:extLst>
      <p:ext uri="{BB962C8B-B14F-4D97-AF65-F5344CB8AC3E}">
        <p14:creationId xmlns:p14="http://schemas.microsoft.com/office/powerpoint/2010/main" val="4206380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additive="base">
                                        <p:cTn id="27" dur="500" fill="hold"/>
                                        <p:tgtEl>
                                          <p:spTgt spid="21"/>
                                        </p:tgtEl>
                                        <p:attrNameLst>
                                          <p:attrName>ppt_x</p:attrName>
                                        </p:attrNameLst>
                                      </p:cBhvr>
                                      <p:tavLst>
                                        <p:tav tm="0">
                                          <p:val>
                                            <p:strVal val="1+#ppt_w/2"/>
                                          </p:val>
                                        </p:tav>
                                        <p:tav tm="100000">
                                          <p:val>
                                            <p:strVal val="#ppt_x"/>
                                          </p:val>
                                        </p:tav>
                                      </p:tavLst>
                                    </p:anim>
                                    <p:anim calcmode="lin" valueType="num">
                                      <p:cBhvr additive="base">
                                        <p:cTn id="28"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46F61-B244-07D2-D5E6-77DCD8590A21}"/>
            </a:ext>
          </a:extLst>
        </p:cNvPr>
        <p:cNvGrpSpPr/>
        <p:nvPr/>
      </p:nvGrpSpPr>
      <p:grpSpPr>
        <a:xfrm>
          <a:off x="0" y="0"/>
          <a:ext cx="0" cy="0"/>
          <a:chOff x="0" y="0"/>
          <a:chExt cx="0" cy="0"/>
        </a:xfrm>
      </p:grpSpPr>
      <p:sp>
        <p:nvSpPr>
          <p:cNvPr id="5" name="Text Placeholder 2">
            <a:extLst>
              <a:ext uri="{FF2B5EF4-FFF2-40B4-BE49-F238E27FC236}">
                <a16:creationId xmlns:a16="http://schemas.microsoft.com/office/drawing/2014/main" id="{393920B6-9317-2F89-DF5F-4A7734913D84}"/>
              </a:ext>
            </a:extLst>
          </p:cNvPr>
          <p:cNvSpPr txBox="1">
            <a:spLocks/>
          </p:cNvSpPr>
          <p:nvPr/>
        </p:nvSpPr>
        <p:spPr>
          <a:xfrm>
            <a:off x="2103830" y="1131438"/>
            <a:ext cx="5034421" cy="3024863"/>
          </a:xfrm>
          <a:prstGeom prst="rect">
            <a:avLst/>
          </a:prstGeom>
        </p:spPr>
        <p:txBody>
          <a:bodyPr>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3200" kern="1200">
                <a:solidFill>
                  <a:srgbClr val="346297"/>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sz="2800" dirty="0">
                <a:latin typeface="Cascadia Code" panose="020B0609020000020004" pitchFamily="34" charset="0"/>
                <a:ea typeface="Cascadia Code" panose="020B0609020000020004" pitchFamily="34" charset="0"/>
                <a:cs typeface="Cascadia Code" panose="020B0609020000020004" pitchFamily="34" charset="0"/>
              </a:rPr>
              <a:t>Tables</a:t>
            </a:r>
          </a:p>
          <a:p>
            <a:r>
              <a:rPr lang="en-US" sz="2000"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 </a:t>
            </a:r>
          </a:p>
          <a:p>
            <a:r>
              <a:rPr lang="en-US" sz="2000" dirty="0" err="1">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ResourceContainers</a:t>
            </a:r>
            <a:endParaRPr lang="en-US" sz="2000"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endParaRPr>
          </a:p>
          <a:p>
            <a:r>
              <a:rPr lang="en-US" sz="2000" dirty="0" err="1">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AuthorizationResources</a:t>
            </a:r>
            <a:endParaRPr lang="en-US" sz="2000"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endParaRPr>
          </a:p>
          <a:p>
            <a:r>
              <a:rPr lang="en-US" sz="2000" dirty="0" err="1">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PolicyResources</a:t>
            </a:r>
            <a:endParaRPr lang="en-US" sz="2000"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endParaRPr>
          </a:p>
        </p:txBody>
      </p:sp>
      <p:sp>
        <p:nvSpPr>
          <p:cNvPr id="6" name="Text Placeholder 2">
            <a:extLst>
              <a:ext uri="{FF2B5EF4-FFF2-40B4-BE49-F238E27FC236}">
                <a16:creationId xmlns:a16="http://schemas.microsoft.com/office/drawing/2014/main" id="{A471E331-261B-6E30-8921-C8C32EC97D13}"/>
              </a:ext>
            </a:extLst>
          </p:cNvPr>
          <p:cNvSpPr txBox="1">
            <a:spLocks/>
          </p:cNvSpPr>
          <p:nvPr/>
        </p:nvSpPr>
        <p:spPr>
          <a:xfrm>
            <a:off x="6897803" y="1131438"/>
            <a:ext cx="3673677" cy="2722664"/>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rgbClr val="FFC000"/>
              </a:buClr>
              <a:buFont typeface="Arial"/>
              <a:buChar char="•"/>
              <a:defRPr sz="2000" b="0" i="0" strike="noStrike" kern="1200" baseline="0">
                <a:solidFill>
                  <a:srgbClr val="B0FFFF"/>
                </a:solidFill>
                <a:latin typeface="Roboto" panose="02000000000000000000" pitchFamily="2" charset="0"/>
                <a:ea typeface="+mn-ea"/>
                <a:cs typeface="Roboto" panose="02000000000000000000" pitchFamily="2" charset="0"/>
              </a:defRPr>
            </a:lvl1pPr>
            <a:lvl2pPr marL="742950" indent="-285750" algn="l" defTabSz="457200" rtl="0" eaLnBrk="1" latinLnBrk="0" hangingPunct="1">
              <a:spcBef>
                <a:spcPct val="20000"/>
              </a:spcBef>
              <a:buClr>
                <a:srgbClr val="FFC000"/>
              </a:buClr>
              <a:buFont typeface="Arial"/>
              <a:buChar char="•"/>
              <a:defRPr sz="1800" b="0" i="0" kern="1200" baseline="0">
                <a:solidFill>
                  <a:srgbClr val="B0FFFF"/>
                </a:solidFill>
                <a:latin typeface="Roboto" panose="02000000000000000000" pitchFamily="2" charset="0"/>
                <a:ea typeface="+mn-ea"/>
                <a:cs typeface="Roboto" panose="02000000000000000000" pitchFamily="2" charset="0"/>
              </a:defRPr>
            </a:lvl2pPr>
            <a:lvl3pPr marL="1257300" indent="-342900" algn="l" defTabSz="457200" rtl="0" eaLnBrk="1" latinLnBrk="0" hangingPunct="1">
              <a:spcBef>
                <a:spcPct val="20000"/>
              </a:spcBef>
              <a:buClr>
                <a:srgbClr val="FFC000"/>
              </a:buClr>
              <a:buFont typeface="Arial"/>
              <a:buChar char="•"/>
              <a:defRPr sz="1800" b="0" i="0" kern="1200" baseline="0">
                <a:solidFill>
                  <a:srgbClr val="B0FFFF"/>
                </a:solidFill>
                <a:latin typeface="Roboto" panose="02000000000000000000" pitchFamily="2" charset="0"/>
                <a:ea typeface="+mn-ea"/>
                <a:cs typeface="Roboto" panose="02000000000000000000" pitchFamily="2" charset="0"/>
              </a:defRPr>
            </a:lvl3pPr>
            <a:lvl4pPr marL="1600200" indent="-228600" algn="l" defTabSz="457200" rtl="0" eaLnBrk="1" latinLnBrk="0" hangingPunct="1">
              <a:spcBef>
                <a:spcPct val="20000"/>
              </a:spcBef>
              <a:buClr>
                <a:srgbClr val="FFC000"/>
              </a:buClr>
              <a:buFont typeface="Arial"/>
              <a:buChar char="•"/>
              <a:defRPr sz="1400" b="0" i="0" kern="1200" baseline="0">
                <a:solidFill>
                  <a:srgbClr val="B0FFFF"/>
                </a:solidFill>
                <a:latin typeface="Roboto" panose="02000000000000000000" pitchFamily="2" charset="0"/>
                <a:ea typeface="+mn-ea"/>
                <a:cs typeface="Roboto" panose="02000000000000000000" pitchFamily="2" charset="0"/>
              </a:defRPr>
            </a:lvl4pPr>
            <a:lvl5pPr marL="2057400" indent="-228600" algn="l" defTabSz="457200" rtl="0" eaLnBrk="1" latinLnBrk="0" hangingPunct="1">
              <a:spcBef>
                <a:spcPct val="20000"/>
              </a:spcBef>
              <a:buClr>
                <a:srgbClr val="FFC000"/>
              </a:buClr>
              <a:buFont typeface="Arial"/>
              <a:buChar char="•"/>
              <a:defRPr sz="1400" b="0" i="0" kern="1200" baseline="0">
                <a:solidFill>
                  <a:srgbClr val="B0FFFF"/>
                </a:solidFill>
                <a:latin typeface="Roboto" panose="02000000000000000000" pitchFamily="2" charset="0"/>
                <a:ea typeface="+mn-ea"/>
                <a:cs typeface="Roboto" panose="02000000000000000000" pitchFamily="2"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Clr>
                <a:srgbClr val="336297"/>
              </a:buClr>
              <a:buNone/>
            </a:pPr>
            <a:r>
              <a:rPr lang="en-US" sz="2800" dirty="0">
                <a:solidFill>
                  <a:schemeClr val="tx1"/>
                </a:solidFill>
                <a:latin typeface="Cascadia Code" panose="020B0609020000020004" pitchFamily="34" charset="0"/>
                <a:ea typeface="Cascadia Code" panose="020B0609020000020004" pitchFamily="34" charset="0"/>
                <a:cs typeface="Cascadia Code" panose="020B0609020000020004" pitchFamily="34" charset="0"/>
              </a:rPr>
              <a:t>Functions</a:t>
            </a:r>
          </a:p>
          <a:p>
            <a:pPr marL="228600" indent="-228600">
              <a:buClr>
                <a:srgbClr val="336297"/>
              </a:buClr>
              <a:buFont typeface="Wingdings" pitchFamily="2" charset="2"/>
              <a:buChar char="§"/>
            </a:pPr>
            <a:r>
              <a:rPr lang="en-US" dirty="0" err="1">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tostring</a:t>
            </a:r>
            <a:r>
              <a:rPr lang="en-US"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a:t>
            </a:r>
          </a:p>
          <a:p>
            <a:pPr marL="228600" indent="-228600">
              <a:buClr>
                <a:srgbClr val="336297"/>
              </a:buClr>
              <a:buFont typeface="Wingdings" pitchFamily="2" charset="2"/>
              <a:buChar char="§"/>
            </a:pPr>
            <a:r>
              <a:rPr lang="en-US" dirty="0" err="1">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isnotempty</a:t>
            </a:r>
            <a:r>
              <a:rPr lang="en-US"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a:t>
            </a:r>
          </a:p>
          <a:p>
            <a:pPr marL="228600" indent="-228600">
              <a:buClr>
                <a:srgbClr val="336297"/>
              </a:buClr>
              <a:buFont typeface="Wingdings" pitchFamily="2" charset="2"/>
              <a:buChar char="§"/>
            </a:pPr>
            <a:r>
              <a:rPr lang="en-US"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rand()</a:t>
            </a:r>
          </a:p>
          <a:p>
            <a:pPr marL="228600" indent="-228600">
              <a:buClr>
                <a:srgbClr val="336297"/>
              </a:buClr>
              <a:buFont typeface="Wingdings" pitchFamily="2" charset="2"/>
              <a:buChar char="§"/>
            </a:pPr>
            <a:r>
              <a:rPr lang="en-US"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 </a:t>
            </a:r>
            <a:endParaRPr lang="en-US" sz="2800"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endParaRPr>
          </a:p>
          <a:p>
            <a:pPr>
              <a:buClr>
                <a:srgbClr val="336297"/>
              </a:buClr>
              <a:buFont typeface="Wingdings" pitchFamily="2" charset="2"/>
              <a:buChar char="§"/>
            </a:pPr>
            <a:endParaRPr lang="en-US"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endParaRPr>
          </a:p>
        </p:txBody>
      </p:sp>
      <p:sp>
        <p:nvSpPr>
          <p:cNvPr id="7" name="Text Placeholder 2">
            <a:extLst>
              <a:ext uri="{FF2B5EF4-FFF2-40B4-BE49-F238E27FC236}">
                <a16:creationId xmlns:a16="http://schemas.microsoft.com/office/drawing/2014/main" id="{0ED59274-799D-724D-7DA5-C07DCB8C06E8}"/>
              </a:ext>
            </a:extLst>
          </p:cNvPr>
          <p:cNvSpPr txBox="1">
            <a:spLocks/>
          </p:cNvSpPr>
          <p:nvPr/>
        </p:nvSpPr>
        <p:spPr>
          <a:xfrm>
            <a:off x="6897803" y="3967841"/>
            <a:ext cx="3673677" cy="2847104"/>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rgbClr val="FFC000"/>
              </a:buClr>
              <a:buFont typeface="Arial"/>
              <a:buChar char="•"/>
              <a:defRPr sz="2000" b="0" i="0" strike="noStrike" kern="1200" baseline="0">
                <a:solidFill>
                  <a:srgbClr val="B0FFFF"/>
                </a:solidFill>
                <a:latin typeface="Roboto" panose="02000000000000000000" pitchFamily="2" charset="0"/>
                <a:ea typeface="+mn-ea"/>
                <a:cs typeface="Roboto" panose="02000000000000000000" pitchFamily="2" charset="0"/>
              </a:defRPr>
            </a:lvl1pPr>
            <a:lvl2pPr marL="742950" indent="-285750" algn="l" defTabSz="457200" rtl="0" eaLnBrk="1" latinLnBrk="0" hangingPunct="1">
              <a:spcBef>
                <a:spcPct val="20000"/>
              </a:spcBef>
              <a:buClr>
                <a:srgbClr val="FFC000"/>
              </a:buClr>
              <a:buFont typeface="Arial"/>
              <a:buChar char="•"/>
              <a:defRPr sz="1800" b="0" i="0" kern="1200" baseline="0">
                <a:solidFill>
                  <a:srgbClr val="B0FFFF"/>
                </a:solidFill>
                <a:latin typeface="Roboto" panose="02000000000000000000" pitchFamily="2" charset="0"/>
                <a:ea typeface="+mn-ea"/>
                <a:cs typeface="Roboto" panose="02000000000000000000" pitchFamily="2" charset="0"/>
              </a:defRPr>
            </a:lvl2pPr>
            <a:lvl3pPr marL="1257300" indent="-342900" algn="l" defTabSz="457200" rtl="0" eaLnBrk="1" latinLnBrk="0" hangingPunct="1">
              <a:spcBef>
                <a:spcPct val="20000"/>
              </a:spcBef>
              <a:buClr>
                <a:srgbClr val="FFC000"/>
              </a:buClr>
              <a:buFont typeface="Arial"/>
              <a:buChar char="•"/>
              <a:defRPr sz="1800" b="0" i="0" kern="1200" baseline="0">
                <a:solidFill>
                  <a:srgbClr val="B0FFFF"/>
                </a:solidFill>
                <a:latin typeface="Roboto" panose="02000000000000000000" pitchFamily="2" charset="0"/>
                <a:ea typeface="+mn-ea"/>
                <a:cs typeface="Roboto" panose="02000000000000000000" pitchFamily="2" charset="0"/>
              </a:defRPr>
            </a:lvl3pPr>
            <a:lvl4pPr marL="1600200" indent="-228600" algn="l" defTabSz="457200" rtl="0" eaLnBrk="1" latinLnBrk="0" hangingPunct="1">
              <a:spcBef>
                <a:spcPct val="20000"/>
              </a:spcBef>
              <a:buClr>
                <a:srgbClr val="FFC000"/>
              </a:buClr>
              <a:buFont typeface="Arial"/>
              <a:buChar char="•"/>
              <a:defRPr sz="1400" b="0" i="0" kern="1200" baseline="0">
                <a:solidFill>
                  <a:srgbClr val="B0FFFF"/>
                </a:solidFill>
                <a:latin typeface="Roboto" panose="02000000000000000000" pitchFamily="2" charset="0"/>
                <a:ea typeface="+mn-ea"/>
                <a:cs typeface="Roboto" panose="02000000000000000000" pitchFamily="2" charset="0"/>
              </a:defRPr>
            </a:lvl4pPr>
            <a:lvl5pPr marL="2057400" indent="-228600" algn="l" defTabSz="457200" rtl="0" eaLnBrk="1" latinLnBrk="0" hangingPunct="1">
              <a:spcBef>
                <a:spcPct val="20000"/>
              </a:spcBef>
              <a:buClr>
                <a:srgbClr val="FFC000"/>
              </a:buClr>
              <a:buFont typeface="Arial"/>
              <a:buChar char="•"/>
              <a:defRPr sz="1400" b="0" i="0" kern="1200" baseline="0">
                <a:solidFill>
                  <a:srgbClr val="B0FFFF"/>
                </a:solidFill>
                <a:latin typeface="Roboto" panose="02000000000000000000" pitchFamily="2" charset="0"/>
                <a:ea typeface="+mn-ea"/>
                <a:cs typeface="Roboto" panose="02000000000000000000" pitchFamily="2"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Clr>
                <a:srgbClr val="336297"/>
              </a:buClr>
              <a:buNone/>
            </a:pPr>
            <a:r>
              <a:rPr lang="en-US" sz="2800" dirty="0">
                <a:solidFill>
                  <a:schemeClr val="tx1"/>
                </a:solidFill>
                <a:latin typeface="Cascadia Code" panose="020B0609020000020004" pitchFamily="34" charset="0"/>
                <a:ea typeface="Cascadia Code" panose="020B0609020000020004" pitchFamily="34" charset="0"/>
                <a:cs typeface="Cascadia Code" panose="020B0609020000020004" pitchFamily="34" charset="0"/>
              </a:rPr>
              <a:t>Keywords</a:t>
            </a:r>
          </a:p>
          <a:p>
            <a:pPr marL="228600" indent="-228600">
              <a:buClr>
                <a:srgbClr val="336297"/>
              </a:buClr>
              <a:buFont typeface="Wingdings" pitchFamily="2" charset="2"/>
              <a:buChar char="§"/>
            </a:pPr>
            <a:r>
              <a:rPr lang="en-US"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 </a:t>
            </a:r>
          </a:p>
          <a:p>
            <a:pPr marL="228600" indent="-228600">
              <a:buClr>
                <a:srgbClr val="336297"/>
              </a:buClr>
              <a:buFont typeface="Wingdings" pitchFamily="2" charset="2"/>
              <a:buChar char="§"/>
            </a:pPr>
            <a:r>
              <a:rPr lang="en-US"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or</a:t>
            </a:r>
          </a:p>
          <a:p>
            <a:pPr marL="228600" indent="-228600">
              <a:buClr>
                <a:srgbClr val="336297"/>
              </a:buClr>
              <a:buFont typeface="Wingdings" pitchFamily="2" charset="2"/>
              <a:buChar char="§"/>
            </a:pPr>
            <a:r>
              <a:rPr lang="en-US"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by</a:t>
            </a:r>
          </a:p>
          <a:p>
            <a:pPr marL="228600" indent="-228600">
              <a:buClr>
                <a:srgbClr val="336297"/>
              </a:buClr>
              <a:buFont typeface="Wingdings" pitchFamily="2" charset="2"/>
              <a:buChar char="§"/>
            </a:pPr>
            <a:r>
              <a:rPr lang="en-US"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on</a:t>
            </a:r>
          </a:p>
        </p:txBody>
      </p:sp>
      <p:sp>
        <p:nvSpPr>
          <p:cNvPr id="22" name="Text Placeholder 2">
            <a:extLst>
              <a:ext uri="{FF2B5EF4-FFF2-40B4-BE49-F238E27FC236}">
                <a16:creationId xmlns:a16="http://schemas.microsoft.com/office/drawing/2014/main" id="{A0BB2FBE-9295-DA88-F049-B41BDCFABF71}"/>
              </a:ext>
            </a:extLst>
          </p:cNvPr>
          <p:cNvSpPr txBox="1">
            <a:spLocks/>
          </p:cNvSpPr>
          <p:nvPr/>
        </p:nvSpPr>
        <p:spPr>
          <a:xfrm>
            <a:off x="2103830" y="3935757"/>
            <a:ext cx="5034421" cy="30248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rgbClr val="FFC000"/>
              </a:buClr>
              <a:buFont typeface="Arial"/>
              <a:buChar char="•"/>
              <a:defRPr sz="2000" b="0" i="0" strike="noStrike" kern="1200" baseline="0">
                <a:solidFill>
                  <a:srgbClr val="B0FFFF"/>
                </a:solidFill>
                <a:latin typeface="Roboto" panose="02000000000000000000" pitchFamily="2" charset="0"/>
                <a:ea typeface="+mn-ea"/>
                <a:cs typeface="Roboto" panose="02000000000000000000" pitchFamily="2" charset="0"/>
              </a:defRPr>
            </a:lvl1pPr>
            <a:lvl2pPr marL="742950" indent="-285750" algn="l" defTabSz="457200" rtl="0" eaLnBrk="1" latinLnBrk="0" hangingPunct="1">
              <a:spcBef>
                <a:spcPct val="20000"/>
              </a:spcBef>
              <a:buClr>
                <a:srgbClr val="FFC000"/>
              </a:buClr>
              <a:buFont typeface="Arial"/>
              <a:buChar char="•"/>
              <a:defRPr sz="1800" b="0" i="0" kern="1200" baseline="0">
                <a:solidFill>
                  <a:srgbClr val="B0FFFF"/>
                </a:solidFill>
                <a:latin typeface="Roboto" panose="02000000000000000000" pitchFamily="2" charset="0"/>
                <a:ea typeface="+mn-ea"/>
                <a:cs typeface="Roboto" panose="02000000000000000000" pitchFamily="2" charset="0"/>
              </a:defRPr>
            </a:lvl2pPr>
            <a:lvl3pPr marL="1257300" indent="-342900" algn="l" defTabSz="457200" rtl="0" eaLnBrk="1" latinLnBrk="0" hangingPunct="1">
              <a:spcBef>
                <a:spcPct val="20000"/>
              </a:spcBef>
              <a:buClr>
                <a:srgbClr val="FFC000"/>
              </a:buClr>
              <a:buFont typeface="Arial"/>
              <a:buChar char="•"/>
              <a:defRPr sz="1800" b="0" i="0" kern="1200" baseline="0">
                <a:solidFill>
                  <a:srgbClr val="B0FFFF"/>
                </a:solidFill>
                <a:latin typeface="Roboto" panose="02000000000000000000" pitchFamily="2" charset="0"/>
                <a:ea typeface="+mn-ea"/>
                <a:cs typeface="Roboto" panose="02000000000000000000" pitchFamily="2" charset="0"/>
              </a:defRPr>
            </a:lvl3pPr>
            <a:lvl4pPr marL="1600200" indent="-228600" algn="l" defTabSz="457200" rtl="0" eaLnBrk="1" latinLnBrk="0" hangingPunct="1">
              <a:spcBef>
                <a:spcPct val="20000"/>
              </a:spcBef>
              <a:buClr>
                <a:srgbClr val="FFC000"/>
              </a:buClr>
              <a:buFont typeface="Arial"/>
              <a:buChar char="•"/>
              <a:defRPr sz="1400" b="0" i="0" kern="1200" baseline="0">
                <a:solidFill>
                  <a:srgbClr val="B0FFFF"/>
                </a:solidFill>
                <a:latin typeface="Roboto" panose="02000000000000000000" pitchFamily="2" charset="0"/>
                <a:ea typeface="+mn-ea"/>
                <a:cs typeface="Roboto" panose="02000000000000000000" pitchFamily="2" charset="0"/>
              </a:defRPr>
            </a:lvl4pPr>
            <a:lvl5pPr marL="2057400" indent="-228600" algn="l" defTabSz="457200" rtl="0" eaLnBrk="1" latinLnBrk="0" hangingPunct="1">
              <a:spcBef>
                <a:spcPct val="20000"/>
              </a:spcBef>
              <a:buClr>
                <a:srgbClr val="FFC000"/>
              </a:buClr>
              <a:buFont typeface="Arial"/>
              <a:buChar char="•"/>
              <a:defRPr sz="1400" b="0" i="0" kern="1200" baseline="0">
                <a:solidFill>
                  <a:srgbClr val="B0FFFF"/>
                </a:solidFill>
                <a:latin typeface="Roboto" panose="02000000000000000000" pitchFamily="2" charset="0"/>
                <a:ea typeface="+mn-ea"/>
                <a:cs typeface="Roboto" panose="02000000000000000000" pitchFamily="2"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Clr>
                <a:srgbClr val="336297"/>
              </a:buClr>
              <a:buNone/>
            </a:pPr>
            <a:r>
              <a:rPr lang="en-US" sz="2800" dirty="0">
                <a:solidFill>
                  <a:schemeClr val="tx1"/>
                </a:solidFill>
                <a:latin typeface="Cascadia Code" panose="020B0609020000020004" pitchFamily="34" charset="0"/>
                <a:ea typeface="Cascadia Code" panose="020B0609020000020004" pitchFamily="34" charset="0"/>
                <a:cs typeface="Cascadia Code" panose="020B0609020000020004" pitchFamily="34" charset="0"/>
              </a:rPr>
              <a:t>Operators</a:t>
            </a:r>
          </a:p>
          <a:p>
            <a:pPr marL="228600" indent="-228600">
              <a:buClr>
                <a:srgbClr val="336297"/>
              </a:buClr>
              <a:buFont typeface="Wingdings" pitchFamily="2" charset="2"/>
              <a:buChar char="§"/>
            </a:pPr>
            <a:r>
              <a:rPr lang="en-US"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 </a:t>
            </a:r>
          </a:p>
          <a:p>
            <a:pPr marL="228600" indent="-228600">
              <a:buClr>
                <a:srgbClr val="336297"/>
              </a:buClr>
              <a:buFont typeface="Wingdings" pitchFamily="2" charset="2"/>
              <a:buChar char="§"/>
            </a:pPr>
            <a:r>
              <a:rPr lang="en-US"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 </a:t>
            </a:r>
          </a:p>
          <a:p>
            <a:pPr marL="228600" indent="-228600">
              <a:buClr>
                <a:srgbClr val="336297"/>
              </a:buClr>
              <a:buFont typeface="Wingdings" pitchFamily="2" charset="2"/>
              <a:buChar char="§"/>
            </a:pPr>
            <a:r>
              <a:rPr lang="en-US"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project</a:t>
            </a:r>
          </a:p>
          <a:p>
            <a:pPr marL="228600" indent="-228600">
              <a:buClr>
                <a:srgbClr val="336297"/>
              </a:buClr>
              <a:buFont typeface="Wingdings" pitchFamily="2" charset="2"/>
              <a:buChar char="§"/>
            </a:pPr>
            <a:r>
              <a:rPr lang="en-US"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join</a:t>
            </a:r>
          </a:p>
        </p:txBody>
      </p:sp>
      <p:sp>
        <p:nvSpPr>
          <p:cNvPr id="23" name="TextBox 22">
            <a:extLst>
              <a:ext uri="{FF2B5EF4-FFF2-40B4-BE49-F238E27FC236}">
                <a16:creationId xmlns:a16="http://schemas.microsoft.com/office/drawing/2014/main" id="{61EFCC4C-EE4D-B2E9-A45A-107EA3DEDDAA}"/>
              </a:ext>
            </a:extLst>
          </p:cNvPr>
          <p:cNvSpPr txBox="1"/>
          <p:nvPr/>
        </p:nvSpPr>
        <p:spPr>
          <a:xfrm>
            <a:off x="2326509" y="1625921"/>
            <a:ext cx="1927443" cy="400110"/>
          </a:xfrm>
          <a:prstGeom prst="rect">
            <a:avLst/>
          </a:prstGeom>
          <a:noFill/>
        </p:spPr>
        <p:txBody>
          <a:bodyPr wrap="square">
            <a:spAutoFit/>
          </a:bodyPr>
          <a:lstStyle/>
          <a:p>
            <a:pPr>
              <a:buNone/>
            </a:pPr>
            <a:r>
              <a:rPr lang="en-US" sz="2000"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R</a:t>
            </a:r>
            <a:r>
              <a:rPr lang="en-US" sz="2000" b="0" dirty="0">
                <a:solidFill>
                  <a:srgbClr val="336297"/>
                </a:solidFill>
                <a:effectLst/>
                <a:latin typeface="Cascadia Code" panose="020B0609020000020004" pitchFamily="34" charset="0"/>
                <a:ea typeface="Cascadia Code" panose="020B0609020000020004" pitchFamily="34" charset="0"/>
                <a:cs typeface="Cascadia Code" panose="020B0609020000020004" pitchFamily="34" charset="0"/>
              </a:rPr>
              <a:t>esources</a:t>
            </a:r>
          </a:p>
        </p:txBody>
      </p:sp>
      <p:sp>
        <p:nvSpPr>
          <p:cNvPr id="24" name="TextBox 23">
            <a:extLst>
              <a:ext uri="{FF2B5EF4-FFF2-40B4-BE49-F238E27FC236}">
                <a16:creationId xmlns:a16="http://schemas.microsoft.com/office/drawing/2014/main" id="{CC8C4466-5F2F-5765-4BB0-CD0B559C1FCA}"/>
              </a:ext>
            </a:extLst>
          </p:cNvPr>
          <p:cNvSpPr txBox="1"/>
          <p:nvPr/>
        </p:nvSpPr>
        <p:spPr>
          <a:xfrm>
            <a:off x="2337395" y="4430770"/>
            <a:ext cx="1190283" cy="400110"/>
          </a:xfrm>
          <a:prstGeom prst="rect">
            <a:avLst/>
          </a:prstGeom>
          <a:noFill/>
        </p:spPr>
        <p:txBody>
          <a:bodyPr wrap="square">
            <a:spAutoFit/>
          </a:bodyPr>
          <a:lstStyle/>
          <a:p>
            <a:r>
              <a:rPr lang="en-US" sz="2000" b="0" dirty="0">
                <a:solidFill>
                  <a:srgbClr val="336297"/>
                </a:solidFill>
                <a:effectLst/>
                <a:latin typeface="Cascadia Code" panose="020B0609020000020004" pitchFamily="34" charset="0"/>
                <a:ea typeface="Cascadia Code" panose="020B0609020000020004" pitchFamily="34" charset="0"/>
                <a:cs typeface="Cascadia Code" panose="020B0609020000020004" pitchFamily="34" charset="0"/>
              </a:rPr>
              <a:t>where</a:t>
            </a:r>
            <a:endParaRPr lang="en-US" sz="2000"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endParaRPr>
          </a:p>
        </p:txBody>
      </p:sp>
      <p:sp>
        <p:nvSpPr>
          <p:cNvPr id="25" name="TextBox 24">
            <a:extLst>
              <a:ext uri="{FF2B5EF4-FFF2-40B4-BE49-F238E27FC236}">
                <a16:creationId xmlns:a16="http://schemas.microsoft.com/office/drawing/2014/main" id="{8498219C-0E76-A093-C455-0297B2C0FA1D}"/>
              </a:ext>
            </a:extLst>
          </p:cNvPr>
          <p:cNvSpPr txBox="1"/>
          <p:nvPr/>
        </p:nvSpPr>
        <p:spPr>
          <a:xfrm>
            <a:off x="2337395" y="4819994"/>
            <a:ext cx="1798487" cy="400110"/>
          </a:xfrm>
          <a:prstGeom prst="rect">
            <a:avLst/>
          </a:prstGeom>
          <a:noFill/>
        </p:spPr>
        <p:txBody>
          <a:bodyPr wrap="square">
            <a:spAutoFit/>
          </a:bodyPr>
          <a:lstStyle/>
          <a:p>
            <a:r>
              <a:rPr lang="en-US" sz="2000" b="0" dirty="0">
                <a:solidFill>
                  <a:srgbClr val="336297"/>
                </a:solidFill>
                <a:effectLst/>
                <a:latin typeface="Cascadia Code" panose="020B0609020000020004" pitchFamily="34" charset="0"/>
                <a:ea typeface="Cascadia Code" panose="020B0609020000020004" pitchFamily="34" charset="0"/>
                <a:cs typeface="Cascadia Code" panose="020B0609020000020004" pitchFamily="34" charset="0"/>
              </a:rPr>
              <a:t>contains</a:t>
            </a:r>
            <a:endParaRPr lang="en-US" sz="2000"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endParaRPr>
          </a:p>
        </p:txBody>
      </p:sp>
      <p:sp>
        <p:nvSpPr>
          <p:cNvPr id="26" name="TextBox 25">
            <a:extLst>
              <a:ext uri="{FF2B5EF4-FFF2-40B4-BE49-F238E27FC236}">
                <a16:creationId xmlns:a16="http://schemas.microsoft.com/office/drawing/2014/main" id="{ABC1DECA-60E5-0169-A2F5-8B4DF17E9BC4}"/>
              </a:ext>
            </a:extLst>
          </p:cNvPr>
          <p:cNvSpPr txBox="1"/>
          <p:nvPr/>
        </p:nvSpPr>
        <p:spPr>
          <a:xfrm>
            <a:off x="7124489" y="2702445"/>
            <a:ext cx="1706435" cy="400110"/>
          </a:xfrm>
          <a:prstGeom prst="rect">
            <a:avLst/>
          </a:prstGeom>
          <a:noFill/>
        </p:spPr>
        <p:txBody>
          <a:bodyPr wrap="square">
            <a:spAutoFit/>
          </a:bodyPr>
          <a:lstStyle/>
          <a:p>
            <a:r>
              <a:rPr lang="en-US" sz="2000" b="0" dirty="0">
                <a:solidFill>
                  <a:srgbClr val="336297"/>
                </a:solidFill>
                <a:effectLst/>
                <a:latin typeface="Cascadia Code" panose="020B0609020000020004" pitchFamily="34" charset="0"/>
                <a:ea typeface="Cascadia Code" panose="020B0609020000020004" pitchFamily="34" charset="0"/>
                <a:cs typeface="Cascadia Code" panose="020B0609020000020004" pitchFamily="34" charset="0"/>
              </a:rPr>
              <a:t>not(</a:t>
            </a:r>
            <a:endParaRPr lang="en-US" sz="2000"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endParaRPr>
          </a:p>
        </p:txBody>
      </p:sp>
      <p:sp>
        <p:nvSpPr>
          <p:cNvPr id="27" name="TextBox 26">
            <a:extLst>
              <a:ext uri="{FF2B5EF4-FFF2-40B4-BE49-F238E27FC236}">
                <a16:creationId xmlns:a16="http://schemas.microsoft.com/office/drawing/2014/main" id="{4E1F5168-A38C-7028-CA4F-8EB04A7BC36B}"/>
              </a:ext>
            </a:extLst>
          </p:cNvPr>
          <p:cNvSpPr txBox="1"/>
          <p:nvPr/>
        </p:nvSpPr>
        <p:spPr>
          <a:xfrm>
            <a:off x="7730843" y="2702445"/>
            <a:ext cx="731241" cy="400110"/>
          </a:xfrm>
          <a:prstGeom prst="rect">
            <a:avLst/>
          </a:prstGeom>
          <a:noFill/>
        </p:spPr>
        <p:txBody>
          <a:bodyPr wrap="square">
            <a:spAutoFit/>
          </a:bodyPr>
          <a:lstStyle/>
          <a:p>
            <a:r>
              <a:rPr lang="en-US" sz="2000" b="0" dirty="0">
                <a:solidFill>
                  <a:srgbClr val="336297"/>
                </a:solidFill>
                <a:effectLst/>
                <a:latin typeface="Cascadia Code" panose="020B0609020000020004" pitchFamily="34" charset="0"/>
                <a:ea typeface="Cascadia Code" panose="020B0609020000020004" pitchFamily="34" charset="0"/>
                <a:cs typeface="Cascadia Code" panose="020B0609020000020004" pitchFamily="34" charset="0"/>
              </a:rPr>
              <a:t>)</a:t>
            </a:r>
            <a:endParaRPr lang="en-US" sz="2000"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endParaRPr>
          </a:p>
        </p:txBody>
      </p:sp>
      <p:sp>
        <p:nvSpPr>
          <p:cNvPr id="28" name="TextBox 27">
            <a:extLst>
              <a:ext uri="{FF2B5EF4-FFF2-40B4-BE49-F238E27FC236}">
                <a16:creationId xmlns:a16="http://schemas.microsoft.com/office/drawing/2014/main" id="{166FC0B3-EFFA-DA9C-1C40-E148DA43CCBB}"/>
              </a:ext>
            </a:extLst>
          </p:cNvPr>
          <p:cNvSpPr txBox="1"/>
          <p:nvPr/>
        </p:nvSpPr>
        <p:spPr>
          <a:xfrm>
            <a:off x="7138250" y="4453438"/>
            <a:ext cx="1392025" cy="400110"/>
          </a:xfrm>
          <a:prstGeom prst="rect">
            <a:avLst/>
          </a:prstGeom>
          <a:noFill/>
        </p:spPr>
        <p:txBody>
          <a:bodyPr wrap="square">
            <a:spAutoFit/>
          </a:bodyPr>
          <a:lstStyle/>
          <a:p>
            <a:r>
              <a:rPr lang="en-US" sz="2000" b="0" dirty="0">
                <a:solidFill>
                  <a:srgbClr val="336297"/>
                </a:solidFill>
                <a:effectLst/>
                <a:latin typeface="Cascadia Code" panose="020B0609020000020004" pitchFamily="34" charset="0"/>
                <a:ea typeface="Cascadia Code" panose="020B0609020000020004" pitchFamily="34" charset="0"/>
                <a:cs typeface="Cascadia Code" panose="020B0609020000020004" pitchFamily="34" charset="0"/>
              </a:rPr>
              <a:t>and</a:t>
            </a:r>
            <a:endParaRPr lang="en-US" sz="2000"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endParaRPr>
          </a:p>
        </p:txBody>
      </p:sp>
      <p:sp>
        <p:nvSpPr>
          <p:cNvPr id="29" name="TextBox 28">
            <a:extLst>
              <a:ext uri="{FF2B5EF4-FFF2-40B4-BE49-F238E27FC236}">
                <a16:creationId xmlns:a16="http://schemas.microsoft.com/office/drawing/2014/main" id="{8B4E1D9F-4F18-436A-F000-E65B6DF1DCD4}"/>
              </a:ext>
            </a:extLst>
          </p:cNvPr>
          <p:cNvSpPr txBox="1"/>
          <p:nvPr/>
        </p:nvSpPr>
        <p:spPr>
          <a:xfrm>
            <a:off x="7138251" y="4452541"/>
            <a:ext cx="1392025" cy="400110"/>
          </a:xfrm>
          <a:prstGeom prst="rect">
            <a:avLst/>
          </a:prstGeom>
          <a:noFill/>
        </p:spPr>
        <p:txBody>
          <a:bodyPr wrap="square">
            <a:spAutoFit/>
          </a:bodyPr>
          <a:lstStyle/>
          <a:p>
            <a:r>
              <a:rPr lang="en-US" sz="2000" b="0" dirty="0">
                <a:solidFill>
                  <a:srgbClr val="336297"/>
                </a:solidFill>
                <a:effectLst/>
                <a:latin typeface="Cascadia Code" panose="020B0609020000020004" pitchFamily="34" charset="0"/>
                <a:ea typeface="Cascadia Code" panose="020B0609020000020004" pitchFamily="34" charset="0"/>
                <a:cs typeface="Cascadia Code" panose="020B0609020000020004" pitchFamily="34" charset="0"/>
              </a:rPr>
              <a:t>and</a:t>
            </a:r>
            <a:endParaRPr lang="en-US" sz="2000"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endParaRPr>
          </a:p>
        </p:txBody>
      </p:sp>
      <p:sp>
        <p:nvSpPr>
          <p:cNvPr id="2" name="Title 1">
            <a:extLst>
              <a:ext uri="{FF2B5EF4-FFF2-40B4-BE49-F238E27FC236}">
                <a16:creationId xmlns:a16="http://schemas.microsoft.com/office/drawing/2014/main" id="{6B55E528-666F-F9E0-D18D-119C5A74C455}"/>
              </a:ext>
            </a:extLst>
          </p:cNvPr>
          <p:cNvSpPr txBox="1">
            <a:spLocks/>
          </p:cNvSpPr>
          <p:nvPr/>
        </p:nvSpPr>
        <p:spPr>
          <a:xfrm>
            <a:off x="838200" y="365125"/>
            <a:ext cx="9733280" cy="1325563"/>
          </a:xfrm>
        </p:spPr>
        <p:txBody>
          <a:bodyPr>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3600" dirty="0">
                <a:latin typeface="+mn-lt"/>
              </a:rPr>
              <a:t>ARG KQL Syntax</a:t>
            </a:r>
          </a:p>
        </p:txBody>
      </p:sp>
    </p:spTree>
    <p:extLst>
      <p:ext uri="{BB962C8B-B14F-4D97-AF65-F5344CB8AC3E}">
        <p14:creationId xmlns:p14="http://schemas.microsoft.com/office/powerpoint/2010/main" val="607369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animEffect transition="in" filter="fade">
                                      <p:cBhvr>
                                        <p:cTn id="18" dur="500"/>
                                        <p:tgtEl>
                                          <p:spTgt spid="5">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fade">
                                      <p:cBhvr>
                                        <p:cTn id="21" dur="500"/>
                                        <p:tgtEl>
                                          <p:spTgt spid="5">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4" end="4"/>
                                            </p:txEl>
                                          </p:spTgt>
                                        </p:tgtEl>
                                        <p:attrNameLst>
                                          <p:attrName>style.visibility</p:attrName>
                                        </p:attrNameLst>
                                      </p:cBhvr>
                                      <p:to>
                                        <p:strVal val="visible"/>
                                      </p:to>
                                    </p:set>
                                    <p:animEffect transition="in" filter="fade">
                                      <p:cBhvr>
                                        <p:cTn id="24" dur="500"/>
                                        <p:tgtEl>
                                          <p:spTgt spid="5">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2">
                                            <p:txEl>
                                              <p:pRg st="0" end="0"/>
                                            </p:txEl>
                                          </p:spTgt>
                                        </p:tgtEl>
                                        <p:attrNameLst>
                                          <p:attrName>style.visibility</p:attrName>
                                        </p:attrNameLst>
                                      </p:cBhvr>
                                      <p:to>
                                        <p:strVal val="visible"/>
                                      </p:to>
                                    </p:set>
                                    <p:animEffect transition="in" filter="fade">
                                      <p:cBhvr>
                                        <p:cTn id="29" dur="500"/>
                                        <p:tgtEl>
                                          <p:spTgt spid="22">
                                            <p:txEl>
                                              <p:pRg st="0" end="0"/>
                                            </p:txEl>
                                          </p:spTgt>
                                        </p:tgtEl>
                                      </p:cBhvr>
                                    </p:animEffect>
                                  </p:childTnLst>
                                </p:cTn>
                              </p:par>
                              <p:par>
                                <p:cTn id="30" presetID="9" presetClass="emph" presetSubtype="0" grpId="1" nodeType="withEffect">
                                  <p:stCondLst>
                                    <p:cond delay="0"/>
                                  </p:stCondLst>
                                  <p:childTnLst>
                                    <p:set>
                                      <p:cBhvr>
                                        <p:cTn id="31" dur="indefinite"/>
                                        <p:tgtEl>
                                          <p:spTgt spid="5">
                                            <p:txEl>
                                              <p:pRg st="0" end="0"/>
                                            </p:txEl>
                                          </p:spTgt>
                                        </p:tgtEl>
                                        <p:attrNameLst>
                                          <p:attrName>style.opacity</p:attrName>
                                        </p:attrNameLst>
                                      </p:cBhvr>
                                      <p:to>
                                        <p:strVal val="0.5"/>
                                      </p:to>
                                    </p:set>
                                    <p:animEffect filter="image" prLst="opacity: 0.5">
                                      <p:cBhvr rctx="IE">
                                        <p:cTn id="32" dur="indefinite"/>
                                        <p:tgtEl>
                                          <p:spTgt spid="5">
                                            <p:txEl>
                                              <p:pRg st="0" end="0"/>
                                            </p:txEl>
                                          </p:spTgt>
                                        </p:tgtEl>
                                      </p:cBhvr>
                                    </p:animEffect>
                                  </p:childTnLst>
                                </p:cTn>
                              </p:par>
                              <p:par>
                                <p:cTn id="33" presetID="9" presetClass="emph" presetSubtype="0" grpId="1" nodeType="withEffect">
                                  <p:stCondLst>
                                    <p:cond delay="0"/>
                                  </p:stCondLst>
                                  <p:childTnLst>
                                    <p:set>
                                      <p:cBhvr>
                                        <p:cTn id="34" dur="indefinite"/>
                                        <p:tgtEl>
                                          <p:spTgt spid="5">
                                            <p:txEl>
                                              <p:pRg st="1" end="1"/>
                                            </p:txEl>
                                          </p:spTgt>
                                        </p:tgtEl>
                                        <p:attrNameLst>
                                          <p:attrName>style.opacity</p:attrName>
                                        </p:attrNameLst>
                                      </p:cBhvr>
                                      <p:to>
                                        <p:strVal val="0.5"/>
                                      </p:to>
                                    </p:set>
                                    <p:animEffect filter="image" prLst="opacity: 0.5">
                                      <p:cBhvr rctx="IE">
                                        <p:cTn id="35" dur="indefinite"/>
                                        <p:tgtEl>
                                          <p:spTgt spid="5">
                                            <p:txEl>
                                              <p:pRg st="1" end="1"/>
                                            </p:txEl>
                                          </p:spTgt>
                                        </p:tgtEl>
                                      </p:cBhvr>
                                    </p:animEffect>
                                  </p:childTnLst>
                                </p:cTn>
                              </p:par>
                              <p:par>
                                <p:cTn id="36" presetID="9" presetClass="emph" presetSubtype="0" grpId="1" nodeType="withEffect">
                                  <p:stCondLst>
                                    <p:cond delay="0"/>
                                  </p:stCondLst>
                                  <p:childTnLst>
                                    <p:set>
                                      <p:cBhvr>
                                        <p:cTn id="37" dur="indefinite"/>
                                        <p:tgtEl>
                                          <p:spTgt spid="23"/>
                                        </p:tgtEl>
                                        <p:attrNameLst>
                                          <p:attrName>style.opacity</p:attrName>
                                        </p:attrNameLst>
                                      </p:cBhvr>
                                      <p:to>
                                        <p:strVal val="0.5"/>
                                      </p:to>
                                    </p:set>
                                    <p:animEffect filter="image" prLst="opacity: 0.5">
                                      <p:cBhvr rctx="IE">
                                        <p:cTn id="38" dur="indefinite"/>
                                        <p:tgtEl>
                                          <p:spTgt spid="23"/>
                                        </p:tgtEl>
                                      </p:cBhvr>
                                    </p:animEffect>
                                  </p:childTnLst>
                                </p:cTn>
                              </p:par>
                              <p:par>
                                <p:cTn id="39" presetID="9" presetClass="emph" presetSubtype="0" grpId="1" nodeType="withEffect">
                                  <p:stCondLst>
                                    <p:cond delay="0"/>
                                  </p:stCondLst>
                                  <p:childTnLst>
                                    <p:set>
                                      <p:cBhvr>
                                        <p:cTn id="40" dur="indefinite"/>
                                        <p:tgtEl>
                                          <p:spTgt spid="5">
                                            <p:txEl>
                                              <p:pRg st="2" end="2"/>
                                            </p:txEl>
                                          </p:spTgt>
                                        </p:tgtEl>
                                        <p:attrNameLst>
                                          <p:attrName>style.opacity</p:attrName>
                                        </p:attrNameLst>
                                      </p:cBhvr>
                                      <p:to>
                                        <p:strVal val="0.5"/>
                                      </p:to>
                                    </p:set>
                                    <p:animEffect filter="image" prLst="opacity: 0.5">
                                      <p:cBhvr rctx="IE">
                                        <p:cTn id="41" dur="indefinite"/>
                                        <p:tgtEl>
                                          <p:spTgt spid="5">
                                            <p:txEl>
                                              <p:pRg st="2" end="2"/>
                                            </p:txEl>
                                          </p:spTgt>
                                        </p:tgtEl>
                                      </p:cBhvr>
                                    </p:animEffect>
                                  </p:childTnLst>
                                </p:cTn>
                              </p:par>
                              <p:par>
                                <p:cTn id="42" presetID="9" presetClass="emph" presetSubtype="0" grpId="1" nodeType="withEffect">
                                  <p:stCondLst>
                                    <p:cond delay="0"/>
                                  </p:stCondLst>
                                  <p:childTnLst>
                                    <p:set>
                                      <p:cBhvr>
                                        <p:cTn id="43" dur="indefinite"/>
                                        <p:tgtEl>
                                          <p:spTgt spid="5">
                                            <p:txEl>
                                              <p:pRg st="3" end="3"/>
                                            </p:txEl>
                                          </p:spTgt>
                                        </p:tgtEl>
                                        <p:attrNameLst>
                                          <p:attrName>style.opacity</p:attrName>
                                        </p:attrNameLst>
                                      </p:cBhvr>
                                      <p:to>
                                        <p:strVal val="0.5"/>
                                      </p:to>
                                    </p:set>
                                    <p:animEffect filter="image" prLst="opacity: 0.5">
                                      <p:cBhvr rctx="IE">
                                        <p:cTn id="44" dur="indefinite"/>
                                        <p:tgtEl>
                                          <p:spTgt spid="5">
                                            <p:txEl>
                                              <p:pRg st="3" end="3"/>
                                            </p:txEl>
                                          </p:spTgt>
                                        </p:tgtEl>
                                      </p:cBhvr>
                                    </p:animEffect>
                                  </p:childTnLst>
                                </p:cTn>
                              </p:par>
                              <p:par>
                                <p:cTn id="45" presetID="9" presetClass="emph" presetSubtype="0" grpId="1" nodeType="withEffect">
                                  <p:stCondLst>
                                    <p:cond delay="0"/>
                                  </p:stCondLst>
                                  <p:childTnLst>
                                    <p:set>
                                      <p:cBhvr>
                                        <p:cTn id="46" dur="indefinite"/>
                                        <p:tgtEl>
                                          <p:spTgt spid="5">
                                            <p:txEl>
                                              <p:pRg st="4" end="4"/>
                                            </p:txEl>
                                          </p:spTgt>
                                        </p:tgtEl>
                                        <p:attrNameLst>
                                          <p:attrName>style.opacity</p:attrName>
                                        </p:attrNameLst>
                                      </p:cBhvr>
                                      <p:to>
                                        <p:strVal val="0.5"/>
                                      </p:to>
                                    </p:set>
                                    <p:animEffect filter="image" prLst="opacity: 0.5">
                                      <p:cBhvr rctx="IE">
                                        <p:cTn id="47" dur="indefinite"/>
                                        <p:tgtEl>
                                          <p:spTgt spid="5">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2">
                                            <p:txEl>
                                              <p:pRg st="1" end="1"/>
                                            </p:txEl>
                                          </p:spTgt>
                                        </p:tgtEl>
                                        <p:attrNameLst>
                                          <p:attrName>style.visibility</p:attrName>
                                        </p:attrNameLst>
                                      </p:cBhvr>
                                      <p:to>
                                        <p:strVal val="visible"/>
                                      </p:to>
                                    </p:set>
                                    <p:animEffect transition="in" filter="fade">
                                      <p:cBhvr>
                                        <p:cTn id="52" dur="500"/>
                                        <p:tgtEl>
                                          <p:spTgt spid="22">
                                            <p:txEl>
                                              <p:pRg st="1" end="1"/>
                                            </p:tx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xEl>
                                              <p:pRg st="2" end="2"/>
                                            </p:txEl>
                                          </p:spTgt>
                                        </p:tgtEl>
                                        <p:attrNameLst>
                                          <p:attrName>style.visibility</p:attrName>
                                        </p:attrNameLst>
                                      </p:cBhvr>
                                      <p:to>
                                        <p:strVal val="visible"/>
                                      </p:to>
                                    </p:set>
                                    <p:animEffect transition="in" filter="fade">
                                      <p:cBhvr>
                                        <p:cTn id="55" dur="500"/>
                                        <p:tgtEl>
                                          <p:spTgt spid="22">
                                            <p:txEl>
                                              <p:pRg st="2" end="2"/>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xEl>
                                              <p:pRg st="3" end="3"/>
                                            </p:txEl>
                                          </p:spTgt>
                                        </p:tgtEl>
                                        <p:attrNameLst>
                                          <p:attrName>style.visibility</p:attrName>
                                        </p:attrNameLst>
                                      </p:cBhvr>
                                      <p:to>
                                        <p:strVal val="visible"/>
                                      </p:to>
                                    </p:set>
                                    <p:animEffect transition="in" filter="fade">
                                      <p:cBhvr>
                                        <p:cTn id="64" dur="500"/>
                                        <p:tgtEl>
                                          <p:spTgt spid="22">
                                            <p:txEl>
                                              <p:pRg st="3" end="3"/>
                                            </p:txEl>
                                          </p:spTgt>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
                                            <p:txEl>
                                              <p:pRg st="4" end="4"/>
                                            </p:txEl>
                                          </p:spTgt>
                                        </p:tgtEl>
                                        <p:attrNameLst>
                                          <p:attrName>style.visibility</p:attrName>
                                        </p:attrNameLst>
                                      </p:cBhvr>
                                      <p:to>
                                        <p:strVal val="visible"/>
                                      </p:to>
                                    </p:set>
                                    <p:animEffect transition="in" filter="fade">
                                      <p:cBhvr>
                                        <p:cTn id="67" dur="500"/>
                                        <p:tgtEl>
                                          <p:spTgt spid="22">
                                            <p:txEl>
                                              <p:pRg st="4" end="4"/>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6">
                                            <p:txEl>
                                              <p:pRg st="0" end="0"/>
                                            </p:txEl>
                                          </p:spTgt>
                                        </p:tgtEl>
                                        <p:attrNameLst>
                                          <p:attrName>style.visibility</p:attrName>
                                        </p:attrNameLst>
                                      </p:cBhvr>
                                      <p:to>
                                        <p:strVal val="visible"/>
                                      </p:to>
                                    </p:set>
                                    <p:animEffect transition="in" filter="fade">
                                      <p:cBhvr>
                                        <p:cTn id="72" dur="500"/>
                                        <p:tgtEl>
                                          <p:spTgt spid="6">
                                            <p:txEl>
                                              <p:pRg st="0" end="0"/>
                                            </p:txEl>
                                          </p:spTgt>
                                        </p:tgtEl>
                                      </p:cBhvr>
                                    </p:animEffect>
                                  </p:childTnLst>
                                </p:cTn>
                              </p:par>
                              <p:par>
                                <p:cTn id="73" presetID="9" presetClass="emph" presetSubtype="0" grpId="1" nodeType="withEffect">
                                  <p:stCondLst>
                                    <p:cond delay="0"/>
                                  </p:stCondLst>
                                  <p:childTnLst>
                                    <p:set>
                                      <p:cBhvr>
                                        <p:cTn id="74" dur="indefinite"/>
                                        <p:tgtEl>
                                          <p:spTgt spid="22">
                                            <p:txEl>
                                              <p:pRg st="0" end="0"/>
                                            </p:txEl>
                                          </p:spTgt>
                                        </p:tgtEl>
                                        <p:attrNameLst>
                                          <p:attrName>style.opacity</p:attrName>
                                        </p:attrNameLst>
                                      </p:cBhvr>
                                      <p:to>
                                        <p:strVal val="0.5"/>
                                      </p:to>
                                    </p:set>
                                    <p:animEffect filter="image" prLst="opacity: 0.5">
                                      <p:cBhvr rctx="IE">
                                        <p:cTn id="75" dur="indefinite"/>
                                        <p:tgtEl>
                                          <p:spTgt spid="22">
                                            <p:txEl>
                                              <p:pRg st="0" end="0"/>
                                            </p:txEl>
                                          </p:spTgt>
                                        </p:tgtEl>
                                      </p:cBhvr>
                                    </p:animEffect>
                                  </p:childTnLst>
                                </p:cTn>
                              </p:par>
                              <p:par>
                                <p:cTn id="76" presetID="9" presetClass="emph" presetSubtype="0" grpId="1" nodeType="withEffect">
                                  <p:stCondLst>
                                    <p:cond delay="0"/>
                                  </p:stCondLst>
                                  <p:childTnLst>
                                    <p:set>
                                      <p:cBhvr>
                                        <p:cTn id="77" dur="indefinite"/>
                                        <p:tgtEl>
                                          <p:spTgt spid="22">
                                            <p:txEl>
                                              <p:pRg st="1" end="1"/>
                                            </p:txEl>
                                          </p:spTgt>
                                        </p:tgtEl>
                                        <p:attrNameLst>
                                          <p:attrName>style.opacity</p:attrName>
                                        </p:attrNameLst>
                                      </p:cBhvr>
                                      <p:to>
                                        <p:strVal val="0.5"/>
                                      </p:to>
                                    </p:set>
                                    <p:animEffect filter="image" prLst="opacity: 0.5">
                                      <p:cBhvr rctx="IE">
                                        <p:cTn id="78" dur="indefinite"/>
                                        <p:tgtEl>
                                          <p:spTgt spid="22">
                                            <p:txEl>
                                              <p:pRg st="1" end="1"/>
                                            </p:txEl>
                                          </p:spTgt>
                                        </p:tgtEl>
                                      </p:cBhvr>
                                    </p:animEffect>
                                  </p:childTnLst>
                                </p:cTn>
                              </p:par>
                              <p:par>
                                <p:cTn id="79" presetID="9" presetClass="emph" presetSubtype="0" grpId="1" nodeType="withEffect">
                                  <p:stCondLst>
                                    <p:cond delay="0"/>
                                  </p:stCondLst>
                                  <p:childTnLst>
                                    <p:set>
                                      <p:cBhvr>
                                        <p:cTn id="80" dur="indefinite"/>
                                        <p:tgtEl>
                                          <p:spTgt spid="22">
                                            <p:txEl>
                                              <p:pRg st="2" end="2"/>
                                            </p:txEl>
                                          </p:spTgt>
                                        </p:tgtEl>
                                        <p:attrNameLst>
                                          <p:attrName>style.opacity</p:attrName>
                                        </p:attrNameLst>
                                      </p:cBhvr>
                                      <p:to>
                                        <p:strVal val="0.5"/>
                                      </p:to>
                                    </p:set>
                                    <p:animEffect filter="image" prLst="opacity: 0.5">
                                      <p:cBhvr rctx="IE">
                                        <p:cTn id="81" dur="indefinite"/>
                                        <p:tgtEl>
                                          <p:spTgt spid="22">
                                            <p:txEl>
                                              <p:pRg st="2" end="2"/>
                                            </p:txEl>
                                          </p:spTgt>
                                        </p:tgtEl>
                                      </p:cBhvr>
                                    </p:animEffect>
                                  </p:childTnLst>
                                </p:cTn>
                              </p:par>
                              <p:par>
                                <p:cTn id="82" presetID="9" presetClass="emph" presetSubtype="0" grpId="1" nodeType="withEffect">
                                  <p:stCondLst>
                                    <p:cond delay="0"/>
                                  </p:stCondLst>
                                  <p:childTnLst>
                                    <p:set>
                                      <p:cBhvr>
                                        <p:cTn id="83" dur="indefinite"/>
                                        <p:tgtEl>
                                          <p:spTgt spid="24"/>
                                        </p:tgtEl>
                                        <p:attrNameLst>
                                          <p:attrName>style.opacity</p:attrName>
                                        </p:attrNameLst>
                                      </p:cBhvr>
                                      <p:to>
                                        <p:strVal val="0.5"/>
                                      </p:to>
                                    </p:set>
                                    <p:animEffect filter="image" prLst="opacity: 0.5">
                                      <p:cBhvr rctx="IE">
                                        <p:cTn id="84" dur="indefinite"/>
                                        <p:tgtEl>
                                          <p:spTgt spid="24"/>
                                        </p:tgtEl>
                                      </p:cBhvr>
                                    </p:animEffect>
                                  </p:childTnLst>
                                </p:cTn>
                              </p:par>
                              <p:par>
                                <p:cTn id="85" presetID="9" presetClass="emph" presetSubtype="0" grpId="1" nodeType="withEffect">
                                  <p:stCondLst>
                                    <p:cond delay="0"/>
                                  </p:stCondLst>
                                  <p:childTnLst>
                                    <p:set>
                                      <p:cBhvr>
                                        <p:cTn id="86" dur="indefinite"/>
                                        <p:tgtEl>
                                          <p:spTgt spid="25"/>
                                        </p:tgtEl>
                                        <p:attrNameLst>
                                          <p:attrName>style.opacity</p:attrName>
                                        </p:attrNameLst>
                                      </p:cBhvr>
                                      <p:to>
                                        <p:strVal val="0.5"/>
                                      </p:to>
                                    </p:set>
                                    <p:animEffect filter="image" prLst="opacity: 0.5">
                                      <p:cBhvr rctx="IE">
                                        <p:cTn id="87" dur="indefinite"/>
                                        <p:tgtEl>
                                          <p:spTgt spid="25"/>
                                        </p:tgtEl>
                                      </p:cBhvr>
                                    </p:animEffect>
                                  </p:childTnLst>
                                </p:cTn>
                              </p:par>
                              <p:par>
                                <p:cTn id="88" presetID="9" presetClass="emph" presetSubtype="0" grpId="1" nodeType="withEffect">
                                  <p:stCondLst>
                                    <p:cond delay="0"/>
                                  </p:stCondLst>
                                  <p:childTnLst>
                                    <p:set>
                                      <p:cBhvr>
                                        <p:cTn id="89" dur="indefinite"/>
                                        <p:tgtEl>
                                          <p:spTgt spid="22">
                                            <p:txEl>
                                              <p:pRg st="3" end="3"/>
                                            </p:txEl>
                                          </p:spTgt>
                                        </p:tgtEl>
                                        <p:attrNameLst>
                                          <p:attrName>style.opacity</p:attrName>
                                        </p:attrNameLst>
                                      </p:cBhvr>
                                      <p:to>
                                        <p:strVal val="0.5"/>
                                      </p:to>
                                    </p:set>
                                    <p:animEffect filter="image" prLst="opacity: 0.5">
                                      <p:cBhvr rctx="IE">
                                        <p:cTn id="90" dur="indefinite"/>
                                        <p:tgtEl>
                                          <p:spTgt spid="22">
                                            <p:txEl>
                                              <p:pRg st="3" end="3"/>
                                            </p:txEl>
                                          </p:spTgt>
                                        </p:tgtEl>
                                      </p:cBhvr>
                                    </p:animEffect>
                                  </p:childTnLst>
                                </p:cTn>
                              </p:par>
                              <p:par>
                                <p:cTn id="91" presetID="9" presetClass="emph" presetSubtype="0" grpId="1" nodeType="withEffect">
                                  <p:stCondLst>
                                    <p:cond delay="0"/>
                                  </p:stCondLst>
                                  <p:childTnLst>
                                    <p:set>
                                      <p:cBhvr>
                                        <p:cTn id="92" dur="indefinite"/>
                                        <p:tgtEl>
                                          <p:spTgt spid="22">
                                            <p:txEl>
                                              <p:pRg st="4" end="4"/>
                                            </p:txEl>
                                          </p:spTgt>
                                        </p:tgtEl>
                                        <p:attrNameLst>
                                          <p:attrName>style.opacity</p:attrName>
                                        </p:attrNameLst>
                                      </p:cBhvr>
                                      <p:to>
                                        <p:strVal val="0.5"/>
                                      </p:to>
                                    </p:set>
                                    <p:animEffect filter="image" prLst="opacity: 0.5">
                                      <p:cBhvr rctx="IE">
                                        <p:cTn id="93" dur="indefinite"/>
                                        <p:tgtEl>
                                          <p:spTgt spid="22">
                                            <p:txEl>
                                              <p:pRg st="4" end="4"/>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6">
                                            <p:txEl>
                                              <p:pRg st="1" end="1"/>
                                            </p:txEl>
                                          </p:spTgt>
                                        </p:tgtEl>
                                        <p:attrNameLst>
                                          <p:attrName>style.visibility</p:attrName>
                                        </p:attrNameLst>
                                      </p:cBhvr>
                                      <p:to>
                                        <p:strVal val="visible"/>
                                      </p:to>
                                    </p:set>
                                    <p:animEffect transition="in" filter="fade">
                                      <p:cBhvr>
                                        <p:cTn id="98" dur="500"/>
                                        <p:tgtEl>
                                          <p:spTgt spid="6">
                                            <p:txEl>
                                              <p:pRg st="1" end="1"/>
                                            </p:txEl>
                                          </p:spTgt>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6">
                                            <p:txEl>
                                              <p:pRg st="2" end="2"/>
                                            </p:txEl>
                                          </p:spTgt>
                                        </p:tgtEl>
                                        <p:attrNameLst>
                                          <p:attrName>style.visibility</p:attrName>
                                        </p:attrNameLst>
                                      </p:cBhvr>
                                      <p:to>
                                        <p:strVal val="visible"/>
                                      </p:to>
                                    </p:set>
                                    <p:animEffect transition="in" filter="fade">
                                      <p:cBhvr>
                                        <p:cTn id="101" dur="500"/>
                                        <p:tgtEl>
                                          <p:spTgt spid="6">
                                            <p:txEl>
                                              <p:pRg st="2" end="2"/>
                                            </p:txEl>
                                          </p:spTgt>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6">
                                            <p:txEl>
                                              <p:pRg st="3" end="3"/>
                                            </p:txEl>
                                          </p:spTgt>
                                        </p:tgtEl>
                                        <p:attrNameLst>
                                          <p:attrName>style.visibility</p:attrName>
                                        </p:attrNameLst>
                                      </p:cBhvr>
                                      <p:to>
                                        <p:strVal val="visible"/>
                                      </p:to>
                                    </p:set>
                                    <p:animEffect transition="in" filter="fade">
                                      <p:cBhvr>
                                        <p:cTn id="104" dur="500"/>
                                        <p:tgtEl>
                                          <p:spTgt spid="6">
                                            <p:txEl>
                                              <p:pRg st="3" end="3"/>
                                            </p:txEl>
                                          </p:spTgt>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500"/>
                                        <p:tgtEl>
                                          <p:spTgt spid="26"/>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27"/>
                                        </p:tgtEl>
                                        <p:attrNameLst>
                                          <p:attrName>style.visibility</p:attrName>
                                        </p:attrNameLst>
                                      </p:cBhvr>
                                      <p:to>
                                        <p:strVal val="visible"/>
                                      </p:to>
                                    </p:set>
                                    <p:animEffect transition="in" filter="fade">
                                      <p:cBhvr>
                                        <p:cTn id="110" dur="500"/>
                                        <p:tgtEl>
                                          <p:spTgt spid="27"/>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6">
                                            <p:txEl>
                                              <p:pRg st="4" end="4"/>
                                            </p:txEl>
                                          </p:spTgt>
                                        </p:tgtEl>
                                        <p:attrNameLst>
                                          <p:attrName>style.visibility</p:attrName>
                                        </p:attrNameLst>
                                      </p:cBhvr>
                                      <p:to>
                                        <p:strVal val="visible"/>
                                      </p:to>
                                    </p:set>
                                    <p:animEffect transition="in" filter="fade">
                                      <p:cBhvr>
                                        <p:cTn id="113" dur="500"/>
                                        <p:tgtEl>
                                          <p:spTgt spid="6">
                                            <p:txEl>
                                              <p:pRg st="4" end="4"/>
                                            </p:txEl>
                                          </p:spTgt>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grpId="0" nodeType="clickEffect">
                                  <p:stCondLst>
                                    <p:cond delay="0"/>
                                  </p:stCondLst>
                                  <p:childTnLst>
                                    <p:set>
                                      <p:cBhvr>
                                        <p:cTn id="117" dur="1" fill="hold">
                                          <p:stCondLst>
                                            <p:cond delay="0"/>
                                          </p:stCondLst>
                                        </p:cTn>
                                        <p:tgtEl>
                                          <p:spTgt spid="7">
                                            <p:txEl>
                                              <p:pRg st="0" end="0"/>
                                            </p:txEl>
                                          </p:spTgt>
                                        </p:tgtEl>
                                        <p:attrNameLst>
                                          <p:attrName>style.visibility</p:attrName>
                                        </p:attrNameLst>
                                      </p:cBhvr>
                                      <p:to>
                                        <p:strVal val="visible"/>
                                      </p:to>
                                    </p:set>
                                    <p:animEffect transition="in" filter="fade">
                                      <p:cBhvr>
                                        <p:cTn id="118" dur="500"/>
                                        <p:tgtEl>
                                          <p:spTgt spid="7">
                                            <p:txEl>
                                              <p:pRg st="0" end="0"/>
                                            </p:txEl>
                                          </p:spTgt>
                                        </p:tgtEl>
                                      </p:cBhvr>
                                    </p:animEffect>
                                  </p:childTnLst>
                                </p:cTn>
                              </p:par>
                              <p:par>
                                <p:cTn id="119" presetID="9" presetClass="emph" presetSubtype="0" grpId="1" nodeType="withEffect">
                                  <p:stCondLst>
                                    <p:cond delay="0"/>
                                  </p:stCondLst>
                                  <p:childTnLst>
                                    <p:set>
                                      <p:cBhvr>
                                        <p:cTn id="120" dur="indefinite"/>
                                        <p:tgtEl>
                                          <p:spTgt spid="6">
                                            <p:txEl>
                                              <p:pRg st="0" end="0"/>
                                            </p:txEl>
                                          </p:spTgt>
                                        </p:tgtEl>
                                        <p:attrNameLst>
                                          <p:attrName>style.opacity</p:attrName>
                                        </p:attrNameLst>
                                      </p:cBhvr>
                                      <p:to>
                                        <p:strVal val="0.5"/>
                                      </p:to>
                                    </p:set>
                                    <p:animEffect filter="image" prLst="opacity: 0.5">
                                      <p:cBhvr rctx="IE">
                                        <p:cTn id="121" dur="indefinite"/>
                                        <p:tgtEl>
                                          <p:spTgt spid="6">
                                            <p:txEl>
                                              <p:pRg st="0" end="0"/>
                                            </p:txEl>
                                          </p:spTgt>
                                        </p:tgtEl>
                                      </p:cBhvr>
                                    </p:animEffect>
                                  </p:childTnLst>
                                </p:cTn>
                              </p:par>
                              <p:par>
                                <p:cTn id="122" presetID="9" presetClass="emph" presetSubtype="0" grpId="1" nodeType="withEffect">
                                  <p:stCondLst>
                                    <p:cond delay="0"/>
                                  </p:stCondLst>
                                  <p:childTnLst>
                                    <p:set>
                                      <p:cBhvr>
                                        <p:cTn id="123" dur="indefinite"/>
                                        <p:tgtEl>
                                          <p:spTgt spid="6">
                                            <p:txEl>
                                              <p:pRg st="1" end="1"/>
                                            </p:txEl>
                                          </p:spTgt>
                                        </p:tgtEl>
                                        <p:attrNameLst>
                                          <p:attrName>style.opacity</p:attrName>
                                        </p:attrNameLst>
                                      </p:cBhvr>
                                      <p:to>
                                        <p:strVal val="0.5"/>
                                      </p:to>
                                    </p:set>
                                    <p:animEffect filter="image" prLst="opacity: 0.5">
                                      <p:cBhvr rctx="IE">
                                        <p:cTn id="124" dur="indefinite"/>
                                        <p:tgtEl>
                                          <p:spTgt spid="6">
                                            <p:txEl>
                                              <p:pRg st="1" end="1"/>
                                            </p:txEl>
                                          </p:spTgt>
                                        </p:tgtEl>
                                      </p:cBhvr>
                                    </p:animEffect>
                                  </p:childTnLst>
                                </p:cTn>
                              </p:par>
                              <p:par>
                                <p:cTn id="125" presetID="9" presetClass="emph" presetSubtype="0" grpId="1" nodeType="withEffect">
                                  <p:stCondLst>
                                    <p:cond delay="0"/>
                                  </p:stCondLst>
                                  <p:childTnLst>
                                    <p:set>
                                      <p:cBhvr>
                                        <p:cTn id="126" dur="indefinite"/>
                                        <p:tgtEl>
                                          <p:spTgt spid="6">
                                            <p:txEl>
                                              <p:pRg st="2" end="2"/>
                                            </p:txEl>
                                          </p:spTgt>
                                        </p:tgtEl>
                                        <p:attrNameLst>
                                          <p:attrName>style.opacity</p:attrName>
                                        </p:attrNameLst>
                                      </p:cBhvr>
                                      <p:to>
                                        <p:strVal val="0.5"/>
                                      </p:to>
                                    </p:set>
                                    <p:animEffect filter="image" prLst="opacity: 0.5">
                                      <p:cBhvr rctx="IE">
                                        <p:cTn id="127" dur="indefinite"/>
                                        <p:tgtEl>
                                          <p:spTgt spid="6">
                                            <p:txEl>
                                              <p:pRg st="2" end="2"/>
                                            </p:txEl>
                                          </p:spTgt>
                                        </p:tgtEl>
                                      </p:cBhvr>
                                    </p:animEffect>
                                  </p:childTnLst>
                                </p:cTn>
                              </p:par>
                              <p:par>
                                <p:cTn id="128" presetID="9" presetClass="emph" presetSubtype="0" grpId="1" nodeType="withEffect">
                                  <p:stCondLst>
                                    <p:cond delay="0"/>
                                  </p:stCondLst>
                                  <p:childTnLst>
                                    <p:set>
                                      <p:cBhvr>
                                        <p:cTn id="129" dur="indefinite"/>
                                        <p:tgtEl>
                                          <p:spTgt spid="6">
                                            <p:txEl>
                                              <p:pRg st="3" end="3"/>
                                            </p:txEl>
                                          </p:spTgt>
                                        </p:tgtEl>
                                        <p:attrNameLst>
                                          <p:attrName>style.opacity</p:attrName>
                                        </p:attrNameLst>
                                      </p:cBhvr>
                                      <p:to>
                                        <p:strVal val="0.5"/>
                                      </p:to>
                                    </p:set>
                                    <p:animEffect filter="image" prLst="opacity: 0.5">
                                      <p:cBhvr rctx="IE">
                                        <p:cTn id="130" dur="indefinite"/>
                                        <p:tgtEl>
                                          <p:spTgt spid="6">
                                            <p:txEl>
                                              <p:pRg st="3" end="3"/>
                                            </p:txEl>
                                          </p:spTgt>
                                        </p:tgtEl>
                                      </p:cBhvr>
                                    </p:animEffect>
                                  </p:childTnLst>
                                </p:cTn>
                              </p:par>
                              <p:par>
                                <p:cTn id="131" presetID="9" presetClass="emph" presetSubtype="0" grpId="1" nodeType="withEffect">
                                  <p:stCondLst>
                                    <p:cond delay="0"/>
                                  </p:stCondLst>
                                  <p:childTnLst>
                                    <p:set>
                                      <p:cBhvr>
                                        <p:cTn id="132" dur="indefinite"/>
                                        <p:tgtEl>
                                          <p:spTgt spid="6">
                                            <p:txEl>
                                              <p:pRg st="4" end="4"/>
                                            </p:txEl>
                                          </p:spTgt>
                                        </p:tgtEl>
                                        <p:attrNameLst>
                                          <p:attrName>style.opacity</p:attrName>
                                        </p:attrNameLst>
                                      </p:cBhvr>
                                      <p:to>
                                        <p:strVal val="0.5"/>
                                      </p:to>
                                    </p:set>
                                    <p:animEffect filter="image" prLst="opacity: 0.5">
                                      <p:cBhvr rctx="IE">
                                        <p:cTn id="133" dur="indefinite"/>
                                        <p:tgtEl>
                                          <p:spTgt spid="6">
                                            <p:txEl>
                                              <p:pRg st="4" end="4"/>
                                            </p:txEl>
                                          </p:spTgt>
                                        </p:tgtEl>
                                      </p:cBhvr>
                                    </p:animEffect>
                                  </p:childTnLst>
                                </p:cTn>
                              </p:par>
                              <p:par>
                                <p:cTn id="134" presetID="9" presetClass="emph" presetSubtype="0" grpId="1" nodeType="withEffect">
                                  <p:stCondLst>
                                    <p:cond delay="0"/>
                                  </p:stCondLst>
                                  <p:childTnLst>
                                    <p:set>
                                      <p:cBhvr>
                                        <p:cTn id="135" dur="indefinite"/>
                                        <p:tgtEl>
                                          <p:spTgt spid="26"/>
                                        </p:tgtEl>
                                        <p:attrNameLst>
                                          <p:attrName>style.opacity</p:attrName>
                                        </p:attrNameLst>
                                      </p:cBhvr>
                                      <p:to>
                                        <p:strVal val="0.5"/>
                                      </p:to>
                                    </p:set>
                                    <p:animEffect filter="image" prLst="opacity: 0.5">
                                      <p:cBhvr rctx="IE">
                                        <p:cTn id="136" dur="indefinite"/>
                                        <p:tgtEl>
                                          <p:spTgt spid="26"/>
                                        </p:tgtEl>
                                      </p:cBhvr>
                                    </p:animEffect>
                                  </p:childTnLst>
                                </p:cTn>
                              </p:par>
                              <p:par>
                                <p:cTn id="137" presetID="9" presetClass="emph" presetSubtype="0" grpId="1" nodeType="withEffect">
                                  <p:stCondLst>
                                    <p:cond delay="0"/>
                                  </p:stCondLst>
                                  <p:childTnLst>
                                    <p:set>
                                      <p:cBhvr>
                                        <p:cTn id="138" dur="indefinite"/>
                                        <p:tgtEl>
                                          <p:spTgt spid="27"/>
                                        </p:tgtEl>
                                        <p:attrNameLst>
                                          <p:attrName>style.opacity</p:attrName>
                                        </p:attrNameLst>
                                      </p:cBhvr>
                                      <p:to>
                                        <p:strVal val="0.5"/>
                                      </p:to>
                                    </p:set>
                                    <p:animEffect filter="image" prLst="opacity: 0.5">
                                      <p:cBhvr rctx="IE">
                                        <p:cTn id="139" dur="indefinite"/>
                                        <p:tgtEl>
                                          <p:spTgt spid="27"/>
                                        </p:tgtEl>
                                      </p:cBhvr>
                                    </p:animEffect>
                                  </p:childTnLst>
                                </p:cTn>
                              </p:par>
                            </p:childTnLst>
                          </p:cTn>
                        </p:par>
                      </p:childTnLst>
                    </p:cTn>
                  </p:par>
                  <p:par>
                    <p:cTn id="140" fill="hold">
                      <p:stCondLst>
                        <p:cond delay="indefinite"/>
                      </p:stCondLst>
                      <p:childTnLst>
                        <p:par>
                          <p:cTn id="141" fill="hold">
                            <p:stCondLst>
                              <p:cond delay="0"/>
                            </p:stCondLst>
                            <p:childTnLst>
                              <p:par>
                                <p:cTn id="142" presetID="10" presetClass="entr" presetSubtype="0" fill="hold" grpId="0" nodeType="clickEffect">
                                  <p:stCondLst>
                                    <p:cond delay="0"/>
                                  </p:stCondLst>
                                  <p:childTnLst>
                                    <p:set>
                                      <p:cBhvr>
                                        <p:cTn id="143" dur="1" fill="hold">
                                          <p:stCondLst>
                                            <p:cond delay="0"/>
                                          </p:stCondLst>
                                        </p:cTn>
                                        <p:tgtEl>
                                          <p:spTgt spid="7">
                                            <p:txEl>
                                              <p:pRg st="1" end="1"/>
                                            </p:txEl>
                                          </p:spTgt>
                                        </p:tgtEl>
                                        <p:attrNameLst>
                                          <p:attrName>style.visibility</p:attrName>
                                        </p:attrNameLst>
                                      </p:cBhvr>
                                      <p:to>
                                        <p:strVal val="visible"/>
                                      </p:to>
                                    </p:set>
                                    <p:animEffect transition="in" filter="fade">
                                      <p:cBhvr>
                                        <p:cTn id="144" dur="500"/>
                                        <p:tgtEl>
                                          <p:spTgt spid="7">
                                            <p:txEl>
                                              <p:pRg st="1" end="1"/>
                                            </p:txEl>
                                          </p:spTgt>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7">
                                            <p:txEl>
                                              <p:pRg st="2" end="2"/>
                                            </p:txEl>
                                          </p:spTgt>
                                        </p:tgtEl>
                                        <p:attrNameLst>
                                          <p:attrName>style.visibility</p:attrName>
                                        </p:attrNameLst>
                                      </p:cBhvr>
                                      <p:to>
                                        <p:strVal val="visible"/>
                                      </p:to>
                                    </p:set>
                                    <p:animEffect transition="in" filter="fade">
                                      <p:cBhvr>
                                        <p:cTn id="147" dur="500"/>
                                        <p:tgtEl>
                                          <p:spTgt spid="7">
                                            <p:txEl>
                                              <p:pRg st="2" end="2"/>
                                            </p:txEl>
                                          </p:spTgt>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7">
                                            <p:txEl>
                                              <p:pRg st="3" end="3"/>
                                            </p:txEl>
                                          </p:spTgt>
                                        </p:tgtEl>
                                        <p:attrNameLst>
                                          <p:attrName>style.visibility</p:attrName>
                                        </p:attrNameLst>
                                      </p:cBhvr>
                                      <p:to>
                                        <p:strVal val="visible"/>
                                      </p:to>
                                    </p:set>
                                    <p:animEffect transition="in" filter="fade">
                                      <p:cBhvr>
                                        <p:cTn id="150" dur="500"/>
                                        <p:tgtEl>
                                          <p:spTgt spid="7">
                                            <p:txEl>
                                              <p:pRg st="3" end="3"/>
                                            </p:txEl>
                                          </p:spTgt>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7">
                                            <p:txEl>
                                              <p:pRg st="4" end="4"/>
                                            </p:txEl>
                                          </p:spTgt>
                                        </p:tgtEl>
                                        <p:attrNameLst>
                                          <p:attrName>style.visibility</p:attrName>
                                        </p:attrNameLst>
                                      </p:cBhvr>
                                      <p:to>
                                        <p:strVal val="visible"/>
                                      </p:to>
                                    </p:set>
                                    <p:animEffect transition="in" filter="fade">
                                      <p:cBhvr>
                                        <p:cTn id="153" dur="500"/>
                                        <p:tgtEl>
                                          <p:spTgt spid="7">
                                            <p:txEl>
                                              <p:pRg st="4" end="4"/>
                                            </p:txEl>
                                          </p:spTgt>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29"/>
                                        </p:tgtEl>
                                        <p:attrNameLst>
                                          <p:attrName>style.visibility</p:attrName>
                                        </p:attrNameLst>
                                      </p:cBhvr>
                                      <p:to>
                                        <p:strVal val="visible"/>
                                      </p:to>
                                    </p:set>
                                    <p:animEffect transition="in" filter="fade">
                                      <p:cBhvr>
                                        <p:cTn id="156" dur="500"/>
                                        <p:tgtEl>
                                          <p:spTgt spid="29"/>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28"/>
                                        </p:tgtEl>
                                        <p:attrNameLst>
                                          <p:attrName>style.visibility</p:attrName>
                                        </p:attrNameLst>
                                      </p:cBhvr>
                                      <p:to>
                                        <p:strVal val="visible"/>
                                      </p:to>
                                    </p:set>
                                    <p:animEffect transition="in" filter="fade">
                                      <p:cBhvr>
                                        <p:cTn id="15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5" grpId="1" build="p"/>
      <p:bldP spid="6" grpId="0" uiExpand="1" build="p"/>
      <p:bldP spid="6" grpId="1" uiExpand="1" build="allAtOnce"/>
      <p:bldP spid="7" grpId="0" uiExpand="1" build="p"/>
      <p:bldP spid="22" grpId="0" uiExpand="1" build="p"/>
      <p:bldP spid="22" grpId="1" build="allAtOnce"/>
      <p:bldP spid="23" grpId="0"/>
      <p:bldP spid="23" grpId="1"/>
      <p:bldP spid="24" grpId="0"/>
      <p:bldP spid="24" grpId="1"/>
      <p:bldP spid="25" grpId="0"/>
      <p:bldP spid="25" grpId="1"/>
      <p:bldP spid="26" grpId="0"/>
      <p:bldP spid="26" grpId="1"/>
      <p:bldP spid="27" grpId="0"/>
      <p:bldP spid="27" grpId="1"/>
      <p:bldP spid="28" grpId="0"/>
      <p:bldP spid="2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6C87D-A1BE-1FFD-1E8A-89CC44CF4BD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FE228FD-9E50-809B-F4A0-232256010571}"/>
              </a:ext>
            </a:extLst>
          </p:cNvPr>
          <p:cNvSpPr txBox="1"/>
          <p:nvPr/>
        </p:nvSpPr>
        <p:spPr>
          <a:xfrm>
            <a:off x="1413178" y="2300027"/>
            <a:ext cx="9904757" cy="1815882"/>
          </a:xfrm>
          <a:prstGeom prst="rect">
            <a:avLst/>
          </a:prstGeom>
          <a:noFill/>
        </p:spPr>
        <p:txBody>
          <a:bodyPr wrap="square">
            <a:spAutoFit/>
          </a:bodyPr>
          <a:lstStyle/>
          <a:p>
            <a:pPr>
              <a:buNone/>
            </a:pPr>
            <a:endParaRPr lang="en-US" sz="2800" b="0" dirty="0">
              <a:solidFill>
                <a:srgbClr val="CCCCCC"/>
              </a:solidFill>
              <a:effectLst/>
              <a:latin typeface="Cascadia Code" panose="020B0609020000020004" pitchFamily="34" charset="0"/>
            </a:endParaRPr>
          </a:p>
          <a:p>
            <a:pPr>
              <a:buNone/>
            </a:pPr>
            <a:r>
              <a:rPr lang="en-US" sz="2800" b="0" dirty="0">
                <a:solidFill>
                  <a:srgbClr val="CCCCCC"/>
                </a:solidFill>
                <a:effectLst/>
                <a:latin typeface="Cascadia Code" panose="020B0609020000020004" pitchFamily="34" charset="0"/>
              </a:rPr>
              <a:t>| </a:t>
            </a:r>
            <a:r>
              <a:rPr lang="en-US" sz="2800" dirty="0">
                <a:solidFill>
                  <a:srgbClr val="C586C0"/>
                </a:solidFill>
                <a:latin typeface="Cascadia Code" panose="020B0609020000020004" pitchFamily="34" charset="0"/>
              </a:rPr>
              <a:t>     </a:t>
            </a:r>
            <a:r>
              <a:rPr lang="en-US" sz="2800" b="0" dirty="0">
                <a:solidFill>
                  <a:srgbClr val="CCCCCC"/>
                </a:solidFill>
                <a:effectLst/>
                <a:latin typeface="Cascadia Code" panose="020B0609020000020004" pitchFamily="34" charset="0"/>
              </a:rPr>
              <a:t> </a:t>
            </a:r>
            <a:r>
              <a:rPr lang="en-US" sz="2800" b="0" dirty="0">
                <a:solidFill>
                  <a:srgbClr val="4674D6"/>
                </a:solidFill>
                <a:effectLst/>
                <a:latin typeface="Cascadia Code" panose="020B0609020000020004" pitchFamily="34" charset="0"/>
              </a:rPr>
              <a:t>type</a:t>
            </a:r>
            <a:r>
              <a:rPr lang="en-US" sz="2800" b="0" dirty="0">
                <a:solidFill>
                  <a:srgbClr val="CCCCCC"/>
                </a:solidFill>
                <a:effectLst/>
                <a:latin typeface="Cascadia Code" panose="020B0609020000020004" pitchFamily="34" charset="0"/>
              </a:rPr>
              <a:t> </a:t>
            </a:r>
            <a:r>
              <a:rPr lang="en-US" sz="2800" b="0" dirty="0">
                <a:solidFill>
                  <a:srgbClr val="4C4C5E"/>
                </a:solidFill>
                <a:effectLst/>
                <a:latin typeface="Cascadia Code" panose="020B0609020000020004" pitchFamily="34" charset="0"/>
              </a:rPr>
              <a:t>==</a:t>
            </a:r>
            <a:r>
              <a:rPr lang="en-US" sz="2800" b="0" dirty="0">
                <a:solidFill>
                  <a:srgbClr val="CCCCCC"/>
                </a:solidFill>
                <a:effectLst/>
                <a:latin typeface="Cascadia Code" panose="020B0609020000020004" pitchFamily="34" charset="0"/>
              </a:rPr>
              <a:t> </a:t>
            </a:r>
            <a:r>
              <a:rPr lang="en-US" sz="2800" dirty="0">
                <a:solidFill>
                  <a:srgbClr val="C7605E"/>
                </a:solidFill>
                <a:latin typeface="Cascadia Code" panose="020B0609020000020004" pitchFamily="34" charset="0"/>
              </a:rPr>
              <a:t>‘</a:t>
            </a:r>
            <a:r>
              <a:rPr lang="en-US" sz="2800" b="0" dirty="0" err="1">
                <a:solidFill>
                  <a:srgbClr val="C7605E"/>
                </a:solidFill>
                <a:effectLst/>
                <a:latin typeface="Cascadia Code" panose="020B0609020000020004" pitchFamily="34" charset="0"/>
              </a:rPr>
              <a:t>microsoft.keyvault</a:t>
            </a:r>
            <a:r>
              <a:rPr lang="en-US" sz="2800" b="0" dirty="0">
                <a:solidFill>
                  <a:srgbClr val="C7605E"/>
                </a:solidFill>
                <a:effectLst/>
                <a:latin typeface="Cascadia Code" panose="020B0609020000020004" pitchFamily="34" charset="0"/>
              </a:rPr>
              <a:t>/vaults’</a:t>
            </a:r>
          </a:p>
          <a:p>
            <a:pPr>
              <a:buNone/>
            </a:pPr>
            <a:r>
              <a:rPr lang="en-US" sz="2800" b="0" dirty="0">
                <a:solidFill>
                  <a:srgbClr val="569CD6"/>
                </a:solidFill>
                <a:effectLst/>
                <a:latin typeface="Cascadia Code" panose="020B0609020000020004" pitchFamily="34" charset="0"/>
              </a:rPr>
              <a:t>            </a:t>
            </a:r>
            <a:r>
              <a:rPr lang="en-US" sz="2800" b="0" dirty="0">
                <a:solidFill>
                  <a:srgbClr val="4674D6"/>
                </a:solidFill>
                <a:effectLst/>
                <a:latin typeface="Cascadia Code" panose="020B0609020000020004" pitchFamily="34" charset="0"/>
              </a:rPr>
              <a:t>name</a:t>
            </a:r>
            <a:r>
              <a:rPr lang="en-US" sz="2800" b="0" dirty="0">
                <a:solidFill>
                  <a:srgbClr val="C586C0"/>
                </a:solidFill>
                <a:effectLst/>
                <a:latin typeface="Cascadia Code" panose="020B0609020000020004" pitchFamily="34" charset="0"/>
              </a:rPr>
              <a:t>        </a:t>
            </a:r>
            <a:r>
              <a:rPr lang="en-US" sz="2800" b="0" dirty="0">
                <a:solidFill>
                  <a:srgbClr val="CCCCCC"/>
                </a:solidFill>
                <a:effectLst/>
                <a:latin typeface="Cascadia Code" panose="020B0609020000020004" pitchFamily="34" charset="0"/>
              </a:rPr>
              <a:t>  </a:t>
            </a:r>
            <a:r>
              <a:rPr lang="en-US" sz="2800" dirty="0">
                <a:solidFill>
                  <a:srgbClr val="C7605E"/>
                </a:solidFill>
                <a:latin typeface="Cascadia Code" panose="020B0609020000020004" pitchFamily="34" charset="0"/>
              </a:rPr>
              <a:t>‘</a:t>
            </a:r>
            <a:r>
              <a:rPr lang="en-US" sz="2800" b="0" dirty="0" err="1">
                <a:solidFill>
                  <a:srgbClr val="C7605E"/>
                </a:solidFill>
                <a:effectLst/>
                <a:latin typeface="Cascadia Code" panose="020B0609020000020004" pitchFamily="34" charset="0"/>
              </a:rPr>
              <a:t>kv</a:t>
            </a:r>
            <a:r>
              <a:rPr lang="en-US" sz="2800" b="0" dirty="0">
                <a:solidFill>
                  <a:srgbClr val="C7605E"/>
                </a:solidFill>
                <a:effectLst/>
                <a:latin typeface="Cascadia Code" panose="020B0609020000020004" pitchFamily="34" charset="0"/>
              </a:rPr>
              <a:t>’</a:t>
            </a:r>
          </a:p>
          <a:p>
            <a:pPr>
              <a:buNone/>
            </a:pPr>
            <a:r>
              <a:rPr lang="en-US" sz="2800" b="0" dirty="0">
                <a:solidFill>
                  <a:srgbClr val="569CD6"/>
                </a:solidFill>
                <a:effectLst/>
                <a:latin typeface="Cascadia Code" panose="020B0609020000020004" pitchFamily="34" charset="0"/>
              </a:rPr>
              <a:t>		    </a:t>
            </a:r>
            <a:r>
              <a:rPr lang="en-US" sz="2800" b="0" dirty="0">
                <a:solidFill>
                  <a:srgbClr val="CCCCCC"/>
                </a:solidFill>
                <a:effectLst/>
                <a:latin typeface="Cascadia Code" panose="020B0609020000020004" pitchFamily="34" charset="0"/>
              </a:rPr>
              <a:t> </a:t>
            </a:r>
            <a:r>
              <a:rPr lang="en-US" sz="2800" b="0" dirty="0">
                <a:solidFill>
                  <a:srgbClr val="DCDCAA"/>
                </a:solidFill>
                <a:effectLst/>
                <a:latin typeface="Cascadia Code" panose="020B0609020000020004" pitchFamily="34" charset="0"/>
              </a:rPr>
              <a:t>  </a:t>
            </a:r>
            <a:r>
              <a:rPr lang="en-US" sz="2800" b="0" dirty="0">
                <a:solidFill>
                  <a:srgbClr val="4C4C5E"/>
                </a:solidFill>
                <a:effectLst/>
                <a:latin typeface="Cascadia Code" panose="020B0609020000020004" pitchFamily="34" charset="0"/>
              </a:rPr>
              <a:t>tags</a:t>
            </a:r>
            <a:r>
              <a:rPr lang="en-US" sz="2800" b="0" dirty="0">
                <a:solidFill>
                  <a:srgbClr val="248C22"/>
                </a:solidFill>
                <a:effectLst/>
                <a:latin typeface="Cascadia Code" panose="020B0609020000020004" pitchFamily="34" charset="0"/>
              </a:rPr>
              <a:t>[</a:t>
            </a:r>
            <a:r>
              <a:rPr lang="en-US" sz="2800" dirty="0">
                <a:solidFill>
                  <a:srgbClr val="C7605E"/>
                </a:solidFill>
                <a:latin typeface="Cascadia Code" panose="020B0609020000020004" pitchFamily="34" charset="0"/>
              </a:rPr>
              <a:t>‘</a:t>
            </a:r>
            <a:r>
              <a:rPr lang="en-US" sz="2800" b="0" dirty="0">
                <a:solidFill>
                  <a:srgbClr val="C7605E"/>
                </a:solidFill>
                <a:effectLst/>
                <a:latin typeface="Cascadia Code" panose="020B0609020000020004" pitchFamily="34" charset="0"/>
              </a:rPr>
              <a:t>env</a:t>
            </a:r>
            <a:r>
              <a:rPr lang="en-US" sz="2800" dirty="0">
                <a:solidFill>
                  <a:srgbClr val="C7605E"/>
                </a:solidFill>
                <a:latin typeface="Cascadia Code" panose="020B0609020000020004" pitchFamily="34" charset="0"/>
              </a:rPr>
              <a:t>’</a:t>
            </a:r>
            <a:r>
              <a:rPr lang="en-US" sz="2800" b="0" dirty="0">
                <a:solidFill>
                  <a:srgbClr val="248C22"/>
                </a:solidFill>
                <a:effectLst/>
                <a:latin typeface="Cascadia Code" panose="020B0609020000020004" pitchFamily="34" charset="0"/>
              </a:rPr>
              <a:t>]</a:t>
            </a:r>
            <a:r>
              <a:rPr lang="en-US" sz="2800" b="0" dirty="0">
                <a:solidFill>
                  <a:srgbClr val="CCCCCC"/>
                </a:solidFill>
                <a:effectLst/>
                <a:latin typeface="Cascadia Code" panose="020B0609020000020004" pitchFamily="34" charset="0"/>
              </a:rPr>
              <a:t> </a:t>
            </a:r>
            <a:r>
              <a:rPr lang="en-US" sz="2800" b="0" dirty="0">
                <a:solidFill>
                  <a:srgbClr val="4C4C5E"/>
                </a:solidFill>
                <a:effectLst/>
                <a:latin typeface="Cascadia Code" panose="020B0609020000020004" pitchFamily="34" charset="0"/>
              </a:rPr>
              <a:t>==</a:t>
            </a:r>
            <a:r>
              <a:rPr lang="en-US" sz="2800" b="0" dirty="0">
                <a:solidFill>
                  <a:srgbClr val="CCCCCC"/>
                </a:solidFill>
                <a:effectLst/>
                <a:latin typeface="Cascadia Code" panose="020B0609020000020004" pitchFamily="34" charset="0"/>
              </a:rPr>
              <a:t> </a:t>
            </a:r>
            <a:r>
              <a:rPr lang="en-US" sz="2800" dirty="0">
                <a:solidFill>
                  <a:srgbClr val="C7605E"/>
                </a:solidFill>
                <a:latin typeface="Cascadia Code" panose="020B0609020000020004" pitchFamily="34" charset="0"/>
              </a:rPr>
              <a:t>‘</a:t>
            </a:r>
            <a:r>
              <a:rPr lang="en-US" sz="2800" b="0" dirty="0">
                <a:solidFill>
                  <a:srgbClr val="C7605E"/>
                </a:solidFill>
                <a:effectLst/>
                <a:latin typeface="Cascadia Code" panose="020B0609020000020004" pitchFamily="34" charset="0"/>
              </a:rPr>
              <a:t>prod’</a:t>
            </a:r>
          </a:p>
        </p:txBody>
      </p:sp>
      <p:sp>
        <p:nvSpPr>
          <p:cNvPr id="10" name="TextBox 9">
            <a:extLst>
              <a:ext uri="{FF2B5EF4-FFF2-40B4-BE49-F238E27FC236}">
                <a16:creationId xmlns:a16="http://schemas.microsoft.com/office/drawing/2014/main" id="{CF26E20C-5B9A-C4E4-0442-7F4292718D3E}"/>
              </a:ext>
            </a:extLst>
          </p:cNvPr>
          <p:cNvSpPr txBox="1"/>
          <p:nvPr/>
        </p:nvSpPr>
        <p:spPr>
          <a:xfrm>
            <a:off x="1413179" y="2300027"/>
            <a:ext cx="2070230" cy="523220"/>
          </a:xfrm>
          <a:prstGeom prst="rect">
            <a:avLst/>
          </a:prstGeom>
          <a:noFill/>
        </p:spPr>
        <p:txBody>
          <a:bodyPr wrap="square">
            <a:spAutoFit/>
          </a:bodyPr>
          <a:lstStyle/>
          <a:p>
            <a:pPr>
              <a:buNone/>
            </a:pPr>
            <a:r>
              <a:rPr lang="en-US" sz="2800" b="0" dirty="0">
                <a:solidFill>
                  <a:srgbClr val="4674D6"/>
                </a:solidFill>
                <a:effectLst/>
                <a:latin typeface="Cascadia Code" panose="020B0609020000020004" pitchFamily="34" charset="0"/>
              </a:rPr>
              <a:t>Resources</a:t>
            </a:r>
          </a:p>
        </p:txBody>
      </p:sp>
      <p:sp>
        <p:nvSpPr>
          <p:cNvPr id="11" name="TextBox 10">
            <a:extLst>
              <a:ext uri="{FF2B5EF4-FFF2-40B4-BE49-F238E27FC236}">
                <a16:creationId xmlns:a16="http://schemas.microsoft.com/office/drawing/2014/main" id="{21D17254-70A3-799B-094E-AF52AD1A647E}"/>
              </a:ext>
            </a:extLst>
          </p:cNvPr>
          <p:cNvSpPr txBox="1"/>
          <p:nvPr/>
        </p:nvSpPr>
        <p:spPr>
          <a:xfrm>
            <a:off x="1824050" y="2736992"/>
            <a:ext cx="1299319" cy="523220"/>
          </a:xfrm>
          <a:prstGeom prst="rect">
            <a:avLst/>
          </a:prstGeom>
          <a:noFill/>
        </p:spPr>
        <p:txBody>
          <a:bodyPr wrap="square">
            <a:spAutoFit/>
          </a:bodyPr>
          <a:lstStyle/>
          <a:p>
            <a:r>
              <a:rPr lang="en-US" sz="2800" b="0" i="1" dirty="0">
                <a:solidFill>
                  <a:srgbClr val="9443C1"/>
                </a:solidFill>
                <a:effectLst/>
                <a:latin typeface="Cascadia Code" panose="020B0609020000020004" pitchFamily="34" charset="0"/>
              </a:rPr>
              <a:t>where</a:t>
            </a:r>
            <a:endParaRPr lang="en-US" sz="2800" i="1" dirty="0">
              <a:solidFill>
                <a:srgbClr val="9443C1"/>
              </a:solidFill>
            </a:endParaRPr>
          </a:p>
        </p:txBody>
      </p:sp>
      <p:sp>
        <p:nvSpPr>
          <p:cNvPr id="12" name="TextBox 11">
            <a:extLst>
              <a:ext uri="{FF2B5EF4-FFF2-40B4-BE49-F238E27FC236}">
                <a16:creationId xmlns:a16="http://schemas.microsoft.com/office/drawing/2014/main" id="{88798F53-D7AB-98F0-5C30-E141ED643214}"/>
              </a:ext>
            </a:extLst>
          </p:cNvPr>
          <p:cNvSpPr txBox="1"/>
          <p:nvPr/>
        </p:nvSpPr>
        <p:spPr>
          <a:xfrm>
            <a:off x="4963067" y="3162647"/>
            <a:ext cx="1947021" cy="523220"/>
          </a:xfrm>
          <a:prstGeom prst="rect">
            <a:avLst/>
          </a:prstGeom>
          <a:noFill/>
        </p:spPr>
        <p:txBody>
          <a:bodyPr wrap="square">
            <a:spAutoFit/>
          </a:bodyPr>
          <a:lstStyle/>
          <a:p>
            <a:r>
              <a:rPr lang="en-US" sz="2800" b="0" i="1" dirty="0">
                <a:solidFill>
                  <a:srgbClr val="9443C1"/>
                </a:solidFill>
                <a:effectLst/>
                <a:latin typeface="Cascadia Code" panose="020B0609020000020004" pitchFamily="34" charset="0"/>
              </a:rPr>
              <a:t>contains </a:t>
            </a:r>
            <a:endParaRPr lang="en-US" sz="2800" i="1" dirty="0">
              <a:solidFill>
                <a:srgbClr val="9443C1"/>
              </a:solidFill>
            </a:endParaRPr>
          </a:p>
        </p:txBody>
      </p:sp>
      <p:sp>
        <p:nvSpPr>
          <p:cNvPr id="13" name="TextBox 12">
            <a:extLst>
              <a:ext uri="{FF2B5EF4-FFF2-40B4-BE49-F238E27FC236}">
                <a16:creationId xmlns:a16="http://schemas.microsoft.com/office/drawing/2014/main" id="{A778473F-63CF-A3EF-136D-12D4CD5E03FC}"/>
              </a:ext>
            </a:extLst>
          </p:cNvPr>
          <p:cNvSpPr txBox="1"/>
          <p:nvPr/>
        </p:nvSpPr>
        <p:spPr>
          <a:xfrm>
            <a:off x="3905447" y="3589522"/>
            <a:ext cx="1036886" cy="523220"/>
          </a:xfrm>
          <a:prstGeom prst="rect">
            <a:avLst/>
          </a:prstGeom>
          <a:noFill/>
        </p:spPr>
        <p:txBody>
          <a:bodyPr wrap="square">
            <a:spAutoFit/>
          </a:bodyPr>
          <a:lstStyle/>
          <a:p>
            <a:r>
              <a:rPr lang="en-US" sz="2800" b="0" dirty="0">
                <a:solidFill>
                  <a:srgbClr val="4674D6"/>
                </a:solidFill>
                <a:effectLst/>
                <a:latin typeface="Cascadia Code" panose="020B0609020000020004" pitchFamily="34" charset="0"/>
              </a:rPr>
              <a:t>not</a:t>
            </a:r>
            <a:r>
              <a:rPr lang="en-US" sz="2800" b="0" dirty="0">
                <a:solidFill>
                  <a:srgbClr val="002BFA"/>
                </a:solidFill>
                <a:effectLst/>
                <a:latin typeface="Cascadia Code" panose="020B0609020000020004" pitchFamily="34" charset="0"/>
              </a:rPr>
              <a:t>(</a:t>
            </a:r>
            <a:endParaRPr lang="en-US" sz="2800" dirty="0">
              <a:solidFill>
                <a:srgbClr val="002BFA"/>
              </a:solidFill>
            </a:endParaRPr>
          </a:p>
        </p:txBody>
      </p:sp>
      <p:sp>
        <p:nvSpPr>
          <p:cNvPr id="14" name="TextBox 13">
            <a:extLst>
              <a:ext uri="{FF2B5EF4-FFF2-40B4-BE49-F238E27FC236}">
                <a16:creationId xmlns:a16="http://schemas.microsoft.com/office/drawing/2014/main" id="{C920DC26-E20F-A81E-B37E-77B421B34BA4}"/>
              </a:ext>
            </a:extLst>
          </p:cNvPr>
          <p:cNvSpPr txBox="1"/>
          <p:nvPr/>
        </p:nvSpPr>
        <p:spPr>
          <a:xfrm>
            <a:off x="9022897" y="3589522"/>
            <a:ext cx="444326" cy="523220"/>
          </a:xfrm>
          <a:prstGeom prst="rect">
            <a:avLst/>
          </a:prstGeom>
          <a:noFill/>
        </p:spPr>
        <p:txBody>
          <a:bodyPr wrap="square">
            <a:spAutoFit/>
          </a:bodyPr>
          <a:lstStyle/>
          <a:p>
            <a:r>
              <a:rPr lang="en-US" sz="2800" b="0" dirty="0">
                <a:solidFill>
                  <a:srgbClr val="002BFA"/>
                </a:solidFill>
                <a:effectLst/>
                <a:latin typeface="Cascadia Code" panose="020B0609020000020004" pitchFamily="34" charset="0"/>
              </a:rPr>
              <a:t>)</a:t>
            </a:r>
            <a:endParaRPr lang="en-US" sz="2800" dirty="0">
              <a:solidFill>
                <a:srgbClr val="002BFA"/>
              </a:solidFill>
            </a:endParaRPr>
          </a:p>
        </p:txBody>
      </p:sp>
      <p:sp>
        <p:nvSpPr>
          <p:cNvPr id="15" name="TextBox 14">
            <a:extLst>
              <a:ext uri="{FF2B5EF4-FFF2-40B4-BE49-F238E27FC236}">
                <a16:creationId xmlns:a16="http://schemas.microsoft.com/office/drawing/2014/main" id="{0549427A-2D03-C14B-B8C5-E945452C3956}"/>
              </a:ext>
            </a:extLst>
          </p:cNvPr>
          <p:cNvSpPr txBox="1"/>
          <p:nvPr/>
        </p:nvSpPr>
        <p:spPr>
          <a:xfrm>
            <a:off x="3111320" y="3159583"/>
            <a:ext cx="845840" cy="523220"/>
          </a:xfrm>
          <a:prstGeom prst="rect">
            <a:avLst/>
          </a:prstGeom>
          <a:noFill/>
        </p:spPr>
        <p:txBody>
          <a:bodyPr wrap="square">
            <a:spAutoFit/>
          </a:bodyPr>
          <a:lstStyle/>
          <a:p>
            <a:r>
              <a:rPr lang="en-US" sz="2800" b="0" dirty="0">
                <a:solidFill>
                  <a:srgbClr val="9443C1"/>
                </a:solidFill>
                <a:effectLst/>
                <a:latin typeface="Cascadia Code" panose="020B0609020000020004" pitchFamily="34" charset="0"/>
              </a:rPr>
              <a:t>and</a:t>
            </a:r>
            <a:endParaRPr lang="en-US" sz="2800" dirty="0">
              <a:solidFill>
                <a:srgbClr val="9443C1"/>
              </a:solidFill>
            </a:endParaRPr>
          </a:p>
        </p:txBody>
      </p:sp>
      <p:sp>
        <p:nvSpPr>
          <p:cNvPr id="16" name="TextBox 15">
            <a:extLst>
              <a:ext uri="{FF2B5EF4-FFF2-40B4-BE49-F238E27FC236}">
                <a16:creationId xmlns:a16="http://schemas.microsoft.com/office/drawing/2014/main" id="{F7BC95B5-AD4E-A2E1-8E4A-1CCD25C07EC4}"/>
              </a:ext>
            </a:extLst>
          </p:cNvPr>
          <p:cNvSpPr txBox="1"/>
          <p:nvPr/>
        </p:nvSpPr>
        <p:spPr>
          <a:xfrm>
            <a:off x="3097620" y="3589522"/>
            <a:ext cx="845840" cy="523220"/>
          </a:xfrm>
          <a:prstGeom prst="rect">
            <a:avLst/>
          </a:prstGeom>
          <a:noFill/>
        </p:spPr>
        <p:txBody>
          <a:bodyPr wrap="square">
            <a:spAutoFit/>
          </a:bodyPr>
          <a:lstStyle/>
          <a:p>
            <a:r>
              <a:rPr lang="en-US" sz="2800" b="0" dirty="0">
                <a:solidFill>
                  <a:srgbClr val="9443C1"/>
                </a:solidFill>
                <a:effectLst/>
                <a:latin typeface="Cascadia Code" panose="020B0609020000020004" pitchFamily="34" charset="0"/>
              </a:rPr>
              <a:t>and</a:t>
            </a:r>
            <a:endParaRPr lang="en-US" sz="2800" dirty="0">
              <a:solidFill>
                <a:srgbClr val="9443C1"/>
              </a:solidFill>
            </a:endParaRPr>
          </a:p>
        </p:txBody>
      </p:sp>
      <p:sp>
        <p:nvSpPr>
          <p:cNvPr id="17" name="Rectangle 16">
            <a:extLst>
              <a:ext uri="{FF2B5EF4-FFF2-40B4-BE49-F238E27FC236}">
                <a16:creationId xmlns:a16="http://schemas.microsoft.com/office/drawing/2014/main" id="{1C2D776B-EFB1-F739-8539-4BB1FBB7F74F}"/>
              </a:ext>
            </a:extLst>
          </p:cNvPr>
          <p:cNvSpPr/>
          <p:nvPr/>
        </p:nvSpPr>
        <p:spPr>
          <a:xfrm>
            <a:off x="1413176" y="2747398"/>
            <a:ext cx="9158303" cy="1815883"/>
          </a:xfrm>
          <a:prstGeom prst="rect">
            <a:avLst/>
          </a:prstGeom>
          <a:solidFill>
            <a:schemeClr val="bg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4" name="Title 1">
            <a:extLst>
              <a:ext uri="{FF2B5EF4-FFF2-40B4-BE49-F238E27FC236}">
                <a16:creationId xmlns:a16="http://schemas.microsoft.com/office/drawing/2014/main" id="{B1190C56-1E48-0B39-0867-6F7C48169AEE}"/>
              </a:ext>
            </a:extLst>
          </p:cNvPr>
          <p:cNvSpPr txBox="1">
            <a:spLocks/>
          </p:cNvSpPr>
          <p:nvPr/>
        </p:nvSpPr>
        <p:spPr>
          <a:xfrm>
            <a:off x="838200" y="365125"/>
            <a:ext cx="9733280" cy="1325563"/>
          </a:xfrm>
        </p:spPr>
        <p:txBody>
          <a:bodyPr>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3600" dirty="0">
                <a:latin typeface="+mn-lt"/>
              </a:rPr>
              <a:t>Example Query</a:t>
            </a:r>
          </a:p>
        </p:txBody>
      </p:sp>
    </p:spTree>
    <p:extLst>
      <p:ext uri="{BB962C8B-B14F-4D97-AF65-F5344CB8AC3E}">
        <p14:creationId xmlns:p14="http://schemas.microsoft.com/office/powerpoint/2010/main" val="218723883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A4CFE-888B-13AD-67F2-BE8E91BB10D3}"/>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C2F058C-C8BA-328F-C80A-57C857F92933}"/>
              </a:ext>
            </a:extLst>
          </p:cNvPr>
          <p:cNvSpPr txBox="1"/>
          <p:nvPr/>
        </p:nvSpPr>
        <p:spPr>
          <a:xfrm>
            <a:off x="1413178" y="2300027"/>
            <a:ext cx="9904757" cy="1815882"/>
          </a:xfrm>
          <a:prstGeom prst="rect">
            <a:avLst/>
          </a:prstGeom>
          <a:noFill/>
        </p:spPr>
        <p:txBody>
          <a:bodyPr wrap="square">
            <a:spAutoFit/>
          </a:bodyPr>
          <a:lstStyle/>
          <a:p>
            <a:pPr>
              <a:buNone/>
            </a:pPr>
            <a:endParaRPr lang="en-US" sz="2800" b="0" dirty="0">
              <a:solidFill>
                <a:srgbClr val="CCCCCC"/>
              </a:solidFill>
              <a:effectLst/>
              <a:latin typeface="Cascadia Code" panose="020B0609020000020004" pitchFamily="34" charset="0"/>
            </a:endParaRPr>
          </a:p>
          <a:p>
            <a:pPr>
              <a:buNone/>
            </a:pPr>
            <a:r>
              <a:rPr lang="en-US" sz="2800" b="0" dirty="0">
                <a:solidFill>
                  <a:srgbClr val="CCCCCC"/>
                </a:solidFill>
                <a:effectLst/>
                <a:latin typeface="Cascadia Code" panose="020B0609020000020004" pitchFamily="34" charset="0"/>
              </a:rPr>
              <a:t>| </a:t>
            </a:r>
            <a:r>
              <a:rPr lang="en-US" sz="2800" dirty="0">
                <a:solidFill>
                  <a:srgbClr val="C586C0"/>
                </a:solidFill>
                <a:latin typeface="Cascadia Code" panose="020B0609020000020004" pitchFamily="34" charset="0"/>
              </a:rPr>
              <a:t>     </a:t>
            </a:r>
            <a:r>
              <a:rPr lang="en-US" sz="2800" b="0" dirty="0">
                <a:solidFill>
                  <a:srgbClr val="CCCCCC"/>
                </a:solidFill>
                <a:effectLst/>
                <a:latin typeface="Cascadia Code" panose="020B0609020000020004" pitchFamily="34" charset="0"/>
              </a:rPr>
              <a:t> </a:t>
            </a:r>
            <a:r>
              <a:rPr lang="en-US" sz="2800" b="0" dirty="0">
                <a:solidFill>
                  <a:srgbClr val="4674D6"/>
                </a:solidFill>
                <a:effectLst/>
                <a:latin typeface="Cascadia Code" panose="020B0609020000020004" pitchFamily="34" charset="0"/>
              </a:rPr>
              <a:t>type</a:t>
            </a:r>
            <a:r>
              <a:rPr lang="en-US" sz="2800" b="0" dirty="0">
                <a:solidFill>
                  <a:srgbClr val="CCCCCC"/>
                </a:solidFill>
                <a:effectLst/>
                <a:latin typeface="Cascadia Code" panose="020B0609020000020004" pitchFamily="34" charset="0"/>
              </a:rPr>
              <a:t> </a:t>
            </a:r>
            <a:r>
              <a:rPr lang="en-US" sz="2800" b="0" dirty="0">
                <a:solidFill>
                  <a:srgbClr val="4C4C5E"/>
                </a:solidFill>
                <a:effectLst/>
                <a:latin typeface="Cascadia Code" panose="020B0609020000020004" pitchFamily="34" charset="0"/>
              </a:rPr>
              <a:t>==</a:t>
            </a:r>
            <a:r>
              <a:rPr lang="en-US" sz="2800" b="0" dirty="0">
                <a:solidFill>
                  <a:srgbClr val="CCCCCC"/>
                </a:solidFill>
                <a:effectLst/>
                <a:latin typeface="Cascadia Code" panose="020B0609020000020004" pitchFamily="34" charset="0"/>
              </a:rPr>
              <a:t> </a:t>
            </a:r>
            <a:r>
              <a:rPr lang="en-US" sz="2800" dirty="0">
                <a:solidFill>
                  <a:srgbClr val="C7605E"/>
                </a:solidFill>
                <a:latin typeface="Cascadia Code" panose="020B0609020000020004" pitchFamily="34" charset="0"/>
              </a:rPr>
              <a:t>‘</a:t>
            </a:r>
            <a:r>
              <a:rPr lang="en-US" sz="2800" b="0" dirty="0" err="1">
                <a:solidFill>
                  <a:srgbClr val="C7605E"/>
                </a:solidFill>
                <a:effectLst/>
                <a:latin typeface="Cascadia Code" panose="020B0609020000020004" pitchFamily="34" charset="0"/>
              </a:rPr>
              <a:t>microsoft.keyvault</a:t>
            </a:r>
            <a:r>
              <a:rPr lang="en-US" sz="2800" b="0" dirty="0">
                <a:solidFill>
                  <a:srgbClr val="C7605E"/>
                </a:solidFill>
                <a:effectLst/>
                <a:latin typeface="Cascadia Code" panose="020B0609020000020004" pitchFamily="34" charset="0"/>
              </a:rPr>
              <a:t>/vaults’</a:t>
            </a:r>
          </a:p>
          <a:p>
            <a:pPr>
              <a:buNone/>
            </a:pPr>
            <a:r>
              <a:rPr lang="en-US" sz="2800" b="0" dirty="0">
                <a:solidFill>
                  <a:srgbClr val="569CD6"/>
                </a:solidFill>
                <a:effectLst/>
                <a:latin typeface="Cascadia Code" panose="020B0609020000020004" pitchFamily="34" charset="0"/>
              </a:rPr>
              <a:t>            </a:t>
            </a:r>
            <a:r>
              <a:rPr lang="en-US" sz="2800" b="0" dirty="0">
                <a:solidFill>
                  <a:srgbClr val="4674D6"/>
                </a:solidFill>
                <a:effectLst/>
                <a:latin typeface="Cascadia Code" panose="020B0609020000020004" pitchFamily="34" charset="0"/>
              </a:rPr>
              <a:t>name</a:t>
            </a:r>
            <a:r>
              <a:rPr lang="en-US" sz="2800" b="0" dirty="0">
                <a:solidFill>
                  <a:srgbClr val="C586C0"/>
                </a:solidFill>
                <a:effectLst/>
                <a:latin typeface="Cascadia Code" panose="020B0609020000020004" pitchFamily="34" charset="0"/>
              </a:rPr>
              <a:t>        </a:t>
            </a:r>
            <a:r>
              <a:rPr lang="en-US" sz="2800" b="0" dirty="0">
                <a:solidFill>
                  <a:srgbClr val="CCCCCC"/>
                </a:solidFill>
                <a:effectLst/>
                <a:latin typeface="Cascadia Code" panose="020B0609020000020004" pitchFamily="34" charset="0"/>
              </a:rPr>
              <a:t>  </a:t>
            </a:r>
            <a:r>
              <a:rPr lang="en-US" sz="2800" dirty="0">
                <a:solidFill>
                  <a:srgbClr val="C7605E"/>
                </a:solidFill>
                <a:latin typeface="Cascadia Code" panose="020B0609020000020004" pitchFamily="34" charset="0"/>
              </a:rPr>
              <a:t>‘</a:t>
            </a:r>
            <a:r>
              <a:rPr lang="en-US" sz="2800" b="0" dirty="0" err="1">
                <a:solidFill>
                  <a:srgbClr val="C7605E"/>
                </a:solidFill>
                <a:effectLst/>
                <a:latin typeface="Cascadia Code" panose="020B0609020000020004" pitchFamily="34" charset="0"/>
              </a:rPr>
              <a:t>kv</a:t>
            </a:r>
            <a:r>
              <a:rPr lang="en-US" sz="2800" b="0" dirty="0">
                <a:solidFill>
                  <a:srgbClr val="C7605E"/>
                </a:solidFill>
                <a:effectLst/>
                <a:latin typeface="Cascadia Code" panose="020B0609020000020004" pitchFamily="34" charset="0"/>
              </a:rPr>
              <a:t>’</a:t>
            </a:r>
          </a:p>
          <a:p>
            <a:pPr>
              <a:buNone/>
            </a:pPr>
            <a:r>
              <a:rPr lang="en-US" sz="2800" b="0" dirty="0">
                <a:solidFill>
                  <a:srgbClr val="569CD6"/>
                </a:solidFill>
                <a:effectLst/>
                <a:latin typeface="Cascadia Code" panose="020B0609020000020004" pitchFamily="34" charset="0"/>
              </a:rPr>
              <a:t>		    </a:t>
            </a:r>
            <a:r>
              <a:rPr lang="en-US" sz="2800" b="0" dirty="0">
                <a:solidFill>
                  <a:srgbClr val="CCCCCC"/>
                </a:solidFill>
                <a:effectLst/>
                <a:latin typeface="Cascadia Code" panose="020B0609020000020004" pitchFamily="34" charset="0"/>
              </a:rPr>
              <a:t> </a:t>
            </a:r>
            <a:r>
              <a:rPr lang="en-US" sz="2800" b="0" dirty="0">
                <a:solidFill>
                  <a:srgbClr val="DCDCAA"/>
                </a:solidFill>
                <a:effectLst/>
                <a:latin typeface="Cascadia Code" panose="020B0609020000020004" pitchFamily="34" charset="0"/>
              </a:rPr>
              <a:t>  </a:t>
            </a:r>
            <a:r>
              <a:rPr lang="en-US" sz="2800" b="0" dirty="0">
                <a:solidFill>
                  <a:srgbClr val="4C4C5E"/>
                </a:solidFill>
                <a:effectLst/>
                <a:latin typeface="Cascadia Code" panose="020B0609020000020004" pitchFamily="34" charset="0"/>
              </a:rPr>
              <a:t>tags</a:t>
            </a:r>
            <a:r>
              <a:rPr lang="en-US" sz="2800" b="0" dirty="0">
                <a:solidFill>
                  <a:srgbClr val="248C22"/>
                </a:solidFill>
                <a:effectLst/>
                <a:latin typeface="Cascadia Code" panose="020B0609020000020004" pitchFamily="34" charset="0"/>
              </a:rPr>
              <a:t>[</a:t>
            </a:r>
            <a:r>
              <a:rPr lang="en-US" sz="2800" dirty="0">
                <a:solidFill>
                  <a:srgbClr val="C7605E"/>
                </a:solidFill>
                <a:latin typeface="Cascadia Code" panose="020B0609020000020004" pitchFamily="34" charset="0"/>
              </a:rPr>
              <a:t>‘</a:t>
            </a:r>
            <a:r>
              <a:rPr lang="en-US" sz="2800" b="0" dirty="0">
                <a:solidFill>
                  <a:srgbClr val="C7605E"/>
                </a:solidFill>
                <a:effectLst/>
                <a:latin typeface="Cascadia Code" panose="020B0609020000020004" pitchFamily="34" charset="0"/>
              </a:rPr>
              <a:t>env</a:t>
            </a:r>
            <a:r>
              <a:rPr lang="en-US" sz="2800" dirty="0">
                <a:solidFill>
                  <a:srgbClr val="C7605E"/>
                </a:solidFill>
                <a:latin typeface="Cascadia Code" panose="020B0609020000020004" pitchFamily="34" charset="0"/>
              </a:rPr>
              <a:t>’</a:t>
            </a:r>
            <a:r>
              <a:rPr lang="en-US" sz="2800" b="0" dirty="0">
                <a:solidFill>
                  <a:srgbClr val="248C22"/>
                </a:solidFill>
                <a:effectLst/>
                <a:latin typeface="Cascadia Code" panose="020B0609020000020004" pitchFamily="34" charset="0"/>
              </a:rPr>
              <a:t>]</a:t>
            </a:r>
            <a:r>
              <a:rPr lang="en-US" sz="2800" b="0" dirty="0">
                <a:solidFill>
                  <a:srgbClr val="CCCCCC"/>
                </a:solidFill>
                <a:effectLst/>
                <a:latin typeface="Cascadia Code" panose="020B0609020000020004" pitchFamily="34" charset="0"/>
              </a:rPr>
              <a:t> </a:t>
            </a:r>
            <a:r>
              <a:rPr lang="en-US" sz="2800" b="0" dirty="0">
                <a:solidFill>
                  <a:srgbClr val="4C4C5E"/>
                </a:solidFill>
                <a:effectLst/>
                <a:latin typeface="Cascadia Code" panose="020B0609020000020004" pitchFamily="34" charset="0"/>
              </a:rPr>
              <a:t>==</a:t>
            </a:r>
            <a:r>
              <a:rPr lang="en-US" sz="2800" b="0" dirty="0">
                <a:solidFill>
                  <a:srgbClr val="CCCCCC"/>
                </a:solidFill>
                <a:effectLst/>
                <a:latin typeface="Cascadia Code" panose="020B0609020000020004" pitchFamily="34" charset="0"/>
              </a:rPr>
              <a:t> </a:t>
            </a:r>
            <a:r>
              <a:rPr lang="en-US" sz="2800" dirty="0">
                <a:solidFill>
                  <a:srgbClr val="C7605E"/>
                </a:solidFill>
                <a:latin typeface="Cascadia Code" panose="020B0609020000020004" pitchFamily="34" charset="0"/>
              </a:rPr>
              <a:t>‘</a:t>
            </a:r>
            <a:r>
              <a:rPr lang="en-US" sz="2800" b="0" dirty="0">
                <a:solidFill>
                  <a:srgbClr val="C7605E"/>
                </a:solidFill>
                <a:effectLst/>
                <a:latin typeface="Cascadia Code" panose="020B0609020000020004" pitchFamily="34" charset="0"/>
              </a:rPr>
              <a:t>prod’</a:t>
            </a:r>
          </a:p>
        </p:txBody>
      </p:sp>
      <p:sp>
        <p:nvSpPr>
          <p:cNvPr id="10" name="TextBox 9">
            <a:extLst>
              <a:ext uri="{FF2B5EF4-FFF2-40B4-BE49-F238E27FC236}">
                <a16:creationId xmlns:a16="http://schemas.microsoft.com/office/drawing/2014/main" id="{D35BF316-40C9-F5CB-11BB-3F8D01C89078}"/>
              </a:ext>
            </a:extLst>
          </p:cNvPr>
          <p:cNvSpPr txBox="1"/>
          <p:nvPr/>
        </p:nvSpPr>
        <p:spPr>
          <a:xfrm>
            <a:off x="1413179" y="2300027"/>
            <a:ext cx="2070230" cy="523220"/>
          </a:xfrm>
          <a:prstGeom prst="rect">
            <a:avLst/>
          </a:prstGeom>
          <a:noFill/>
        </p:spPr>
        <p:txBody>
          <a:bodyPr wrap="square">
            <a:spAutoFit/>
          </a:bodyPr>
          <a:lstStyle/>
          <a:p>
            <a:pPr>
              <a:buNone/>
            </a:pPr>
            <a:r>
              <a:rPr lang="en-US" sz="2800" b="0" dirty="0">
                <a:solidFill>
                  <a:srgbClr val="4674D6"/>
                </a:solidFill>
                <a:effectLst/>
                <a:latin typeface="Cascadia Code" panose="020B0609020000020004" pitchFamily="34" charset="0"/>
              </a:rPr>
              <a:t>Resources</a:t>
            </a:r>
          </a:p>
        </p:txBody>
      </p:sp>
      <p:sp>
        <p:nvSpPr>
          <p:cNvPr id="11" name="TextBox 10">
            <a:extLst>
              <a:ext uri="{FF2B5EF4-FFF2-40B4-BE49-F238E27FC236}">
                <a16:creationId xmlns:a16="http://schemas.microsoft.com/office/drawing/2014/main" id="{C262DF33-5442-59DC-326A-F5115D7BAE0A}"/>
              </a:ext>
            </a:extLst>
          </p:cNvPr>
          <p:cNvSpPr txBox="1"/>
          <p:nvPr/>
        </p:nvSpPr>
        <p:spPr>
          <a:xfrm>
            <a:off x="1824050" y="2736992"/>
            <a:ext cx="1299319" cy="523220"/>
          </a:xfrm>
          <a:prstGeom prst="rect">
            <a:avLst/>
          </a:prstGeom>
          <a:noFill/>
        </p:spPr>
        <p:txBody>
          <a:bodyPr wrap="square">
            <a:spAutoFit/>
          </a:bodyPr>
          <a:lstStyle/>
          <a:p>
            <a:r>
              <a:rPr lang="en-US" sz="2800" b="0" i="1" dirty="0">
                <a:solidFill>
                  <a:srgbClr val="9443C1"/>
                </a:solidFill>
                <a:effectLst/>
                <a:latin typeface="Cascadia Code" panose="020B0609020000020004" pitchFamily="34" charset="0"/>
              </a:rPr>
              <a:t>where</a:t>
            </a:r>
            <a:endParaRPr lang="en-US" sz="2800" i="1" dirty="0">
              <a:solidFill>
                <a:srgbClr val="9443C1"/>
              </a:solidFill>
            </a:endParaRPr>
          </a:p>
        </p:txBody>
      </p:sp>
      <p:sp>
        <p:nvSpPr>
          <p:cNvPr id="12" name="TextBox 11">
            <a:extLst>
              <a:ext uri="{FF2B5EF4-FFF2-40B4-BE49-F238E27FC236}">
                <a16:creationId xmlns:a16="http://schemas.microsoft.com/office/drawing/2014/main" id="{5BB528D5-6E0F-4C48-7AE7-892D41AF4846}"/>
              </a:ext>
            </a:extLst>
          </p:cNvPr>
          <p:cNvSpPr txBox="1"/>
          <p:nvPr/>
        </p:nvSpPr>
        <p:spPr>
          <a:xfrm>
            <a:off x="4963067" y="3162647"/>
            <a:ext cx="1947021" cy="523220"/>
          </a:xfrm>
          <a:prstGeom prst="rect">
            <a:avLst/>
          </a:prstGeom>
          <a:noFill/>
        </p:spPr>
        <p:txBody>
          <a:bodyPr wrap="square">
            <a:spAutoFit/>
          </a:bodyPr>
          <a:lstStyle/>
          <a:p>
            <a:r>
              <a:rPr lang="en-US" sz="2800" b="0" i="1" dirty="0">
                <a:solidFill>
                  <a:srgbClr val="9443C1"/>
                </a:solidFill>
                <a:effectLst/>
                <a:latin typeface="Cascadia Code" panose="020B0609020000020004" pitchFamily="34" charset="0"/>
              </a:rPr>
              <a:t>contains </a:t>
            </a:r>
            <a:endParaRPr lang="en-US" sz="2800" i="1" dirty="0">
              <a:solidFill>
                <a:srgbClr val="9443C1"/>
              </a:solidFill>
            </a:endParaRPr>
          </a:p>
        </p:txBody>
      </p:sp>
      <p:sp>
        <p:nvSpPr>
          <p:cNvPr id="13" name="TextBox 12">
            <a:extLst>
              <a:ext uri="{FF2B5EF4-FFF2-40B4-BE49-F238E27FC236}">
                <a16:creationId xmlns:a16="http://schemas.microsoft.com/office/drawing/2014/main" id="{F42EA6A5-0D22-D5B2-50C1-76EC16E398C8}"/>
              </a:ext>
            </a:extLst>
          </p:cNvPr>
          <p:cNvSpPr txBox="1"/>
          <p:nvPr/>
        </p:nvSpPr>
        <p:spPr>
          <a:xfrm>
            <a:off x="3905447" y="3589522"/>
            <a:ext cx="1036886" cy="523220"/>
          </a:xfrm>
          <a:prstGeom prst="rect">
            <a:avLst/>
          </a:prstGeom>
          <a:noFill/>
        </p:spPr>
        <p:txBody>
          <a:bodyPr wrap="square">
            <a:spAutoFit/>
          </a:bodyPr>
          <a:lstStyle/>
          <a:p>
            <a:r>
              <a:rPr lang="en-US" sz="2800" b="0" dirty="0">
                <a:solidFill>
                  <a:srgbClr val="4674D6"/>
                </a:solidFill>
                <a:effectLst/>
                <a:latin typeface="Cascadia Code" panose="020B0609020000020004" pitchFamily="34" charset="0"/>
              </a:rPr>
              <a:t>not</a:t>
            </a:r>
            <a:r>
              <a:rPr lang="en-US" sz="2800" b="0" dirty="0">
                <a:solidFill>
                  <a:srgbClr val="002BFA"/>
                </a:solidFill>
                <a:effectLst/>
                <a:latin typeface="Cascadia Code" panose="020B0609020000020004" pitchFamily="34" charset="0"/>
              </a:rPr>
              <a:t>(</a:t>
            </a:r>
            <a:endParaRPr lang="en-US" sz="2800" dirty="0">
              <a:solidFill>
                <a:srgbClr val="002BFA"/>
              </a:solidFill>
            </a:endParaRPr>
          </a:p>
        </p:txBody>
      </p:sp>
      <p:sp>
        <p:nvSpPr>
          <p:cNvPr id="14" name="TextBox 13">
            <a:extLst>
              <a:ext uri="{FF2B5EF4-FFF2-40B4-BE49-F238E27FC236}">
                <a16:creationId xmlns:a16="http://schemas.microsoft.com/office/drawing/2014/main" id="{2FADD74D-3462-8918-08EF-BFD9EA7C8D56}"/>
              </a:ext>
            </a:extLst>
          </p:cNvPr>
          <p:cNvSpPr txBox="1"/>
          <p:nvPr/>
        </p:nvSpPr>
        <p:spPr>
          <a:xfrm>
            <a:off x="9022897" y="3589522"/>
            <a:ext cx="444326" cy="523220"/>
          </a:xfrm>
          <a:prstGeom prst="rect">
            <a:avLst/>
          </a:prstGeom>
          <a:noFill/>
        </p:spPr>
        <p:txBody>
          <a:bodyPr wrap="square">
            <a:spAutoFit/>
          </a:bodyPr>
          <a:lstStyle/>
          <a:p>
            <a:r>
              <a:rPr lang="en-US" sz="2800" b="0" dirty="0">
                <a:solidFill>
                  <a:srgbClr val="002BFA"/>
                </a:solidFill>
                <a:effectLst/>
                <a:latin typeface="Cascadia Code" panose="020B0609020000020004" pitchFamily="34" charset="0"/>
              </a:rPr>
              <a:t>)</a:t>
            </a:r>
            <a:endParaRPr lang="en-US" sz="2800" dirty="0">
              <a:solidFill>
                <a:srgbClr val="002BFA"/>
              </a:solidFill>
            </a:endParaRPr>
          </a:p>
        </p:txBody>
      </p:sp>
      <p:sp>
        <p:nvSpPr>
          <p:cNvPr id="15" name="TextBox 14">
            <a:extLst>
              <a:ext uri="{FF2B5EF4-FFF2-40B4-BE49-F238E27FC236}">
                <a16:creationId xmlns:a16="http://schemas.microsoft.com/office/drawing/2014/main" id="{F82F5E15-9CF2-D207-D8FA-882FF68A3DD2}"/>
              </a:ext>
            </a:extLst>
          </p:cNvPr>
          <p:cNvSpPr txBox="1"/>
          <p:nvPr/>
        </p:nvSpPr>
        <p:spPr>
          <a:xfrm>
            <a:off x="3111320" y="3159583"/>
            <a:ext cx="845840" cy="523220"/>
          </a:xfrm>
          <a:prstGeom prst="rect">
            <a:avLst/>
          </a:prstGeom>
          <a:noFill/>
        </p:spPr>
        <p:txBody>
          <a:bodyPr wrap="square">
            <a:spAutoFit/>
          </a:bodyPr>
          <a:lstStyle/>
          <a:p>
            <a:r>
              <a:rPr lang="en-US" sz="2800" b="0" dirty="0">
                <a:solidFill>
                  <a:srgbClr val="9443C1"/>
                </a:solidFill>
                <a:effectLst/>
                <a:latin typeface="Cascadia Code" panose="020B0609020000020004" pitchFamily="34" charset="0"/>
              </a:rPr>
              <a:t>and</a:t>
            </a:r>
            <a:endParaRPr lang="en-US" sz="2800" dirty="0">
              <a:solidFill>
                <a:srgbClr val="9443C1"/>
              </a:solidFill>
            </a:endParaRPr>
          </a:p>
        </p:txBody>
      </p:sp>
      <p:sp>
        <p:nvSpPr>
          <p:cNvPr id="16" name="TextBox 15">
            <a:extLst>
              <a:ext uri="{FF2B5EF4-FFF2-40B4-BE49-F238E27FC236}">
                <a16:creationId xmlns:a16="http://schemas.microsoft.com/office/drawing/2014/main" id="{151EE222-2974-7BF6-0930-94395AC57FFA}"/>
              </a:ext>
            </a:extLst>
          </p:cNvPr>
          <p:cNvSpPr txBox="1"/>
          <p:nvPr/>
        </p:nvSpPr>
        <p:spPr>
          <a:xfrm>
            <a:off x="3097620" y="3589522"/>
            <a:ext cx="845840" cy="523220"/>
          </a:xfrm>
          <a:prstGeom prst="rect">
            <a:avLst/>
          </a:prstGeom>
          <a:noFill/>
        </p:spPr>
        <p:txBody>
          <a:bodyPr wrap="square">
            <a:spAutoFit/>
          </a:bodyPr>
          <a:lstStyle/>
          <a:p>
            <a:r>
              <a:rPr lang="en-US" sz="2800" b="0" dirty="0">
                <a:solidFill>
                  <a:srgbClr val="9443C1"/>
                </a:solidFill>
                <a:effectLst/>
                <a:latin typeface="Cascadia Code" panose="020B0609020000020004" pitchFamily="34" charset="0"/>
              </a:rPr>
              <a:t>and</a:t>
            </a:r>
            <a:endParaRPr lang="en-US" sz="2800" dirty="0">
              <a:solidFill>
                <a:srgbClr val="9443C1"/>
              </a:solidFill>
            </a:endParaRPr>
          </a:p>
        </p:txBody>
      </p:sp>
      <p:sp>
        <p:nvSpPr>
          <p:cNvPr id="17" name="Rectangle 16">
            <a:extLst>
              <a:ext uri="{FF2B5EF4-FFF2-40B4-BE49-F238E27FC236}">
                <a16:creationId xmlns:a16="http://schemas.microsoft.com/office/drawing/2014/main" id="{3EEEC8FC-3E71-3FFF-FFBC-E6D69B8D4DD4}"/>
              </a:ext>
            </a:extLst>
          </p:cNvPr>
          <p:cNvSpPr/>
          <p:nvPr/>
        </p:nvSpPr>
        <p:spPr>
          <a:xfrm>
            <a:off x="1413176" y="3260212"/>
            <a:ext cx="9158303" cy="1815883"/>
          </a:xfrm>
          <a:prstGeom prst="rect">
            <a:avLst/>
          </a:prstGeom>
          <a:solidFill>
            <a:schemeClr val="bg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4" name="Title 1">
            <a:extLst>
              <a:ext uri="{FF2B5EF4-FFF2-40B4-BE49-F238E27FC236}">
                <a16:creationId xmlns:a16="http://schemas.microsoft.com/office/drawing/2014/main" id="{262126E7-FB8F-6DC5-FB7F-43B2C663C7EC}"/>
              </a:ext>
            </a:extLst>
          </p:cNvPr>
          <p:cNvSpPr txBox="1">
            <a:spLocks/>
          </p:cNvSpPr>
          <p:nvPr/>
        </p:nvSpPr>
        <p:spPr>
          <a:xfrm>
            <a:off x="838200" y="365125"/>
            <a:ext cx="9733280" cy="1325563"/>
          </a:xfrm>
        </p:spPr>
        <p:txBody>
          <a:bodyPr>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3600" dirty="0">
                <a:latin typeface="+mn-lt"/>
              </a:rPr>
              <a:t>Example Query</a:t>
            </a:r>
          </a:p>
        </p:txBody>
      </p:sp>
      <p:sp>
        <p:nvSpPr>
          <p:cNvPr id="2" name="Rectangle 1">
            <a:extLst>
              <a:ext uri="{FF2B5EF4-FFF2-40B4-BE49-F238E27FC236}">
                <a16:creationId xmlns:a16="http://schemas.microsoft.com/office/drawing/2014/main" id="{12579806-532D-E745-8F49-50083F4AFD2D}"/>
              </a:ext>
            </a:extLst>
          </p:cNvPr>
          <p:cNvSpPr/>
          <p:nvPr/>
        </p:nvSpPr>
        <p:spPr>
          <a:xfrm>
            <a:off x="1413176" y="2093490"/>
            <a:ext cx="9158303" cy="673069"/>
          </a:xfrm>
          <a:prstGeom prst="rect">
            <a:avLst/>
          </a:prstGeom>
          <a:solidFill>
            <a:schemeClr val="bg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2830593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7AF38-66C0-DF08-8EDF-6B6EF7EEF4F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343C317-5A09-EEB3-E4F8-6C862F87E89A}"/>
              </a:ext>
            </a:extLst>
          </p:cNvPr>
          <p:cNvSpPr txBox="1"/>
          <p:nvPr/>
        </p:nvSpPr>
        <p:spPr>
          <a:xfrm>
            <a:off x="1413178" y="2300027"/>
            <a:ext cx="9904757" cy="1815882"/>
          </a:xfrm>
          <a:prstGeom prst="rect">
            <a:avLst/>
          </a:prstGeom>
          <a:noFill/>
        </p:spPr>
        <p:txBody>
          <a:bodyPr wrap="square">
            <a:spAutoFit/>
          </a:bodyPr>
          <a:lstStyle/>
          <a:p>
            <a:pPr>
              <a:buNone/>
            </a:pPr>
            <a:endParaRPr lang="en-US" sz="2800" b="0" dirty="0">
              <a:solidFill>
                <a:srgbClr val="CCCCCC"/>
              </a:solidFill>
              <a:effectLst/>
              <a:latin typeface="Cascadia Code" panose="020B0609020000020004" pitchFamily="34" charset="0"/>
            </a:endParaRPr>
          </a:p>
          <a:p>
            <a:pPr>
              <a:buNone/>
            </a:pPr>
            <a:r>
              <a:rPr lang="en-US" sz="2800" b="0" dirty="0">
                <a:solidFill>
                  <a:srgbClr val="CCCCCC"/>
                </a:solidFill>
                <a:effectLst/>
                <a:latin typeface="Cascadia Code" panose="020B0609020000020004" pitchFamily="34" charset="0"/>
              </a:rPr>
              <a:t>| </a:t>
            </a:r>
            <a:r>
              <a:rPr lang="en-US" sz="2800" dirty="0">
                <a:solidFill>
                  <a:srgbClr val="C586C0"/>
                </a:solidFill>
                <a:latin typeface="Cascadia Code" panose="020B0609020000020004" pitchFamily="34" charset="0"/>
              </a:rPr>
              <a:t>     </a:t>
            </a:r>
            <a:r>
              <a:rPr lang="en-US" sz="2800" b="0" dirty="0">
                <a:solidFill>
                  <a:srgbClr val="CCCCCC"/>
                </a:solidFill>
                <a:effectLst/>
                <a:latin typeface="Cascadia Code" panose="020B0609020000020004" pitchFamily="34" charset="0"/>
              </a:rPr>
              <a:t> </a:t>
            </a:r>
            <a:r>
              <a:rPr lang="en-US" sz="2800" b="0" dirty="0">
                <a:solidFill>
                  <a:srgbClr val="4674D6"/>
                </a:solidFill>
                <a:effectLst/>
                <a:latin typeface="Cascadia Code" panose="020B0609020000020004" pitchFamily="34" charset="0"/>
              </a:rPr>
              <a:t>type</a:t>
            </a:r>
            <a:r>
              <a:rPr lang="en-US" sz="2800" b="0" dirty="0">
                <a:solidFill>
                  <a:srgbClr val="CCCCCC"/>
                </a:solidFill>
                <a:effectLst/>
                <a:latin typeface="Cascadia Code" panose="020B0609020000020004" pitchFamily="34" charset="0"/>
              </a:rPr>
              <a:t> </a:t>
            </a:r>
            <a:r>
              <a:rPr lang="en-US" sz="2800" b="0" dirty="0">
                <a:solidFill>
                  <a:srgbClr val="4C4C5E"/>
                </a:solidFill>
                <a:effectLst/>
                <a:latin typeface="Cascadia Code" panose="020B0609020000020004" pitchFamily="34" charset="0"/>
              </a:rPr>
              <a:t>==</a:t>
            </a:r>
            <a:r>
              <a:rPr lang="en-US" sz="2800" b="0" dirty="0">
                <a:solidFill>
                  <a:srgbClr val="CCCCCC"/>
                </a:solidFill>
                <a:effectLst/>
                <a:latin typeface="Cascadia Code" panose="020B0609020000020004" pitchFamily="34" charset="0"/>
              </a:rPr>
              <a:t> </a:t>
            </a:r>
            <a:r>
              <a:rPr lang="en-US" sz="2800" dirty="0">
                <a:solidFill>
                  <a:srgbClr val="C7605E"/>
                </a:solidFill>
                <a:latin typeface="Cascadia Code" panose="020B0609020000020004" pitchFamily="34" charset="0"/>
              </a:rPr>
              <a:t>‘</a:t>
            </a:r>
            <a:r>
              <a:rPr lang="en-US" sz="2800" b="0" dirty="0" err="1">
                <a:solidFill>
                  <a:srgbClr val="C7605E"/>
                </a:solidFill>
                <a:effectLst/>
                <a:latin typeface="Cascadia Code" panose="020B0609020000020004" pitchFamily="34" charset="0"/>
              </a:rPr>
              <a:t>microsoft.keyvault</a:t>
            </a:r>
            <a:r>
              <a:rPr lang="en-US" sz="2800" b="0" dirty="0">
                <a:solidFill>
                  <a:srgbClr val="C7605E"/>
                </a:solidFill>
                <a:effectLst/>
                <a:latin typeface="Cascadia Code" panose="020B0609020000020004" pitchFamily="34" charset="0"/>
              </a:rPr>
              <a:t>/vaults’</a:t>
            </a:r>
          </a:p>
          <a:p>
            <a:pPr>
              <a:buNone/>
            </a:pPr>
            <a:r>
              <a:rPr lang="en-US" sz="2800" b="0" dirty="0">
                <a:solidFill>
                  <a:srgbClr val="569CD6"/>
                </a:solidFill>
                <a:effectLst/>
                <a:latin typeface="Cascadia Code" panose="020B0609020000020004" pitchFamily="34" charset="0"/>
              </a:rPr>
              <a:t>            </a:t>
            </a:r>
            <a:r>
              <a:rPr lang="en-US" sz="2800" b="0" dirty="0">
                <a:solidFill>
                  <a:srgbClr val="4674D6"/>
                </a:solidFill>
                <a:effectLst/>
                <a:latin typeface="Cascadia Code" panose="020B0609020000020004" pitchFamily="34" charset="0"/>
              </a:rPr>
              <a:t>name</a:t>
            </a:r>
            <a:r>
              <a:rPr lang="en-US" sz="2800" b="0" dirty="0">
                <a:solidFill>
                  <a:srgbClr val="C586C0"/>
                </a:solidFill>
                <a:effectLst/>
                <a:latin typeface="Cascadia Code" panose="020B0609020000020004" pitchFamily="34" charset="0"/>
              </a:rPr>
              <a:t>        </a:t>
            </a:r>
            <a:r>
              <a:rPr lang="en-US" sz="2800" b="0" dirty="0">
                <a:solidFill>
                  <a:srgbClr val="CCCCCC"/>
                </a:solidFill>
                <a:effectLst/>
                <a:latin typeface="Cascadia Code" panose="020B0609020000020004" pitchFamily="34" charset="0"/>
              </a:rPr>
              <a:t>  </a:t>
            </a:r>
            <a:r>
              <a:rPr lang="en-US" sz="2800" dirty="0">
                <a:solidFill>
                  <a:srgbClr val="C7605E"/>
                </a:solidFill>
                <a:latin typeface="Cascadia Code" panose="020B0609020000020004" pitchFamily="34" charset="0"/>
              </a:rPr>
              <a:t>‘</a:t>
            </a:r>
            <a:r>
              <a:rPr lang="en-US" sz="2800" b="0" dirty="0" err="1">
                <a:solidFill>
                  <a:srgbClr val="C7605E"/>
                </a:solidFill>
                <a:effectLst/>
                <a:latin typeface="Cascadia Code" panose="020B0609020000020004" pitchFamily="34" charset="0"/>
              </a:rPr>
              <a:t>kv</a:t>
            </a:r>
            <a:r>
              <a:rPr lang="en-US" sz="2800" b="0" dirty="0">
                <a:solidFill>
                  <a:srgbClr val="C7605E"/>
                </a:solidFill>
                <a:effectLst/>
                <a:latin typeface="Cascadia Code" panose="020B0609020000020004" pitchFamily="34" charset="0"/>
              </a:rPr>
              <a:t>’</a:t>
            </a:r>
          </a:p>
          <a:p>
            <a:pPr>
              <a:buNone/>
            </a:pPr>
            <a:r>
              <a:rPr lang="en-US" sz="2800" b="0" dirty="0">
                <a:solidFill>
                  <a:srgbClr val="569CD6"/>
                </a:solidFill>
                <a:effectLst/>
                <a:latin typeface="Cascadia Code" panose="020B0609020000020004" pitchFamily="34" charset="0"/>
              </a:rPr>
              <a:t>		    </a:t>
            </a:r>
            <a:r>
              <a:rPr lang="en-US" sz="2800" b="0" dirty="0">
                <a:solidFill>
                  <a:srgbClr val="CCCCCC"/>
                </a:solidFill>
                <a:effectLst/>
                <a:latin typeface="Cascadia Code" panose="020B0609020000020004" pitchFamily="34" charset="0"/>
              </a:rPr>
              <a:t> </a:t>
            </a:r>
            <a:r>
              <a:rPr lang="en-US" sz="2800" b="0" dirty="0">
                <a:solidFill>
                  <a:srgbClr val="DCDCAA"/>
                </a:solidFill>
                <a:effectLst/>
                <a:latin typeface="Cascadia Code" panose="020B0609020000020004" pitchFamily="34" charset="0"/>
              </a:rPr>
              <a:t>  </a:t>
            </a:r>
            <a:r>
              <a:rPr lang="en-US" sz="2800" b="0" dirty="0">
                <a:solidFill>
                  <a:srgbClr val="4C4C5E"/>
                </a:solidFill>
                <a:effectLst/>
                <a:latin typeface="Cascadia Code" panose="020B0609020000020004" pitchFamily="34" charset="0"/>
              </a:rPr>
              <a:t>tags</a:t>
            </a:r>
            <a:r>
              <a:rPr lang="en-US" sz="2800" b="0" dirty="0">
                <a:solidFill>
                  <a:srgbClr val="248C22"/>
                </a:solidFill>
                <a:effectLst/>
                <a:latin typeface="Cascadia Code" panose="020B0609020000020004" pitchFamily="34" charset="0"/>
              </a:rPr>
              <a:t>[</a:t>
            </a:r>
            <a:r>
              <a:rPr lang="en-US" sz="2800" dirty="0">
                <a:solidFill>
                  <a:srgbClr val="C7605E"/>
                </a:solidFill>
                <a:latin typeface="Cascadia Code" panose="020B0609020000020004" pitchFamily="34" charset="0"/>
              </a:rPr>
              <a:t>‘</a:t>
            </a:r>
            <a:r>
              <a:rPr lang="en-US" sz="2800" b="0" dirty="0">
                <a:solidFill>
                  <a:srgbClr val="C7605E"/>
                </a:solidFill>
                <a:effectLst/>
                <a:latin typeface="Cascadia Code" panose="020B0609020000020004" pitchFamily="34" charset="0"/>
              </a:rPr>
              <a:t>env</a:t>
            </a:r>
            <a:r>
              <a:rPr lang="en-US" sz="2800" dirty="0">
                <a:solidFill>
                  <a:srgbClr val="C7605E"/>
                </a:solidFill>
                <a:latin typeface="Cascadia Code" panose="020B0609020000020004" pitchFamily="34" charset="0"/>
              </a:rPr>
              <a:t>’</a:t>
            </a:r>
            <a:r>
              <a:rPr lang="en-US" sz="2800" b="0" dirty="0">
                <a:solidFill>
                  <a:srgbClr val="248C22"/>
                </a:solidFill>
                <a:effectLst/>
                <a:latin typeface="Cascadia Code" panose="020B0609020000020004" pitchFamily="34" charset="0"/>
              </a:rPr>
              <a:t>]</a:t>
            </a:r>
            <a:r>
              <a:rPr lang="en-US" sz="2800" b="0" dirty="0">
                <a:solidFill>
                  <a:srgbClr val="CCCCCC"/>
                </a:solidFill>
                <a:effectLst/>
                <a:latin typeface="Cascadia Code" panose="020B0609020000020004" pitchFamily="34" charset="0"/>
              </a:rPr>
              <a:t> </a:t>
            </a:r>
            <a:r>
              <a:rPr lang="en-US" sz="2800" b="0" dirty="0">
                <a:solidFill>
                  <a:srgbClr val="4C4C5E"/>
                </a:solidFill>
                <a:effectLst/>
                <a:latin typeface="Cascadia Code" panose="020B0609020000020004" pitchFamily="34" charset="0"/>
              </a:rPr>
              <a:t>==</a:t>
            </a:r>
            <a:r>
              <a:rPr lang="en-US" sz="2800" b="0" dirty="0">
                <a:solidFill>
                  <a:srgbClr val="CCCCCC"/>
                </a:solidFill>
                <a:effectLst/>
                <a:latin typeface="Cascadia Code" panose="020B0609020000020004" pitchFamily="34" charset="0"/>
              </a:rPr>
              <a:t> </a:t>
            </a:r>
            <a:r>
              <a:rPr lang="en-US" sz="2800" dirty="0">
                <a:solidFill>
                  <a:srgbClr val="C7605E"/>
                </a:solidFill>
                <a:latin typeface="Cascadia Code" panose="020B0609020000020004" pitchFamily="34" charset="0"/>
              </a:rPr>
              <a:t>‘</a:t>
            </a:r>
            <a:r>
              <a:rPr lang="en-US" sz="2800" b="0" dirty="0">
                <a:solidFill>
                  <a:srgbClr val="C7605E"/>
                </a:solidFill>
                <a:effectLst/>
                <a:latin typeface="Cascadia Code" panose="020B0609020000020004" pitchFamily="34" charset="0"/>
              </a:rPr>
              <a:t>prod’</a:t>
            </a:r>
          </a:p>
        </p:txBody>
      </p:sp>
      <p:sp>
        <p:nvSpPr>
          <p:cNvPr id="10" name="TextBox 9">
            <a:extLst>
              <a:ext uri="{FF2B5EF4-FFF2-40B4-BE49-F238E27FC236}">
                <a16:creationId xmlns:a16="http://schemas.microsoft.com/office/drawing/2014/main" id="{ACD19D6E-4AB7-9844-0B16-CA0DC5158822}"/>
              </a:ext>
            </a:extLst>
          </p:cNvPr>
          <p:cNvSpPr txBox="1"/>
          <p:nvPr/>
        </p:nvSpPr>
        <p:spPr>
          <a:xfrm>
            <a:off x="1413179" y="2300027"/>
            <a:ext cx="2070230" cy="523220"/>
          </a:xfrm>
          <a:prstGeom prst="rect">
            <a:avLst/>
          </a:prstGeom>
          <a:noFill/>
        </p:spPr>
        <p:txBody>
          <a:bodyPr wrap="square">
            <a:spAutoFit/>
          </a:bodyPr>
          <a:lstStyle/>
          <a:p>
            <a:pPr>
              <a:buNone/>
            </a:pPr>
            <a:r>
              <a:rPr lang="en-US" sz="2800" b="0" dirty="0">
                <a:solidFill>
                  <a:srgbClr val="4674D6"/>
                </a:solidFill>
                <a:effectLst/>
                <a:latin typeface="Cascadia Code" panose="020B0609020000020004" pitchFamily="34" charset="0"/>
              </a:rPr>
              <a:t>Resources</a:t>
            </a:r>
          </a:p>
        </p:txBody>
      </p:sp>
      <p:sp>
        <p:nvSpPr>
          <p:cNvPr id="11" name="TextBox 10">
            <a:extLst>
              <a:ext uri="{FF2B5EF4-FFF2-40B4-BE49-F238E27FC236}">
                <a16:creationId xmlns:a16="http://schemas.microsoft.com/office/drawing/2014/main" id="{BE4080CF-C32F-371C-6BD8-38ED9B6F89E4}"/>
              </a:ext>
            </a:extLst>
          </p:cNvPr>
          <p:cNvSpPr txBox="1"/>
          <p:nvPr/>
        </p:nvSpPr>
        <p:spPr>
          <a:xfrm>
            <a:off x="1824050" y="2736992"/>
            <a:ext cx="1299319" cy="523220"/>
          </a:xfrm>
          <a:prstGeom prst="rect">
            <a:avLst/>
          </a:prstGeom>
          <a:noFill/>
        </p:spPr>
        <p:txBody>
          <a:bodyPr wrap="square">
            <a:spAutoFit/>
          </a:bodyPr>
          <a:lstStyle/>
          <a:p>
            <a:r>
              <a:rPr lang="en-US" sz="2800" b="0" i="1" dirty="0">
                <a:solidFill>
                  <a:srgbClr val="9443C1"/>
                </a:solidFill>
                <a:effectLst/>
                <a:latin typeface="Cascadia Code" panose="020B0609020000020004" pitchFamily="34" charset="0"/>
              </a:rPr>
              <a:t>where</a:t>
            </a:r>
            <a:endParaRPr lang="en-US" sz="2800" i="1" dirty="0">
              <a:solidFill>
                <a:srgbClr val="9443C1"/>
              </a:solidFill>
            </a:endParaRPr>
          </a:p>
        </p:txBody>
      </p:sp>
      <p:sp>
        <p:nvSpPr>
          <p:cNvPr id="12" name="TextBox 11">
            <a:extLst>
              <a:ext uri="{FF2B5EF4-FFF2-40B4-BE49-F238E27FC236}">
                <a16:creationId xmlns:a16="http://schemas.microsoft.com/office/drawing/2014/main" id="{AB877064-0841-2DD8-7ED5-B72DCFBCE4FD}"/>
              </a:ext>
            </a:extLst>
          </p:cNvPr>
          <p:cNvSpPr txBox="1"/>
          <p:nvPr/>
        </p:nvSpPr>
        <p:spPr>
          <a:xfrm>
            <a:off x="4963067" y="3162647"/>
            <a:ext cx="1947021" cy="523220"/>
          </a:xfrm>
          <a:prstGeom prst="rect">
            <a:avLst/>
          </a:prstGeom>
          <a:noFill/>
        </p:spPr>
        <p:txBody>
          <a:bodyPr wrap="square">
            <a:spAutoFit/>
          </a:bodyPr>
          <a:lstStyle/>
          <a:p>
            <a:r>
              <a:rPr lang="en-US" sz="2800" b="0" i="1" dirty="0">
                <a:solidFill>
                  <a:srgbClr val="9443C1"/>
                </a:solidFill>
                <a:effectLst/>
                <a:latin typeface="Cascadia Code" panose="020B0609020000020004" pitchFamily="34" charset="0"/>
              </a:rPr>
              <a:t>contains </a:t>
            </a:r>
            <a:endParaRPr lang="en-US" sz="2800" i="1" dirty="0">
              <a:solidFill>
                <a:srgbClr val="9443C1"/>
              </a:solidFill>
            </a:endParaRPr>
          </a:p>
        </p:txBody>
      </p:sp>
      <p:sp>
        <p:nvSpPr>
          <p:cNvPr id="13" name="TextBox 12">
            <a:extLst>
              <a:ext uri="{FF2B5EF4-FFF2-40B4-BE49-F238E27FC236}">
                <a16:creationId xmlns:a16="http://schemas.microsoft.com/office/drawing/2014/main" id="{4098C25C-92D7-4E57-5308-2A61FEC5AA0F}"/>
              </a:ext>
            </a:extLst>
          </p:cNvPr>
          <p:cNvSpPr txBox="1"/>
          <p:nvPr/>
        </p:nvSpPr>
        <p:spPr>
          <a:xfrm>
            <a:off x="3905447" y="3589522"/>
            <a:ext cx="1036886" cy="523220"/>
          </a:xfrm>
          <a:prstGeom prst="rect">
            <a:avLst/>
          </a:prstGeom>
          <a:noFill/>
        </p:spPr>
        <p:txBody>
          <a:bodyPr wrap="square">
            <a:spAutoFit/>
          </a:bodyPr>
          <a:lstStyle/>
          <a:p>
            <a:r>
              <a:rPr lang="en-US" sz="2800" b="0" dirty="0">
                <a:solidFill>
                  <a:srgbClr val="4674D6"/>
                </a:solidFill>
                <a:effectLst/>
                <a:latin typeface="Cascadia Code" panose="020B0609020000020004" pitchFamily="34" charset="0"/>
              </a:rPr>
              <a:t>not</a:t>
            </a:r>
            <a:r>
              <a:rPr lang="en-US" sz="2800" b="0" dirty="0">
                <a:solidFill>
                  <a:srgbClr val="002BFA"/>
                </a:solidFill>
                <a:effectLst/>
                <a:latin typeface="Cascadia Code" panose="020B0609020000020004" pitchFamily="34" charset="0"/>
              </a:rPr>
              <a:t>(</a:t>
            </a:r>
            <a:endParaRPr lang="en-US" sz="2800" dirty="0">
              <a:solidFill>
                <a:srgbClr val="002BFA"/>
              </a:solidFill>
            </a:endParaRPr>
          </a:p>
        </p:txBody>
      </p:sp>
      <p:sp>
        <p:nvSpPr>
          <p:cNvPr id="14" name="TextBox 13">
            <a:extLst>
              <a:ext uri="{FF2B5EF4-FFF2-40B4-BE49-F238E27FC236}">
                <a16:creationId xmlns:a16="http://schemas.microsoft.com/office/drawing/2014/main" id="{5D3E56EA-6B80-9F79-8BDA-7354A5CF7947}"/>
              </a:ext>
            </a:extLst>
          </p:cNvPr>
          <p:cNvSpPr txBox="1"/>
          <p:nvPr/>
        </p:nvSpPr>
        <p:spPr>
          <a:xfrm>
            <a:off x="9022897" y="3589522"/>
            <a:ext cx="444326" cy="523220"/>
          </a:xfrm>
          <a:prstGeom prst="rect">
            <a:avLst/>
          </a:prstGeom>
          <a:noFill/>
        </p:spPr>
        <p:txBody>
          <a:bodyPr wrap="square">
            <a:spAutoFit/>
          </a:bodyPr>
          <a:lstStyle/>
          <a:p>
            <a:r>
              <a:rPr lang="en-US" sz="2800" b="0" dirty="0">
                <a:solidFill>
                  <a:srgbClr val="002BFA"/>
                </a:solidFill>
                <a:effectLst/>
                <a:latin typeface="Cascadia Code" panose="020B0609020000020004" pitchFamily="34" charset="0"/>
              </a:rPr>
              <a:t>)</a:t>
            </a:r>
            <a:endParaRPr lang="en-US" sz="2800" dirty="0">
              <a:solidFill>
                <a:srgbClr val="002BFA"/>
              </a:solidFill>
            </a:endParaRPr>
          </a:p>
        </p:txBody>
      </p:sp>
      <p:sp>
        <p:nvSpPr>
          <p:cNvPr id="15" name="TextBox 14">
            <a:extLst>
              <a:ext uri="{FF2B5EF4-FFF2-40B4-BE49-F238E27FC236}">
                <a16:creationId xmlns:a16="http://schemas.microsoft.com/office/drawing/2014/main" id="{B8DFB5E2-FA7C-999F-923D-D1F1533F40A6}"/>
              </a:ext>
            </a:extLst>
          </p:cNvPr>
          <p:cNvSpPr txBox="1"/>
          <p:nvPr/>
        </p:nvSpPr>
        <p:spPr>
          <a:xfrm>
            <a:off x="3111320" y="3159583"/>
            <a:ext cx="845840" cy="523220"/>
          </a:xfrm>
          <a:prstGeom prst="rect">
            <a:avLst/>
          </a:prstGeom>
          <a:noFill/>
        </p:spPr>
        <p:txBody>
          <a:bodyPr wrap="square">
            <a:spAutoFit/>
          </a:bodyPr>
          <a:lstStyle/>
          <a:p>
            <a:r>
              <a:rPr lang="en-US" sz="2800" b="0" dirty="0">
                <a:solidFill>
                  <a:srgbClr val="9443C1"/>
                </a:solidFill>
                <a:effectLst/>
                <a:latin typeface="Cascadia Code" panose="020B0609020000020004" pitchFamily="34" charset="0"/>
              </a:rPr>
              <a:t>and</a:t>
            </a:r>
            <a:endParaRPr lang="en-US" sz="2800" dirty="0">
              <a:solidFill>
                <a:srgbClr val="9443C1"/>
              </a:solidFill>
            </a:endParaRPr>
          </a:p>
        </p:txBody>
      </p:sp>
      <p:sp>
        <p:nvSpPr>
          <p:cNvPr id="16" name="TextBox 15">
            <a:extLst>
              <a:ext uri="{FF2B5EF4-FFF2-40B4-BE49-F238E27FC236}">
                <a16:creationId xmlns:a16="http://schemas.microsoft.com/office/drawing/2014/main" id="{46881FB9-2679-FB15-A6A9-1B9E5F053094}"/>
              </a:ext>
            </a:extLst>
          </p:cNvPr>
          <p:cNvSpPr txBox="1"/>
          <p:nvPr/>
        </p:nvSpPr>
        <p:spPr>
          <a:xfrm>
            <a:off x="3097620" y="3589522"/>
            <a:ext cx="845840" cy="523220"/>
          </a:xfrm>
          <a:prstGeom prst="rect">
            <a:avLst/>
          </a:prstGeom>
          <a:noFill/>
        </p:spPr>
        <p:txBody>
          <a:bodyPr wrap="square">
            <a:spAutoFit/>
          </a:bodyPr>
          <a:lstStyle/>
          <a:p>
            <a:r>
              <a:rPr lang="en-US" sz="2800" b="0" dirty="0">
                <a:solidFill>
                  <a:srgbClr val="9443C1"/>
                </a:solidFill>
                <a:effectLst/>
                <a:latin typeface="Cascadia Code" panose="020B0609020000020004" pitchFamily="34" charset="0"/>
              </a:rPr>
              <a:t>and</a:t>
            </a:r>
            <a:endParaRPr lang="en-US" sz="2800" dirty="0">
              <a:solidFill>
                <a:srgbClr val="9443C1"/>
              </a:solidFill>
            </a:endParaRPr>
          </a:p>
        </p:txBody>
      </p:sp>
      <p:sp>
        <p:nvSpPr>
          <p:cNvPr id="17" name="Rectangle 16">
            <a:extLst>
              <a:ext uri="{FF2B5EF4-FFF2-40B4-BE49-F238E27FC236}">
                <a16:creationId xmlns:a16="http://schemas.microsoft.com/office/drawing/2014/main" id="{0357B6D5-5F42-069A-2949-09D5A12C75D7}"/>
              </a:ext>
            </a:extLst>
          </p:cNvPr>
          <p:cNvSpPr/>
          <p:nvPr/>
        </p:nvSpPr>
        <p:spPr>
          <a:xfrm>
            <a:off x="1413176" y="1399008"/>
            <a:ext cx="9158303" cy="1815883"/>
          </a:xfrm>
          <a:prstGeom prst="rect">
            <a:avLst/>
          </a:prstGeom>
          <a:solidFill>
            <a:schemeClr val="bg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4" name="Title 1">
            <a:extLst>
              <a:ext uri="{FF2B5EF4-FFF2-40B4-BE49-F238E27FC236}">
                <a16:creationId xmlns:a16="http://schemas.microsoft.com/office/drawing/2014/main" id="{EF07C2BF-DBA8-A268-D3A0-86936D7386C0}"/>
              </a:ext>
            </a:extLst>
          </p:cNvPr>
          <p:cNvSpPr txBox="1">
            <a:spLocks/>
          </p:cNvSpPr>
          <p:nvPr/>
        </p:nvSpPr>
        <p:spPr>
          <a:xfrm>
            <a:off x="838200" y="365125"/>
            <a:ext cx="9733280" cy="1325563"/>
          </a:xfrm>
        </p:spPr>
        <p:txBody>
          <a:bodyPr>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3600" dirty="0">
                <a:latin typeface="+mn-lt"/>
              </a:rPr>
              <a:t>Example Query</a:t>
            </a:r>
          </a:p>
        </p:txBody>
      </p:sp>
    </p:spTree>
    <p:extLst>
      <p:ext uri="{BB962C8B-B14F-4D97-AF65-F5344CB8AC3E}">
        <p14:creationId xmlns:p14="http://schemas.microsoft.com/office/powerpoint/2010/main" val="242735295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9">
            <a:extLst>
              <a:ext uri="{FF2B5EF4-FFF2-40B4-BE49-F238E27FC236}">
                <a16:creationId xmlns:a16="http://schemas.microsoft.com/office/drawing/2014/main" id="{776AC288-703A-8014-23CA-E040CDD7E976}"/>
              </a:ext>
            </a:extLst>
          </p:cNvPr>
          <p:cNvPicPr>
            <a:picLocks noChangeAspect="1"/>
          </p:cNvPicPr>
          <p:nvPr/>
        </p:nvPicPr>
        <p:blipFill>
          <a:blip r:embed="rId3"/>
          <a:stretch>
            <a:fillRect/>
          </a:stretch>
        </p:blipFill>
        <p:spPr>
          <a:xfrm>
            <a:off x="3342841" y="1155562"/>
            <a:ext cx="5506318" cy="4546875"/>
          </a:xfrm>
          <a:prstGeom prst="rect">
            <a:avLst/>
          </a:prstGeom>
          <a:ln>
            <a:noFill/>
          </a:ln>
          <a:effectLst>
            <a:outerShdw blurRad="292100" dist="139700" dir="2700000" algn="tl" rotWithShape="0">
              <a:srgbClr val="333333">
                <a:alpha val="65000"/>
              </a:srgbClr>
            </a:outerShdw>
          </a:effectLst>
        </p:spPr>
      </p:pic>
      <p:sp>
        <p:nvSpPr>
          <p:cNvPr id="5" name="Title 1">
            <a:extLst>
              <a:ext uri="{FF2B5EF4-FFF2-40B4-BE49-F238E27FC236}">
                <a16:creationId xmlns:a16="http://schemas.microsoft.com/office/drawing/2014/main" id="{2D900758-0138-9C9E-7477-42B0697924B4}"/>
              </a:ext>
            </a:extLst>
          </p:cNvPr>
          <p:cNvSpPr txBox="1">
            <a:spLocks/>
          </p:cNvSpPr>
          <p:nvPr/>
        </p:nvSpPr>
        <p:spPr>
          <a:xfrm>
            <a:off x="838200" y="365125"/>
            <a:ext cx="9733280" cy="1325563"/>
          </a:xfrm>
        </p:spPr>
        <p:txBody>
          <a:bodyPr>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3600" dirty="0">
                <a:latin typeface="+mn-lt"/>
              </a:rPr>
              <a:t>Querying ARG</a:t>
            </a:r>
          </a:p>
        </p:txBody>
      </p:sp>
    </p:spTree>
    <p:extLst>
      <p:ext uri="{BB962C8B-B14F-4D97-AF65-F5344CB8AC3E}">
        <p14:creationId xmlns:p14="http://schemas.microsoft.com/office/powerpoint/2010/main" val="33172594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94468FA-01F5-13F7-232E-4B32C6B76334}"/>
              </a:ext>
            </a:extLst>
          </p:cNvPr>
          <p:cNvSpPr txBox="1"/>
          <p:nvPr/>
        </p:nvSpPr>
        <p:spPr>
          <a:xfrm>
            <a:off x="1594257" y="5775859"/>
            <a:ext cx="9001885" cy="338554"/>
          </a:xfrm>
          <a:prstGeom prst="rect">
            <a:avLst/>
          </a:prstGeom>
          <a:noFill/>
        </p:spPr>
        <p:txBody>
          <a:bodyPr wrap="square" rtlCol="0">
            <a:spAutoFit/>
          </a:bodyPr>
          <a:lstStyle/>
          <a:p>
            <a:pPr algn="ctr"/>
            <a:r>
              <a:rPr lang="en-US" sz="1600" dirty="0" err="1">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Microsoft.OperationalInsights</a:t>
            </a:r>
            <a:r>
              <a:rPr lang="en-US" sz="16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a:t>
            </a:r>
            <a:r>
              <a:rPr lang="en-US" sz="1600" dirty="0" err="1">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queryPacks</a:t>
            </a:r>
            <a:r>
              <a:rPr lang="en-US" sz="16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/queries</a:t>
            </a:r>
          </a:p>
        </p:txBody>
      </p:sp>
      <p:grpSp>
        <p:nvGrpSpPr>
          <p:cNvPr id="6" name="Group 5">
            <a:extLst>
              <a:ext uri="{FF2B5EF4-FFF2-40B4-BE49-F238E27FC236}">
                <a16:creationId xmlns:a16="http://schemas.microsoft.com/office/drawing/2014/main" id="{BE1F0E49-803D-FF1D-7248-72AE54830FEB}"/>
              </a:ext>
            </a:extLst>
          </p:cNvPr>
          <p:cNvGrpSpPr/>
          <p:nvPr/>
        </p:nvGrpSpPr>
        <p:grpSpPr>
          <a:xfrm>
            <a:off x="1105202" y="1822341"/>
            <a:ext cx="2552318" cy="2696919"/>
            <a:chOff x="1171679" y="1863610"/>
            <a:chExt cx="1688565" cy="1823004"/>
          </a:xfrm>
        </p:grpSpPr>
        <p:pic>
          <p:nvPicPr>
            <p:cNvPr id="7" name="Graphic 6">
              <a:extLst>
                <a:ext uri="{FF2B5EF4-FFF2-40B4-BE49-F238E27FC236}">
                  <a16:creationId xmlns:a16="http://schemas.microsoft.com/office/drawing/2014/main" id="{9B70D04A-6D2D-05C8-F60E-77946724C23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08296" y="1863610"/>
              <a:ext cx="1451948" cy="1451948"/>
            </a:xfrm>
            <a:prstGeom prst="rect">
              <a:avLst/>
            </a:prstGeom>
          </p:spPr>
        </p:pic>
        <p:sp>
          <p:nvSpPr>
            <p:cNvPr id="8" name="TextBox 7">
              <a:extLst>
                <a:ext uri="{FF2B5EF4-FFF2-40B4-BE49-F238E27FC236}">
                  <a16:creationId xmlns:a16="http://schemas.microsoft.com/office/drawing/2014/main" id="{609A407A-F0AE-419D-DC5F-E520C04F6380}"/>
                </a:ext>
              </a:extLst>
            </p:cNvPr>
            <p:cNvSpPr txBox="1"/>
            <p:nvPr/>
          </p:nvSpPr>
          <p:spPr>
            <a:xfrm>
              <a:off x="1171679" y="2958460"/>
              <a:ext cx="1235756" cy="728154"/>
            </a:xfrm>
            <a:prstGeom prst="rect">
              <a:avLst/>
            </a:prstGeom>
            <a:noFill/>
          </p:spPr>
          <p:txBody>
            <a:bodyPr wrap="none" rtlCol="0">
              <a:spAutoFit/>
            </a:bodyPr>
            <a:lstStyle/>
            <a:p>
              <a:pPr algn="r"/>
              <a:r>
                <a:rPr lang="en-US" sz="16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Resource Graph</a:t>
              </a:r>
              <a:br>
                <a:rPr lang="en-US" sz="16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br>
              <a:r>
                <a:rPr lang="en-US" sz="16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Queries</a:t>
              </a:r>
              <a:br>
                <a:rPr lang="en-US" sz="16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br>
              <a:br>
                <a:rPr lang="en-US" sz="16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br>
              <a:endParaRPr lang="en-US" sz="16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endParaRPr>
            </a:p>
          </p:txBody>
        </p:sp>
      </p:grpSp>
      <p:sp>
        <p:nvSpPr>
          <p:cNvPr id="9" name="TextBox 8">
            <a:extLst>
              <a:ext uri="{FF2B5EF4-FFF2-40B4-BE49-F238E27FC236}">
                <a16:creationId xmlns:a16="http://schemas.microsoft.com/office/drawing/2014/main" id="{998FB22C-A881-CF0C-1CCC-22CC9F7A0F17}"/>
              </a:ext>
            </a:extLst>
          </p:cNvPr>
          <p:cNvSpPr txBox="1"/>
          <p:nvPr/>
        </p:nvSpPr>
        <p:spPr>
          <a:xfrm>
            <a:off x="3140448" y="5432406"/>
            <a:ext cx="5912576" cy="338554"/>
          </a:xfrm>
          <a:prstGeom prst="rect">
            <a:avLst/>
          </a:prstGeom>
          <a:noFill/>
        </p:spPr>
        <p:txBody>
          <a:bodyPr wrap="square" rtlCol="0">
            <a:spAutoFit/>
          </a:bodyPr>
          <a:lstStyle/>
          <a:p>
            <a:pPr algn="ctr"/>
            <a:r>
              <a:rPr lang="en-US" sz="1600" dirty="0" err="1">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Microsoft.ResourceGraph</a:t>
            </a:r>
            <a:r>
              <a:rPr lang="en-US" sz="16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/queries</a:t>
            </a:r>
          </a:p>
        </p:txBody>
      </p:sp>
      <p:grpSp>
        <p:nvGrpSpPr>
          <p:cNvPr id="10" name="Group 9">
            <a:extLst>
              <a:ext uri="{FF2B5EF4-FFF2-40B4-BE49-F238E27FC236}">
                <a16:creationId xmlns:a16="http://schemas.microsoft.com/office/drawing/2014/main" id="{3292FD33-FD18-F43C-1197-D2C690AA66E2}"/>
              </a:ext>
            </a:extLst>
          </p:cNvPr>
          <p:cNvGrpSpPr/>
          <p:nvPr/>
        </p:nvGrpSpPr>
        <p:grpSpPr>
          <a:xfrm>
            <a:off x="5161292" y="1689296"/>
            <a:ext cx="1867819" cy="2033069"/>
            <a:chOff x="3954143" y="1808306"/>
            <a:chExt cx="1235714" cy="1374270"/>
          </a:xfrm>
        </p:grpSpPr>
        <p:pic>
          <p:nvPicPr>
            <p:cNvPr id="11" name="Graphic 10">
              <a:extLst>
                <a:ext uri="{FF2B5EF4-FFF2-40B4-BE49-F238E27FC236}">
                  <a16:creationId xmlns:a16="http://schemas.microsoft.com/office/drawing/2014/main" id="{4589F292-0761-C6DA-AD60-6CF2750500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95936" y="1808306"/>
              <a:ext cx="1152128" cy="1152128"/>
            </a:xfrm>
            <a:prstGeom prst="rect">
              <a:avLst/>
            </a:prstGeom>
          </p:spPr>
        </p:pic>
        <p:sp>
          <p:nvSpPr>
            <p:cNvPr id="12" name="TextBox 11">
              <a:extLst>
                <a:ext uri="{FF2B5EF4-FFF2-40B4-BE49-F238E27FC236}">
                  <a16:creationId xmlns:a16="http://schemas.microsoft.com/office/drawing/2014/main" id="{AA003453-41EA-42CA-FDE5-ECC7A40B0D34}"/>
                </a:ext>
              </a:extLst>
            </p:cNvPr>
            <p:cNvSpPr txBox="1"/>
            <p:nvPr/>
          </p:nvSpPr>
          <p:spPr>
            <a:xfrm>
              <a:off x="3954143" y="2953728"/>
              <a:ext cx="1235714" cy="228848"/>
            </a:xfrm>
            <a:prstGeom prst="rect">
              <a:avLst/>
            </a:prstGeom>
            <a:noFill/>
          </p:spPr>
          <p:txBody>
            <a:bodyPr wrap="none" rtlCol="0">
              <a:spAutoFit/>
            </a:bodyPr>
            <a:lstStyle/>
            <a:p>
              <a:pPr algn="ctr"/>
              <a:r>
                <a:rPr lang="en-US" sz="16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Git Repository</a:t>
              </a:r>
            </a:p>
          </p:txBody>
        </p:sp>
      </p:grpSp>
      <p:grpSp>
        <p:nvGrpSpPr>
          <p:cNvPr id="13" name="Group 12">
            <a:extLst>
              <a:ext uri="{FF2B5EF4-FFF2-40B4-BE49-F238E27FC236}">
                <a16:creationId xmlns:a16="http://schemas.microsoft.com/office/drawing/2014/main" id="{F06E7C54-3AA0-61DC-C093-D97D37B6A1A7}"/>
              </a:ext>
            </a:extLst>
          </p:cNvPr>
          <p:cNvGrpSpPr/>
          <p:nvPr/>
        </p:nvGrpSpPr>
        <p:grpSpPr>
          <a:xfrm>
            <a:off x="8769889" y="1465514"/>
            <a:ext cx="1886829" cy="2431471"/>
            <a:chOff x="6612151" y="1705438"/>
            <a:chExt cx="1248290" cy="1643573"/>
          </a:xfrm>
        </p:grpSpPr>
        <p:pic>
          <p:nvPicPr>
            <p:cNvPr id="14" name="Graphic 13">
              <a:extLst>
                <a:ext uri="{FF2B5EF4-FFF2-40B4-BE49-F238E27FC236}">
                  <a16:creationId xmlns:a16="http://schemas.microsoft.com/office/drawing/2014/main" id="{018E3B83-AF77-B765-FE3F-5EDEC71588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2151" y="1705438"/>
              <a:ext cx="1248290" cy="1248290"/>
            </a:xfrm>
            <a:prstGeom prst="rect">
              <a:avLst/>
            </a:prstGeom>
          </p:spPr>
        </p:pic>
        <p:sp>
          <p:nvSpPr>
            <p:cNvPr id="15" name="TextBox 14">
              <a:extLst>
                <a:ext uri="{FF2B5EF4-FFF2-40B4-BE49-F238E27FC236}">
                  <a16:creationId xmlns:a16="http://schemas.microsoft.com/office/drawing/2014/main" id="{1C4AA400-1496-06AB-A911-FC4969995B04}"/>
                </a:ext>
              </a:extLst>
            </p:cNvPr>
            <p:cNvSpPr txBox="1"/>
            <p:nvPr/>
          </p:nvSpPr>
          <p:spPr>
            <a:xfrm>
              <a:off x="6658209" y="2953728"/>
              <a:ext cx="1156175" cy="395283"/>
            </a:xfrm>
            <a:prstGeom prst="rect">
              <a:avLst/>
            </a:prstGeom>
            <a:noFill/>
          </p:spPr>
          <p:txBody>
            <a:bodyPr wrap="none" rtlCol="0">
              <a:spAutoFit/>
            </a:bodyPr>
            <a:lstStyle/>
            <a:p>
              <a:pPr algn="ctr"/>
              <a:r>
                <a:rPr lang="en-US" sz="16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Log Analytics</a:t>
              </a:r>
              <a:br>
                <a:rPr lang="en-US" sz="16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br>
              <a:r>
                <a:rPr lang="en-US" sz="16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Query Packs *</a:t>
              </a:r>
            </a:p>
          </p:txBody>
        </p:sp>
      </p:grpSp>
      <p:sp>
        <p:nvSpPr>
          <p:cNvPr id="16" name="TextBox 15">
            <a:extLst>
              <a:ext uri="{FF2B5EF4-FFF2-40B4-BE49-F238E27FC236}">
                <a16:creationId xmlns:a16="http://schemas.microsoft.com/office/drawing/2014/main" id="{5D5B369D-5C85-40EB-9271-C78C068679CC}"/>
              </a:ext>
            </a:extLst>
          </p:cNvPr>
          <p:cNvSpPr txBox="1"/>
          <p:nvPr/>
        </p:nvSpPr>
        <p:spPr>
          <a:xfrm>
            <a:off x="5047016" y="5098383"/>
            <a:ext cx="2096369" cy="338554"/>
          </a:xfrm>
          <a:prstGeom prst="rect">
            <a:avLst/>
          </a:prstGeom>
          <a:noFill/>
        </p:spPr>
        <p:txBody>
          <a:bodyPr wrap="square" rtlCol="0">
            <a:spAutoFit/>
          </a:bodyPr>
          <a:lstStyle/>
          <a:p>
            <a:pPr algn="ctr"/>
            <a:r>
              <a:rPr lang="en-US" sz="16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.KQL files</a:t>
            </a:r>
          </a:p>
        </p:txBody>
      </p:sp>
      <p:sp>
        <p:nvSpPr>
          <p:cNvPr id="17" name="TextBox 16">
            <a:extLst>
              <a:ext uri="{FF2B5EF4-FFF2-40B4-BE49-F238E27FC236}">
                <a16:creationId xmlns:a16="http://schemas.microsoft.com/office/drawing/2014/main" id="{B2071D5C-F724-425A-009A-E45D71D07B46}"/>
              </a:ext>
            </a:extLst>
          </p:cNvPr>
          <p:cNvSpPr txBox="1"/>
          <p:nvPr/>
        </p:nvSpPr>
        <p:spPr>
          <a:xfrm>
            <a:off x="10926147" y="0"/>
            <a:ext cx="1265853" cy="584775"/>
          </a:xfrm>
          <a:prstGeom prst="rect">
            <a:avLst/>
          </a:prstGeom>
          <a:noFill/>
        </p:spPr>
        <p:txBody>
          <a:bodyPr wrap="square" rtlCol="0">
            <a:spAutoFit/>
          </a:bodyPr>
          <a:lstStyle/>
          <a:p>
            <a:pPr algn="r"/>
            <a:r>
              <a:rPr lang="en-US" sz="3200"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a:t>
            </a:r>
            <a:r>
              <a:rPr lang="en-US" sz="3200" dirty="0" err="1">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ish</a:t>
            </a:r>
            <a:endParaRPr lang="en-US" sz="3200"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endParaRPr>
          </a:p>
        </p:txBody>
      </p:sp>
      <p:grpSp>
        <p:nvGrpSpPr>
          <p:cNvPr id="18" name="Group 17">
            <a:extLst>
              <a:ext uri="{FF2B5EF4-FFF2-40B4-BE49-F238E27FC236}">
                <a16:creationId xmlns:a16="http://schemas.microsoft.com/office/drawing/2014/main" id="{F7CBFAE3-3978-9ACD-A98D-F3590CA45896}"/>
              </a:ext>
            </a:extLst>
          </p:cNvPr>
          <p:cNvGrpSpPr/>
          <p:nvPr/>
        </p:nvGrpSpPr>
        <p:grpSpPr>
          <a:xfrm>
            <a:off x="2473170" y="3974072"/>
            <a:ext cx="1608935" cy="1724702"/>
            <a:chOff x="2025326" y="3469392"/>
            <a:chExt cx="908469" cy="938631"/>
          </a:xfrm>
        </p:grpSpPr>
        <mc:AlternateContent xmlns:mc="http://schemas.openxmlformats.org/markup-compatibility/2006">
          <mc:Choice xmlns:p14="http://schemas.microsoft.com/office/powerpoint/2010/main" Requires="p14">
            <p:contentPart p14:bwMode="auto" r:id="rId5">
              <p14:nvContentPartPr>
                <p14:cNvPr id="19" name="Ink 18">
                  <a:extLst>
                    <a:ext uri="{FF2B5EF4-FFF2-40B4-BE49-F238E27FC236}">
                      <a16:creationId xmlns:a16="http://schemas.microsoft.com/office/drawing/2014/main" id="{B6CB2B66-E870-CA32-B156-B1BB4221DE9D}"/>
                    </a:ext>
                  </a:extLst>
                </p14:cNvPr>
                <p14:cNvContentPartPr/>
                <p14:nvPr/>
              </p14:nvContentPartPr>
              <p14:xfrm rot="21010720">
                <a:off x="2025326" y="3469392"/>
                <a:ext cx="808294" cy="938631"/>
              </p14:xfrm>
            </p:contentPart>
          </mc:Choice>
          <mc:Fallback>
            <p:pic>
              <p:nvPicPr>
                <p:cNvPr id="19" name="Ink 18">
                  <a:extLst>
                    <a:ext uri="{FF2B5EF4-FFF2-40B4-BE49-F238E27FC236}">
                      <a16:creationId xmlns:a16="http://schemas.microsoft.com/office/drawing/2014/main" id="{B6CB2B66-E870-CA32-B156-B1BB4221DE9D}"/>
                    </a:ext>
                  </a:extLst>
                </p:cNvPr>
                <p:cNvPicPr/>
                <p:nvPr/>
              </p:nvPicPr>
              <p:blipFill>
                <a:blip r:embed="rId6"/>
                <a:stretch>
                  <a:fillRect/>
                </a:stretch>
              </p:blipFill>
              <p:spPr>
                <a:xfrm rot="21010720">
                  <a:off x="2015164" y="3459592"/>
                  <a:ext cx="828415" cy="958035"/>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20" name="Ink 19">
                  <a:extLst>
                    <a:ext uri="{FF2B5EF4-FFF2-40B4-BE49-F238E27FC236}">
                      <a16:creationId xmlns:a16="http://schemas.microsoft.com/office/drawing/2014/main" id="{B64E7730-CE2E-57BF-48C1-F3E8598C753D}"/>
                    </a:ext>
                  </a:extLst>
                </p14:cNvPr>
                <p14:cNvContentPartPr/>
                <p14:nvPr/>
              </p14:nvContentPartPr>
              <p14:xfrm>
                <a:off x="2686115" y="4182337"/>
                <a:ext cx="247680" cy="163440"/>
              </p14:xfrm>
            </p:contentPart>
          </mc:Choice>
          <mc:Fallback>
            <p:pic>
              <p:nvPicPr>
                <p:cNvPr id="20" name="Ink 19">
                  <a:extLst>
                    <a:ext uri="{FF2B5EF4-FFF2-40B4-BE49-F238E27FC236}">
                      <a16:creationId xmlns:a16="http://schemas.microsoft.com/office/drawing/2014/main" id="{B64E7730-CE2E-57BF-48C1-F3E8598C753D}"/>
                    </a:ext>
                  </a:extLst>
                </p:cNvPr>
                <p:cNvPicPr/>
                <p:nvPr/>
              </p:nvPicPr>
              <p:blipFill>
                <a:blip r:embed="rId8"/>
                <a:stretch>
                  <a:fillRect/>
                </a:stretch>
              </p:blipFill>
              <p:spPr>
                <a:xfrm>
                  <a:off x="2675948" y="4172538"/>
                  <a:ext cx="267812" cy="182841"/>
                </a:xfrm>
                <a:prstGeom prst="rect">
                  <a:avLst/>
                </a:prstGeom>
              </p:spPr>
            </p:pic>
          </mc:Fallback>
        </mc:AlternateContent>
      </p:grpSp>
      <p:grpSp>
        <p:nvGrpSpPr>
          <p:cNvPr id="21" name="Group 20">
            <a:extLst>
              <a:ext uri="{FF2B5EF4-FFF2-40B4-BE49-F238E27FC236}">
                <a16:creationId xmlns:a16="http://schemas.microsoft.com/office/drawing/2014/main" id="{C8999AA0-22B7-68E7-B195-0CC584967B7F}"/>
              </a:ext>
            </a:extLst>
          </p:cNvPr>
          <p:cNvGrpSpPr/>
          <p:nvPr/>
        </p:nvGrpSpPr>
        <p:grpSpPr>
          <a:xfrm>
            <a:off x="9081311" y="4077176"/>
            <a:ext cx="515191" cy="1716260"/>
            <a:chOff x="7107123" y="3450270"/>
            <a:chExt cx="340841" cy="1160121"/>
          </a:xfrm>
        </p:grpSpPr>
        <mc:AlternateContent xmlns:mc="http://schemas.openxmlformats.org/markup-compatibility/2006">
          <mc:Choice xmlns:p14="http://schemas.microsoft.com/office/powerpoint/2010/main" Requires="p14">
            <p:contentPart p14:bwMode="auto" r:id="rId9">
              <p14:nvContentPartPr>
                <p14:cNvPr id="22" name="Ink 21">
                  <a:extLst>
                    <a:ext uri="{FF2B5EF4-FFF2-40B4-BE49-F238E27FC236}">
                      <a16:creationId xmlns:a16="http://schemas.microsoft.com/office/drawing/2014/main" id="{1C0FF42D-0DB0-8E1A-8945-49290C8967DB}"/>
                    </a:ext>
                  </a:extLst>
                </p14:cNvPr>
                <p14:cNvContentPartPr/>
                <p14:nvPr/>
              </p14:nvContentPartPr>
              <p14:xfrm>
                <a:off x="7138082" y="3450270"/>
                <a:ext cx="309882" cy="1111881"/>
              </p14:xfrm>
            </p:contentPart>
          </mc:Choice>
          <mc:Fallback>
            <p:pic>
              <p:nvPicPr>
                <p:cNvPr id="22" name="Ink 21">
                  <a:extLst>
                    <a:ext uri="{FF2B5EF4-FFF2-40B4-BE49-F238E27FC236}">
                      <a16:creationId xmlns:a16="http://schemas.microsoft.com/office/drawing/2014/main" id="{1C0FF42D-0DB0-8E1A-8945-49290C8967DB}"/>
                    </a:ext>
                  </a:extLst>
                </p:cNvPr>
                <p:cNvPicPr/>
                <p:nvPr/>
              </p:nvPicPr>
              <p:blipFill>
                <a:blip r:embed="rId10"/>
                <a:stretch>
                  <a:fillRect/>
                </a:stretch>
              </p:blipFill>
              <p:spPr>
                <a:xfrm>
                  <a:off x="7126163" y="3438102"/>
                  <a:ext cx="333481" cy="1135973"/>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3" name="Ink 22">
                  <a:extLst>
                    <a:ext uri="{FF2B5EF4-FFF2-40B4-BE49-F238E27FC236}">
                      <a16:creationId xmlns:a16="http://schemas.microsoft.com/office/drawing/2014/main" id="{51103CBC-9436-74C9-49BF-D00168B47B67}"/>
                    </a:ext>
                  </a:extLst>
                </p14:cNvPr>
                <p14:cNvContentPartPr/>
                <p14:nvPr/>
              </p14:nvContentPartPr>
              <p14:xfrm>
                <a:off x="7107123" y="4418871"/>
                <a:ext cx="195840" cy="191520"/>
              </p14:xfrm>
            </p:contentPart>
          </mc:Choice>
          <mc:Fallback xmlns="">
            <p:pic>
              <p:nvPicPr>
                <p:cNvPr id="100" name="Ink 99">
                  <a:extLst>
                    <a:ext uri="{FF2B5EF4-FFF2-40B4-BE49-F238E27FC236}">
                      <a16:creationId xmlns:a16="http://schemas.microsoft.com/office/drawing/2014/main" id="{29096A37-6359-08EA-17B6-8343312B1515}"/>
                    </a:ext>
                  </a:extLst>
                </p:cNvPr>
                <p:cNvPicPr/>
                <p:nvPr/>
              </p:nvPicPr>
              <p:blipFill>
                <a:blip r:embed="rId15"/>
                <a:stretch>
                  <a:fillRect/>
                </a:stretch>
              </p:blipFill>
              <p:spPr>
                <a:xfrm>
                  <a:off x="7089123" y="4401231"/>
                  <a:ext cx="231480" cy="227160"/>
                </a:xfrm>
                <a:prstGeom prst="rect">
                  <a:avLst/>
                </a:prstGeom>
              </p:spPr>
            </p:pic>
          </mc:Fallback>
        </mc:AlternateContent>
      </p:grpSp>
      <p:grpSp>
        <p:nvGrpSpPr>
          <p:cNvPr id="24" name="Group 23">
            <a:extLst>
              <a:ext uri="{FF2B5EF4-FFF2-40B4-BE49-F238E27FC236}">
                <a16:creationId xmlns:a16="http://schemas.microsoft.com/office/drawing/2014/main" id="{142672D3-17DA-3699-E5B7-65E38BEF6389}"/>
              </a:ext>
            </a:extLst>
          </p:cNvPr>
          <p:cNvGrpSpPr/>
          <p:nvPr/>
        </p:nvGrpSpPr>
        <p:grpSpPr>
          <a:xfrm>
            <a:off x="5963955" y="3917146"/>
            <a:ext cx="316696" cy="911028"/>
            <a:chOff x="4595469" y="3357000"/>
            <a:chExt cx="209520" cy="615818"/>
          </a:xfrm>
        </p:grpSpPr>
        <mc:AlternateContent xmlns:mc="http://schemas.openxmlformats.org/markup-compatibility/2006">
          <mc:Choice xmlns:p14="http://schemas.microsoft.com/office/powerpoint/2010/main" Requires="p14">
            <p:contentPart p14:bwMode="auto" r:id="rId16">
              <p14:nvContentPartPr>
                <p14:cNvPr id="25" name="Ink 24">
                  <a:extLst>
                    <a:ext uri="{FF2B5EF4-FFF2-40B4-BE49-F238E27FC236}">
                      <a16:creationId xmlns:a16="http://schemas.microsoft.com/office/drawing/2014/main" id="{22AAD4EC-81D9-AE2C-EC18-DB307E0599CC}"/>
                    </a:ext>
                  </a:extLst>
                </p14:cNvPr>
                <p14:cNvContentPartPr/>
                <p14:nvPr/>
              </p14:nvContentPartPr>
              <p14:xfrm>
                <a:off x="4675680" y="3357000"/>
                <a:ext cx="2160" cy="579240"/>
              </p14:xfrm>
            </p:contentPart>
          </mc:Choice>
          <mc:Fallback>
            <p:pic>
              <p:nvPicPr>
                <p:cNvPr id="25" name="Ink 24">
                  <a:extLst>
                    <a:ext uri="{FF2B5EF4-FFF2-40B4-BE49-F238E27FC236}">
                      <a16:creationId xmlns:a16="http://schemas.microsoft.com/office/drawing/2014/main" id="{22AAD4EC-81D9-AE2C-EC18-DB307E0599CC}"/>
                    </a:ext>
                  </a:extLst>
                </p:cNvPr>
                <p:cNvPicPr/>
                <p:nvPr/>
              </p:nvPicPr>
              <p:blipFill>
                <a:blip r:embed="rId17"/>
                <a:stretch>
                  <a:fillRect/>
                </a:stretch>
              </p:blipFill>
              <p:spPr>
                <a:xfrm>
                  <a:off x="4663680" y="3344831"/>
                  <a:ext cx="25920" cy="603334"/>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6" name="Ink 25">
                  <a:extLst>
                    <a:ext uri="{FF2B5EF4-FFF2-40B4-BE49-F238E27FC236}">
                      <a16:creationId xmlns:a16="http://schemas.microsoft.com/office/drawing/2014/main" id="{02B0E16B-27FC-BC6F-ECC1-2FC35EC265BD}"/>
                    </a:ext>
                  </a:extLst>
                </p14:cNvPr>
                <p14:cNvContentPartPr/>
                <p14:nvPr/>
              </p14:nvContentPartPr>
              <p14:xfrm>
                <a:off x="4595469" y="3834938"/>
                <a:ext cx="209520" cy="137880"/>
              </p14:xfrm>
            </p:contentPart>
          </mc:Choice>
          <mc:Fallback>
            <p:pic>
              <p:nvPicPr>
                <p:cNvPr id="26" name="Ink 25">
                  <a:extLst>
                    <a:ext uri="{FF2B5EF4-FFF2-40B4-BE49-F238E27FC236}">
                      <a16:creationId xmlns:a16="http://schemas.microsoft.com/office/drawing/2014/main" id="{02B0E16B-27FC-BC6F-ECC1-2FC35EC265BD}"/>
                    </a:ext>
                  </a:extLst>
                </p:cNvPr>
                <p:cNvPicPr/>
                <p:nvPr/>
              </p:nvPicPr>
              <p:blipFill>
                <a:blip r:embed="rId19"/>
                <a:stretch>
                  <a:fillRect/>
                </a:stretch>
              </p:blipFill>
              <p:spPr>
                <a:xfrm>
                  <a:off x="4583551" y="3822758"/>
                  <a:ext cx="233118" cy="161997"/>
                </a:xfrm>
                <a:prstGeom prst="rect">
                  <a:avLst/>
                </a:prstGeom>
              </p:spPr>
            </p:pic>
          </mc:Fallback>
        </mc:AlternateContent>
      </p:grpSp>
      <p:grpSp>
        <p:nvGrpSpPr>
          <p:cNvPr id="27" name="Group 26">
            <a:extLst>
              <a:ext uri="{FF2B5EF4-FFF2-40B4-BE49-F238E27FC236}">
                <a16:creationId xmlns:a16="http://schemas.microsoft.com/office/drawing/2014/main" id="{6A989D59-607C-6AFE-1403-69C56BE10C3D}"/>
              </a:ext>
            </a:extLst>
          </p:cNvPr>
          <p:cNvGrpSpPr/>
          <p:nvPr/>
        </p:nvGrpSpPr>
        <p:grpSpPr>
          <a:xfrm>
            <a:off x="6443911" y="3334220"/>
            <a:ext cx="2297288" cy="2404216"/>
            <a:chOff x="5096631" y="3008619"/>
            <a:chExt cx="1519842" cy="1625150"/>
          </a:xfrm>
        </p:grpSpPr>
        <mc:AlternateContent xmlns:mc="http://schemas.openxmlformats.org/markup-compatibility/2006">
          <mc:Choice xmlns:p14="http://schemas.microsoft.com/office/powerpoint/2010/main" Requires="p14">
            <p:contentPart p14:bwMode="auto" r:id="rId20">
              <p14:nvContentPartPr>
                <p14:cNvPr id="28" name="Ink 27">
                  <a:extLst>
                    <a:ext uri="{FF2B5EF4-FFF2-40B4-BE49-F238E27FC236}">
                      <a16:creationId xmlns:a16="http://schemas.microsoft.com/office/drawing/2014/main" id="{FFA9CB71-9465-2DF8-F5B4-BE3B3AB3E669}"/>
                    </a:ext>
                  </a:extLst>
                </p14:cNvPr>
                <p14:cNvContentPartPr/>
                <p14:nvPr/>
              </p14:nvContentPartPr>
              <p14:xfrm rot="926643">
                <a:off x="5096631" y="3008619"/>
                <a:ext cx="1519842" cy="1403406"/>
              </p14:xfrm>
            </p:contentPart>
          </mc:Choice>
          <mc:Fallback>
            <p:pic>
              <p:nvPicPr>
                <p:cNvPr id="28" name="Ink 27">
                  <a:extLst>
                    <a:ext uri="{FF2B5EF4-FFF2-40B4-BE49-F238E27FC236}">
                      <a16:creationId xmlns:a16="http://schemas.microsoft.com/office/drawing/2014/main" id="{FFA9CB71-9465-2DF8-F5B4-BE3B3AB3E669}"/>
                    </a:ext>
                  </a:extLst>
                </p:cNvPr>
                <p:cNvPicPr/>
                <p:nvPr/>
              </p:nvPicPr>
              <p:blipFill>
                <a:blip r:embed="rId21"/>
                <a:stretch>
                  <a:fillRect/>
                </a:stretch>
              </p:blipFill>
              <p:spPr>
                <a:xfrm rot="926643">
                  <a:off x="5084722" y="2996451"/>
                  <a:ext cx="1543422" cy="1427498"/>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9" name="Ink 28">
                  <a:extLst>
                    <a:ext uri="{FF2B5EF4-FFF2-40B4-BE49-F238E27FC236}">
                      <a16:creationId xmlns:a16="http://schemas.microsoft.com/office/drawing/2014/main" id="{EA1930AF-9112-C20B-9D2E-9C271588AC36}"/>
                    </a:ext>
                  </a:extLst>
                </p14:cNvPr>
                <p14:cNvContentPartPr/>
                <p14:nvPr/>
              </p14:nvContentPartPr>
              <p14:xfrm rot="531316">
                <a:off x="6291751" y="4426240"/>
                <a:ext cx="231725" cy="207529"/>
              </p14:xfrm>
            </p:contentPart>
          </mc:Choice>
          <mc:Fallback>
            <p:pic>
              <p:nvPicPr>
                <p:cNvPr id="29" name="Ink 28">
                  <a:extLst>
                    <a:ext uri="{FF2B5EF4-FFF2-40B4-BE49-F238E27FC236}">
                      <a16:creationId xmlns:a16="http://schemas.microsoft.com/office/drawing/2014/main" id="{EA1930AF-9112-C20B-9D2E-9C271588AC36}"/>
                    </a:ext>
                  </a:extLst>
                </p:cNvPr>
                <p:cNvPicPr/>
                <p:nvPr/>
              </p:nvPicPr>
              <p:blipFill>
                <a:blip r:embed="rId23"/>
                <a:stretch>
                  <a:fillRect/>
                </a:stretch>
              </p:blipFill>
              <p:spPr>
                <a:xfrm rot="531316">
                  <a:off x="6279831" y="4414305"/>
                  <a:ext cx="255327" cy="231643"/>
                </a:xfrm>
                <a:prstGeom prst="rect">
                  <a:avLst/>
                </a:prstGeom>
              </p:spPr>
            </p:pic>
          </mc:Fallback>
        </mc:AlternateContent>
        <p:pic>
          <p:nvPicPr>
            <p:cNvPr id="30" name="Picture 2" descr="Bicep for Visual Studio">
              <a:extLst>
                <a:ext uri="{FF2B5EF4-FFF2-40B4-BE49-F238E27FC236}">
                  <a16:creationId xmlns:a16="http://schemas.microsoft.com/office/drawing/2014/main" id="{59A70351-551F-A8E7-6009-CB338608070A}"/>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892477" y="3330823"/>
              <a:ext cx="338554" cy="33855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1" name="Group 30">
            <a:extLst>
              <a:ext uri="{FF2B5EF4-FFF2-40B4-BE49-F238E27FC236}">
                <a16:creationId xmlns:a16="http://schemas.microsoft.com/office/drawing/2014/main" id="{FF33672F-AA1E-51FB-31F1-E7593F7A78AB}"/>
              </a:ext>
            </a:extLst>
          </p:cNvPr>
          <p:cNvGrpSpPr/>
          <p:nvPr/>
        </p:nvGrpSpPr>
        <p:grpSpPr>
          <a:xfrm>
            <a:off x="6551832" y="3899417"/>
            <a:ext cx="767797" cy="1407602"/>
            <a:chOff x="4942403" y="3359910"/>
            <a:chExt cx="507960" cy="951480"/>
          </a:xfrm>
        </p:grpSpPr>
        <mc:AlternateContent xmlns:mc="http://schemas.openxmlformats.org/markup-compatibility/2006">
          <mc:Choice xmlns:p14="http://schemas.microsoft.com/office/powerpoint/2010/main" Requires="p14">
            <p:contentPart p14:bwMode="auto" r:id="rId25">
              <p14:nvContentPartPr>
                <p14:cNvPr id="32" name="Ink 31">
                  <a:extLst>
                    <a:ext uri="{FF2B5EF4-FFF2-40B4-BE49-F238E27FC236}">
                      <a16:creationId xmlns:a16="http://schemas.microsoft.com/office/drawing/2014/main" id="{93390507-BC1A-5469-6551-C31777BD881F}"/>
                    </a:ext>
                  </a:extLst>
                </p14:cNvPr>
                <p14:cNvContentPartPr/>
                <p14:nvPr/>
              </p14:nvContentPartPr>
              <p14:xfrm>
                <a:off x="4942403" y="3359910"/>
                <a:ext cx="435960" cy="909360"/>
              </p14:xfrm>
            </p:contentPart>
          </mc:Choice>
          <mc:Fallback>
            <p:pic>
              <p:nvPicPr>
                <p:cNvPr id="32" name="Ink 31">
                  <a:extLst>
                    <a:ext uri="{FF2B5EF4-FFF2-40B4-BE49-F238E27FC236}">
                      <a16:creationId xmlns:a16="http://schemas.microsoft.com/office/drawing/2014/main" id="{93390507-BC1A-5469-6551-C31777BD881F}"/>
                    </a:ext>
                  </a:extLst>
                </p:cNvPr>
                <p:cNvPicPr/>
                <p:nvPr/>
              </p:nvPicPr>
              <p:blipFill>
                <a:blip r:embed="rId26"/>
                <a:stretch>
                  <a:fillRect/>
                </a:stretch>
              </p:blipFill>
              <p:spPr>
                <a:xfrm>
                  <a:off x="4930492" y="3347740"/>
                  <a:ext cx="459545" cy="933457"/>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33" name="Ink 32">
                  <a:extLst>
                    <a:ext uri="{FF2B5EF4-FFF2-40B4-BE49-F238E27FC236}">
                      <a16:creationId xmlns:a16="http://schemas.microsoft.com/office/drawing/2014/main" id="{094FFF33-40CD-B119-4BD2-EEBBE760B57B}"/>
                    </a:ext>
                  </a:extLst>
                </p14:cNvPr>
                <p14:cNvContentPartPr/>
                <p14:nvPr/>
              </p14:nvContentPartPr>
              <p14:xfrm>
                <a:off x="5276483" y="4148670"/>
                <a:ext cx="173880" cy="162720"/>
              </p14:xfrm>
            </p:contentPart>
          </mc:Choice>
          <mc:Fallback>
            <p:pic>
              <p:nvPicPr>
                <p:cNvPr id="33" name="Ink 32">
                  <a:extLst>
                    <a:ext uri="{FF2B5EF4-FFF2-40B4-BE49-F238E27FC236}">
                      <a16:creationId xmlns:a16="http://schemas.microsoft.com/office/drawing/2014/main" id="{094FFF33-40CD-B119-4BD2-EEBBE760B57B}"/>
                    </a:ext>
                  </a:extLst>
                </p:cNvPr>
                <p:cNvPicPr/>
                <p:nvPr/>
              </p:nvPicPr>
              <p:blipFill>
                <a:blip r:embed="rId28"/>
                <a:stretch>
                  <a:fillRect/>
                </a:stretch>
              </p:blipFill>
              <p:spPr>
                <a:xfrm>
                  <a:off x="5264573" y="4136490"/>
                  <a:ext cx="197461" cy="186836"/>
                </a:xfrm>
                <a:prstGeom prst="rect">
                  <a:avLst/>
                </a:prstGeom>
              </p:spPr>
            </p:pic>
          </mc:Fallback>
        </mc:AlternateContent>
        <p:pic>
          <p:nvPicPr>
            <p:cNvPr id="34" name="Picture 2" descr="Bicep for Visual Studio">
              <a:extLst>
                <a:ext uri="{FF2B5EF4-FFF2-40B4-BE49-F238E27FC236}">
                  <a16:creationId xmlns:a16="http://schemas.microsoft.com/office/drawing/2014/main" id="{1F38DD4C-36ED-5394-F29C-0C7D77F79068}"/>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997595" y="3617935"/>
              <a:ext cx="338554" cy="338554"/>
            </a:xfrm>
            <a:prstGeom prst="rect">
              <a:avLst/>
            </a:prstGeom>
            <a:noFill/>
            <a:extLst>
              <a:ext uri="{909E8E84-426E-40DD-AFC4-6F175D3DCCD1}">
                <a14:hiddenFill xmlns:a14="http://schemas.microsoft.com/office/drawing/2010/main">
                  <a:solidFill>
                    <a:srgbClr val="FFFFFF"/>
                  </a:solidFill>
                </a14:hiddenFill>
              </a:ext>
            </a:extLst>
          </p:spPr>
        </p:pic>
      </p:grpSp>
      <p:sp>
        <p:nvSpPr>
          <p:cNvPr id="35" name="Title 1">
            <a:extLst>
              <a:ext uri="{FF2B5EF4-FFF2-40B4-BE49-F238E27FC236}">
                <a16:creationId xmlns:a16="http://schemas.microsoft.com/office/drawing/2014/main" id="{4481851D-95F6-C07A-5897-058EAC1129A8}"/>
              </a:ext>
            </a:extLst>
          </p:cNvPr>
          <p:cNvSpPr txBox="1">
            <a:spLocks/>
          </p:cNvSpPr>
          <p:nvPr/>
        </p:nvSpPr>
        <p:spPr>
          <a:xfrm>
            <a:off x="838200" y="365125"/>
            <a:ext cx="9733280" cy="1325563"/>
          </a:xfrm>
        </p:spPr>
        <p:txBody>
          <a:bodyPr>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3600" dirty="0">
                <a:latin typeface="+mn-lt"/>
              </a:rPr>
              <a:t>Sharing Queries</a:t>
            </a:r>
          </a:p>
        </p:txBody>
      </p:sp>
    </p:spTree>
    <p:extLst>
      <p:ext uri="{BB962C8B-B14F-4D97-AF65-F5344CB8AC3E}">
        <p14:creationId xmlns:p14="http://schemas.microsoft.com/office/powerpoint/2010/main" val="1766269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p:tgtEl>
                                          <p:spTgt spid="4"/>
                                        </p:tgtEl>
                                      </p:cBhvr>
                                    </p:animEffect>
                                  </p:childTnLst>
                                </p:cTn>
                              </p:par>
                              <p:par>
                                <p:cTn id="31" presetID="10"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500"/>
                                        <p:tgtEl>
                                          <p:spTgt spid="31"/>
                                        </p:tgtEl>
                                      </p:cBhvr>
                                    </p:animEffect>
                                  </p:childTnLst>
                                </p:cTn>
                              </p:par>
                              <p:par>
                                <p:cTn id="52" presetID="10" presetClass="entr" presetSubtype="0" fill="hold"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6" grpId="0"/>
      <p:bldP spid="1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572C488-594D-0549-AC44-1532310FC05C}"/>
              </a:ext>
            </a:extLst>
          </p:cNvPr>
          <p:cNvSpPr txBox="1">
            <a:spLocks/>
          </p:cNvSpPr>
          <p:nvPr/>
        </p:nvSpPr>
        <p:spPr>
          <a:xfrm>
            <a:off x="838199" y="1236310"/>
            <a:ext cx="11353801" cy="4724223"/>
          </a:xfrm>
          <a:prstGeom prst="rect">
            <a:avLst/>
          </a:prstGeom>
        </p:spPr>
        <p:txBody>
          <a:bodyPr/>
          <a:lstStyle>
            <a:lvl1pPr marL="228600" indent="-228600" algn="l" defTabSz="914400" rtl="0" eaLnBrk="1" latinLnBrk="0" hangingPunct="1">
              <a:lnSpc>
                <a:spcPct val="90000"/>
              </a:lnSpc>
              <a:spcBef>
                <a:spcPts val="1000"/>
              </a:spcBef>
              <a:buFont typeface="Wingdings" panose="05000000000000000000" pitchFamily="2" charset="2"/>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3200" kern="1200">
                <a:solidFill>
                  <a:srgbClr val="346297"/>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The </a:t>
            </a:r>
            <a:r>
              <a:rPr lang="en-US" sz="28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Resources</a:t>
            </a:r>
            <a:r>
              <a:rPr lang="en-US" sz="3200" dirty="0">
                <a:ea typeface="Roboto" panose="02000000000000000000" pitchFamily="2" charset="0"/>
              </a:rPr>
              <a:t> table is the default, no need to specify it</a:t>
            </a:r>
          </a:p>
          <a:p>
            <a:r>
              <a:rPr lang="en-US" sz="3200" dirty="0">
                <a:ea typeface="Roboto" panose="02000000000000000000" pitchFamily="2" charset="0"/>
              </a:rPr>
              <a:t>Hidden </a:t>
            </a:r>
            <a:r>
              <a:rPr lang="en-US" sz="2800" dirty="0" err="1">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SystemData</a:t>
            </a:r>
            <a:r>
              <a:rPr lang="en-US" sz="3200" dirty="0">
                <a:ea typeface="Roboto" panose="02000000000000000000" pitchFamily="2" charset="0"/>
              </a:rPr>
              <a:t> property for resource metadata</a:t>
            </a:r>
          </a:p>
          <a:p>
            <a:pPr lvl="1"/>
            <a:r>
              <a:rPr lang="en-US" sz="2800" dirty="0">
                <a:ea typeface="Roboto" panose="02000000000000000000" pitchFamily="2" charset="0"/>
              </a:rPr>
              <a:t>If supported by the resource – Check API version</a:t>
            </a:r>
          </a:p>
          <a:p>
            <a:r>
              <a:rPr lang="en-US" sz="3200" dirty="0">
                <a:ea typeface="Roboto" panose="02000000000000000000" pitchFamily="2" charset="0"/>
              </a:rPr>
              <a:t>Shared queries can be used inside queries with </a:t>
            </a:r>
            <a:r>
              <a:rPr lang="en-US" sz="3200" b="1" dirty="0">
                <a:solidFill>
                  <a:srgbClr val="4C4C5E"/>
                </a:solidFill>
                <a:ea typeface="Cascadia Code" panose="020B0609020000020004" pitchFamily="34" charset="0"/>
                <a:cs typeface="Cascadia Code" panose="020B0609020000020004" pitchFamily="34" charset="0"/>
              </a:rPr>
              <a:t>{{ }}</a:t>
            </a:r>
            <a:r>
              <a:rPr lang="en-US" sz="3200" dirty="0">
                <a:ea typeface="Roboto" panose="02000000000000000000" pitchFamily="2" charset="0"/>
              </a:rPr>
              <a:t> syntax</a:t>
            </a:r>
          </a:p>
          <a:p>
            <a:r>
              <a:rPr lang="en-US" sz="3200" dirty="0">
                <a:ea typeface="Roboto" panose="02000000000000000000" pitchFamily="2" charset="0"/>
              </a:rPr>
              <a:t>You can use ARG from Log Analytics with </a:t>
            </a:r>
            <a:r>
              <a:rPr lang="en-US" sz="2800" dirty="0" err="1">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arg</a:t>
            </a:r>
            <a:r>
              <a:rPr lang="en-US" sz="28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(“”).Resources</a:t>
            </a:r>
            <a:endParaRPr lang="en-US" sz="32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endParaRPr>
          </a:p>
          <a:p>
            <a:pPr lvl="1"/>
            <a:r>
              <a:rPr lang="en-US" sz="2800" dirty="0">
                <a:solidFill>
                  <a:srgbClr val="336297"/>
                </a:solidFill>
                <a:ea typeface="Roboto" panose="02000000000000000000" pitchFamily="2" charset="0"/>
              </a:rPr>
              <a:t>But not yet* with </a:t>
            </a:r>
            <a:r>
              <a:rPr lang="en-US" sz="2800" dirty="0" err="1">
                <a:solidFill>
                  <a:srgbClr val="336297"/>
                </a:solidFill>
                <a:ea typeface="Roboto" panose="02000000000000000000" pitchFamily="2" charset="0"/>
              </a:rPr>
              <a:t>bARGE</a:t>
            </a:r>
            <a:endParaRPr lang="en-US" sz="2800" dirty="0">
              <a:solidFill>
                <a:srgbClr val="336297"/>
              </a:solidFill>
              <a:ea typeface="Roboto" panose="02000000000000000000" pitchFamily="2" charset="0"/>
            </a:endParaRPr>
          </a:p>
        </p:txBody>
      </p:sp>
      <p:sp>
        <p:nvSpPr>
          <p:cNvPr id="2" name="Title 1">
            <a:extLst>
              <a:ext uri="{FF2B5EF4-FFF2-40B4-BE49-F238E27FC236}">
                <a16:creationId xmlns:a16="http://schemas.microsoft.com/office/drawing/2014/main" id="{D24B120D-0FAD-3BE3-5871-3A23284A5D33}"/>
              </a:ext>
            </a:extLst>
          </p:cNvPr>
          <p:cNvSpPr txBox="1">
            <a:spLocks/>
          </p:cNvSpPr>
          <p:nvPr/>
        </p:nvSpPr>
        <p:spPr>
          <a:xfrm>
            <a:off x="838200" y="365125"/>
            <a:ext cx="9733280" cy="1325563"/>
          </a:xfrm>
        </p:spPr>
        <p:txBody>
          <a:bodyPr>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3600" dirty="0">
                <a:latin typeface="+mn-lt"/>
              </a:rPr>
              <a:t>Tips &amp; Tricks</a:t>
            </a:r>
          </a:p>
        </p:txBody>
      </p:sp>
    </p:spTree>
    <p:extLst>
      <p:ext uri="{BB962C8B-B14F-4D97-AF65-F5344CB8AC3E}">
        <p14:creationId xmlns:p14="http://schemas.microsoft.com/office/powerpoint/2010/main" val="2715839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par>
                                <p:cTn id="16" presetID="9" presetClass="emph" presetSubtype="0" grpId="1" nodeType="withEffect">
                                  <p:stCondLst>
                                    <p:cond delay="0"/>
                                  </p:stCondLst>
                                  <p:childTnLst>
                                    <p:set>
                                      <p:cBhvr>
                                        <p:cTn id="17" dur="indefinite"/>
                                        <p:tgtEl>
                                          <p:spTgt spid="5">
                                            <p:txEl>
                                              <p:pRg st="0" end="0"/>
                                            </p:txEl>
                                          </p:spTgt>
                                        </p:tgtEl>
                                        <p:attrNameLst>
                                          <p:attrName>style.opacity</p:attrName>
                                        </p:attrNameLst>
                                      </p:cBhvr>
                                      <p:to>
                                        <p:strVal val="0.5"/>
                                      </p:to>
                                    </p:set>
                                    <p:animEffect filter="image" prLst="opacity: 0.5">
                                      <p:cBhvr rctx="IE">
                                        <p:cTn id="18" dur="indefinite"/>
                                        <p:tgtEl>
                                          <p:spTgt spid="5">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animEffect transition="in" filter="fade">
                                      <p:cBhvr>
                                        <p:cTn id="23" dur="500"/>
                                        <p:tgtEl>
                                          <p:spTgt spid="5">
                                            <p:txEl>
                                              <p:pRg st="3" end="3"/>
                                            </p:txEl>
                                          </p:spTgt>
                                        </p:tgtEl>
                                      </p:cBhvr>
                                    </p:animEffect>
                                  </p:childTnLst>
                                </p:cTn>
                              </p:par>
                              <p:par>
                                <p:cTn id="24" presetID="9" presetClass="emph" presetSubtype="0" grpId="1" nodeType="withEffect">
                                  <p:stCondLst>
                                    <p:cond delay="0"/>
                                  </p:stCondLst>
                                  <p:childTnLst>
                                    <p:set>
                                      <p:cBhvr>
                                        <p:cTn id="25" dur="indefinite"/>
                                        <p:tgtEl>
                                          <p:spTgt spid="5">
                                            <p:txEl>
                                              <p:pRg st="1" end="1"/>
                                            </p:txEl>
                                          </p:spTgt>
                                        </p:tgtEl>
                                        <p:attrNameLst>
                                          <p:attrName>style.opacity</p:attrName>
                                        </p:attrNameLst>
                                      </p:cBhvr>
                                      <p:to>
                                        <p:strVal val="0.5"/>
                                      </p:to>
                                    </p:set>
                                    <p:animEffect filter="image" prLst="opacity: 0.5">
                                      <p:cBhvr rctx="IE">
                                        <p:cTn id="26" dur="indefinite"/>
                                        <p:tgtEl>
                                          <p:spTgt spid="5">
                                            <p:txEl>
                                              <p:pRg st="1" end="1"/>
                                            </p:txEl>
                                          </p:spTgt>
                                        </p:tgtEl>
                                      </p:cBhvr>
                                    </p:animEffect>
                                  </p:childTnLst>
                                </p:cTn>
                              </p:par>
                              <p:par>
                                <p:cTn id="27" presetID="9" presetClass="emph" presetSubtype="0" grpId="1" nodeType="withEffect">
                                  <p:stCondLst>
                                    <p:cond delay="0"/>
                                  </p:stCondLst>
                                  <p:childTnLst>
                                    <p:set>
                                      <p:cBhvr>
                                        <p:cTn id="28" dur="indefinite"/>
                                        <p:tgtEl>
                                          <p:spTgt spid="5">
                                            <p:txEl>
                                              <p:pRg st="2" end="2"/>
                                            </p:txEl>
                                          </p:spTgt>
                                        </p:tgtEl>
                                        <p:attrNameLst>
                                          <p:attrName>style.opacity</p:attrName>
                                        </p:attrNameLst>
                                      </p:cBhvr>
                                      <p:to>
                                        <p:strVal val="0.5"/>
                                      </p:to>
                                    </p:set>
                                    <p:animEffect filter="image" prLst="opacity: 0.5">
                                      <p:cBhvr rctx="IE">
                                        <p:cTn id="29" dur="indefinite"/>
                                        <p:tgtEl>
                                          <p:spTgt spid="5">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5">
                                            <p:txEl>
                                              <p:pRg st="4" end="4"/>
                                            </p:txEl>
                                          </p:spTgt>
                                        </p:tgtEl>
                                        <p:attrNameLst>
                                          <p:attrName>style.visibility</p:attrName>
                                        </p:attrNameLst>
                                      </p:cBhvr>
                                      <p:to>
                                        <p:strVal val="visible"/>
                                      </p:to>
                                    </p:set>
                                    <p:animEffect transition="in" filter="fade">
                                      <p:cBhvr>
                                        <p:cTn id="34" dur="500"/>
                                        <p:tgtEl>
                                          <p:spTgt spid="5">
                                            <p:txEl>
                                              <p:pRg st="4" end="4"/>
                                            </p:txEl>
                                          </p:spTgt>
                                        </p:tgtEl>
                                      </p:cBhvr>
                                    </p:animEffect>
                                  </p:childTnLst>
                                </p:cTn>
                              </p:par>
                              <p:par>
                                <p:cTn id="35" presetID="9" presetClass="emph" presetSubtype="0" grpId="1" nodeType="withEffect">
                                  <p:stCondLst>
                                    <p:cond delay="0"/>
                                  </p:stCondLst>
                                  <p:childTnLst>
                                    <p:set>
                                      <p:cBhvr>
                                        <p:cTn id="36" dur="indefinite"/>
                                        <p:tgtEl>
                                          <p:spTgt spid="5">
                                            <p:txEl>
                                              <p:pRg st="3" end="3"/>
                                            </p:txEl>
                                          </p:spTgt>
                                        </p:tgtEl>
                                        <p:attrNameLst>
                                          <p:attrName>style.opacity</p:attrName>
                                        </p:attrNameLst>
                                      </p:cBhvr>
                                      <p:to>
                                        <p:strVal val="0.5"/>
                                      </p:to>
                                    </p:set>
                                    <p:animEffect filter="image" prLst="opacity: 0.5">
                                      <p:cBhvr rctx="IE">
                                        <p:cTn id="37" dur="indefinite"/>
                                        <p:tgtEl>
                                          <p:spTgt spid="5">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
                                            <p:txEl>
                                              <p:pRg st="5" end="5"/>
                                            </p:txEl>
                                          </p:spTgt>
                                        </p:tgtEl>
                                        <p:attrNameLst>
                                          <p:attrName>style.visibility</p:attrName>
                                        </p:attrNameLst>
                                      </p:cBhvr>
                                      <p:to>
                                        <p:strVal val="visible"/>
                                      </p:to>
                                    </p:set>
                                    <p:animEffect transition="in" filter="fade">
                                      <p:cBhvr>
                                        <p:cTn id="4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5" grpId="1"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4">
            <a:extLst>
              <a:ext uri="{FF2B5EF4-FFF2-40B4-BE49-F238E27FC236}">
                <a16:creationId xmlns:a16="http://schemas.microsoft.com/office/drawing/2014/main" id="{B9DA01CB-BE22-12FD-05FF-1BE4D3B4E6CA}"/>
              </a:ext>
            </a:extLst>
          </p:cNvPr>
          <p:cNvSpPr txBox="1">
            <a:spLocks/>
          </p:cNvSpPr>
          <p:nvPr/>
        </p:nvSpPr>
        <p:spPr>
          <a:xfrm>
            <a:off x="838200" y="1219288"/>
            <a:ext cx="10755489" cy="4419423"/>
          </a:xfrm>
          <a:prstGeom prst="rect">
            <a:avLst/>
          </a:prstGeom>
        </p:spPr>
        <p:txBody>
          <a:bodyPr>
            <a:no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3200" kern="1200">
                <a:solidFill>
                  <a:srgbClr val="346297"/>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ea typeface="Roboto" panose="02000000000000000000" pitchFamily="2" charset="0"/>
              </a:rPr>
              <a:t>Don’t forget Azure Policy</a:t>
            </a:r>
          </a:p>
          <a:p>
            <a:pPr lvl="1"/>
            <a:r>
              <a:rPr lang="en-US" sz="2800" dirty="0">
                <a:ea typeface="Roboto" panose="02000000000000000000" pitchFamily="2" charset="0"/>
              </a:rPr>
              <a:t>Alerts are </a:t>
            </a:r>
            <a:r>
              <a:rPr lang="en-US" sz="2800" b="1" dirty="0">
                <a:solidFill>
                  <a:srgbClr val="4C4C5E"/>
                </a:solidFill>
                <a:ea typeface="Roboto" panose="02000000000000000000" pitchFamily="2" charset="0"/>
              </a:rPr>
              <a:t>reactive</a:t>
            </a:r>
          </a:p>
          <a:p>
            <a:r>
              <a:rPr lang="en-US" sz="3200" dirty="0">
                <a:ea typeface="Roboto" panose="02000000000000000000" pitchFamily="2" charset="0"/>
              </a:rPr>
              <a:t>Examples of potentially interesting ARG alerts</a:t>
            </a:r>
          </a:p>
          <a:p>
            <a:pPr lvl="1"/>
            <a:r>
              <a:rPr lang="en-US" sz="2800" dirty="0">
                <a:ea typeface="Roboto" panose="02000000000000000000" pitchFamily="2" charset="0"/>
              </a:rPr>
              <a:t>FinOps – Someone creates </a:t>
            </a:r>
            <a:r>
              <a:rPr lang="en-US" sz="2800" b="1" dirty="0">
                <a:solidFill>
                  <a:srgbClr val="4C4C5E"/>
                </a:solidFill>
                <a:ea typeface="Roboto" panose="02000000000000000000" pitchFamily="2" charset="0"/>
              </a:rPr>
              <a:t>allowed</a:t>
            </a:r>
            <a:r>
              <a:rPr lang="en-US" sz="2800" dirty="0">
                <a:ea typeface="Roboto" panose="02000000000000000000" pitchFamily="2" charset="0"/>
              </a:rPr>
              <a:t>, but high-cost resources</a:t>
            </a:r>
          </a:p>
          <a:p>
            <a:pPr lvl="1"/>
            <a:r>
              <a:rPr lang="en-US" sz="2800" dirty="0">
                <a:ea typeface="Roboto" panose="02000000000000000000" pitchFamily="2" charset="0"/>
              </a:rPr>
              <a:t>Operational – </a:t>
            </a:r>
            <a:r>
              <a:rPr lang="en-US" sz="2400" b="1" dirty="0" err="1">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ResourceChanges</a:t>
            </a:r>
            <a:r>
              <a:rPr lang="en-US" sz="2800" dirty="0">
                <a:ea typeface="Roboto" panose="02000000000000000000" pitchFamily="2" charset="0"/>
              </a:rPr>
              <a:t> in sensitive scopes</a:t>
            </a:r>
          </a:p>
          <a:p>
            <a:pPr lvl="1"/>
            <a:r>
              <a:rPr lang="en-US" sz="2800" dirty="0">
                <a:ea typeface="Roboto" panose="02000000000000000000" pitchFamily="2" charset="0"/>
              </a:rPr>
              <a:t>Security – Resource-related events, permissions and roles</a:t>
            </a:r>
          </a:p>
          <a:p>
            <a:r>
              <a:rPr lang="en-US" sz="3200" dirty="0">
                <a:ea typeface="Roboto" panose="02000000000000000000" pitchFamily="2" charset="0"/>
              </a:rPr>
              <a:t>Alerts need access permissions for ARG</a:t>
            </a:r>
          </a:p>
          <a:p>
            <a:r>
              <a:rPr lang="en-US" sz="3200" dirty="0">
                <a:ea typeface="Roboto" panose="02000000000000000000" pitchFamily="2" charset="0"/>
              </a:rPr>
              <a:t>Limitations</a:t>
            </a:r>
          </a:p>
          <a:p>
            <a:pPr lvl="1"/>
            <a:r>
              <a:rPr lang="en-US" sz="2800" dirty="0">
                <a:ea typeface="Roboto" panose="02000000000000000000" pitchFamily="2" charset="0"/>
              </a:rPr>
              <a:t>Cannot </a:t>
            </a:r>
            <a:r>
              <a:rPr lang="en-US" sz="2400" b="1"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join</a:t>
            </a:r>
            <a:r>
              <a:rPr lang="en-US" sz="2800" dirty="0">
                <a:ea typeface="Roboto" panose="02000000000000000000" pitchFamily="2" charset="0"/>
              </a:rPr>
              <a:t> multiple ARG tables, </a:t>
            </a:r>
            <a:r>
              <a:rPr lang="en-US" sz="2400" b="1"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union</a:t>
            </a:r>
            <a:r>
              <a:rPr lang="en-US" sz="2800" dirty="0">
                <a:ea typeface="Roboto" panose="02000000000000000000" pitchFamily="2" charset="0"/>
              </a:rPr>
              <a:t> works</a:t>
            </a:r>
          </a:p>
          <a:p>
            <a:pPr lvl="1"/>
            <a:r>
              <a:rPr lang="en-US" sz="2800" dirty="0">
                <a:ea typeface="Roboto" panose="02000000000000000000" pitchFamily="2" charset="0"/>
              </a:rPr>
              <a:t>Only 1000 records</a:t>
            </a:r>
          </a:p>
        </p:txBody>
      </p:sp>
      <p:sp>
        <p:nvSpPr>
          <p:cNvPr id="2" name="Title 1">
            <a:extLst>
              <a:ext uri="{FF2B5EF4-FFF2-40B4-BE49-F238E27FC236}">
                <a16:creationId xmlns:a16="http://schemas.microsoft.com/office/drawing/2014/main" id="{206D3085-1B19-3656-AFCB-3E5B75164A36}"/>
              </a:ext>
            </a:extLst>
          </p:cNvPr>
          <p:cNvSpPr txBox="1">
            <a:spLocks/>
          </p:cNvSpPr>
          <p:nvPr/>
        </p:nvSpPr>
        <p:spPr>
          <a:xfrm>
            <a:off x="838200" y="365125"/>
            <a:ext cx="9733280" cy="1325563"/>
          </a:xfrm>
        </p:spPr>
        <p:txBody>
          <a:bodyPr>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3600" dirty="0">
                <a:latin typeface="+mn-lt"/>
              </a:rPr>
              <a:t>Alerts with Azure Resource Graph</a:t>
            </a:r>
          </a:p>
        </p:txBody>
      </p:sp>
      <p:pic>
        <p:nvPicPr>
          <p:cNvPr id="6" name="Graphic 5">
            <a:extLst>
              <a:ext uri="{FF2B5EF4-FFF2-40B4-BE49-F238E27FC236}">
                <a16:creationId xmlns:a16="http://schemas.microsoft.com/office/drawing/2014/main" id="{7B7E2F2E-49D6-6708-539F-2A0E081930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1364" y="365125"/>
            <a:ext cx="2092325" cy="2092325"/>
          </a:xfrm>
          <a:prstGeom prst="rect">
            <a:avLst/>
          </a:prstGeom>
        </p:spPr>
      </p:pic>
    </p:spTree>
    <p:extLst>
      <p:ext uri="{BB962C8B-B14F-4D97-AF65-F5344CB8AC3E}">
        <p14:creationId xmlns:p14="http://schemas.microsoft.com/office/powerpoint/2010/main" val="2834450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500"/>
                                        <p:tgtEl>
                                          <p:spTgt spid="13">
                                            <p:txEl>
                                              <p:pRg st="2" end="2"/>
                                            </p:txEl>
                                          </p:spTgt>
                                        </p:tgtEl>
                                      </p:cBhvr>
                                    </p:animEffect>
                                  </p:childTnLst>
                                </p:cTn>
                              </p:par>
                              <p:par>
                                <p:cTn id="18" presetID="9" presetClass="emph" presetSubtype="0" grpId="1" nodeType="withEffect">
                                  <p:stCondLst>
                                    <p:cond delay="0"/>
                                  </p:stCondLst>
                                  <p:childTnLst>
                                    <p:set>
                                      <p:cBhvr>
                                        <p:cTn id="19" dur="indefinite"/>
                                        <p:tgtEl>
                                          <p:spTgt spid="13">
                                            <p:txEl>
                                              <p:pRg st="0" end="0"/>
                                            </p:txEl>
                                          </p:spTgt>
                                        </p:tgtEl>
                                        <p:attrNameLst>
                                          <p:attrName>style.opacity</p:attrName>
                                        </p:attrNameLst>
                                      </p:cBhvr>
                                      <p:to>
                                        <p:strVal val="0.5"/>
                                      </p:to>
                                    </p:set>
                                    <p:animEffect filter="image" prLst="opacity: 0.5">
                                      <p:cBhvr rctx="IE">
                                        <p:cTn id="20" dur="indefinite"/>
                                        <p:tgtEl>
                                          <p:spTgt spid="13">
                                            <p:txEl>
                                              <p:pRg st="0" end="0"/>
                                            </p:txEl>
                                          </p:spTgt>
                                        </p:tgtEl>
                                      </p:cBhvr>
                                    </p:animEffect>
                                  </p:childTnLst>
                                </p:cTn>
                              </p:par>
                              <p:par>
                                <p:cTn id="21" presetID="9" presetClass="emph" presetSubtype="0" grpId="1" nodeType="withEffect">
                                  <p:stCondLst>
                                    <p:cond delay="0"/>
                                  </p:stCondLst>
                                  <p:childTnLst>
                                    <p:set>
                                      <p:cBhvr>
                                        <p:cTn id="22" dur="indefinite"/>
                                        <p:tgtEl>
                                          <p:spTgt spid="13">
                                            <p:txEl>
                                              <p:pRg st="1" end="1"/>
                                            </p:txEl>
                                          </p:spTgt>
                                        </p:tgtEl>
                                        <p:attrNameLst>
                                          <p:attrName>style.opacity</p:attrName>
                                        </p:attrNameLst>
                                      </p:cBhvr>
                                      <p:to>
                                        <p:strVal val="0.5"/>
                                      </p:to>
                                    </p:set>
                                    <p:animEffect filter="image" prLst="opacity: 0.5">
                                      <p:cBhvr rctx="IE">
                                        <p:cTn id="23" dur="indefinite"/>
                                        <p:tgtEl>
                                          <p:spTgt spid="13">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3">
                                            <p:txEl>
                                              <p:pRg st="3" end="3"/>
                                            </p:txEl>
                                          </p:spTgt>
                                        </p:tgtEl>
                                        <p:attrNameLst>
                                          <p:attrName>style.visibility</p:attrName>
                                        </p:attrNameLst>
                                      </p:cBhvr>
                                      <p:to>
                                        <p:strVal val="visible"/>
                                      </p:to>
                                    </p:set>
                                    <p:animEffect transition="in" filter="fade">
                                      <p:cBhvr>
                                        <p:cTn id="28" dur="500"/>
                                        <p:tgtEl>
                                          <p:spTgt spid="1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3">
                                            <p:txEl>
                                              <p:pRg st="4" end="4"/>
                                            </p:txEl>
                                          </p:spTgt>
                                        </p:tgtEl>
                                        <p:attrNameLst>
                                          <p:attrName>style.visibility</p:attrName>
                                        </p:attrNameLst>
                                      </p:cBhvr>
                                      <p:to>
                                        <p:strVal val="visible"/>
                                      </p:to>
                                    </p:set>
                                    <p:animEffect transition="in" filter="fade">
                                      <p:cBhvr>
                                        <p:cTn id="33" dur="500"/>
                                        <p:tgtEl>
                                          <p:spTgt spid="13">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3">
                                            <p:txEl>
                                              <p:pRg st="5" end="5"/>
                                            </p:txEl>
                                          </p:spTgt>
                                        </p:tgtEl>
                                        <p:attrNameLst>
                                          <p:attrName>style.visibility</p:attrName>
                                        </p:attrNameLst>
                                      </p:cBhvr>
                                      <p:to>
                                        <p:strVal val="visible"/>
                                      </p:to>
                                    </p:set>
                                    <p:animEffect transition="in" filter="fade">
                                      <p:cBhvr>
                                        <p:cTn id="38" dur="500"/>
                                        <p:tgtEl>
                                          <p:spTgt spid="1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3">
                                            <p:txEl>
                                              <p:pRg st="6" end="6"/>
                                            </p:txEl>
                                          </p:spTgt>
                                        </p:tgtEl>
                                        <p:attrNameLst>
                                          <p:attrName>style.visibility</p:attrName>
                                        </p:attrNameLst>
                                      </p:cBhvr>
                                      <p:to>
                                        <p:strVal val="visible"/>
                                      </p:to>
                                    </p:set>
                                    <p:animEffect transition="in" filter="fade">
                                      <p:cBhvr>
                                        <p:cTn id="43" dur="500"/>
                                        <p:tgtEl>
                                          <p:spTgt spid="13">
                                            <p:txEl>
                                              <p:pRg st="6" end="6"/>
                                            </p:txEl>
                                          </p:spTgt>
                                        </p:tgtEl>
                                      </p:cBhvr>
                                    </p:animEffect>
                                  </p:childTnLst>
                                </p:cTn>
                              </p:par>
                              <p:par>
                                <p:cTn id="44" presetID="9" presetClass="emph" presetSubtype="0" grpId="1" nodeType="withEffect">
                                  <p:stCondLst>
                                    <p:cond delay="0"/>
                                  </p:stCondLst>
                                  <p:childTnLst>
                                    <p:set>
                                      <p:cBhvr>
                                        <p:cTn id="45" dur="indefinite"/>
                                        <p:tgtEl>
                                          <p:spTgt spid="13">
                                            <p:txEl>
                                              <p:pRg st="2" end="2"/>
                                            </p:txEl>
                                          </p:spTgt>
                                        </p:tgtEl>
                                        <p:attrNameLst>
                                          <p:attrName>style.opacity</p:attrName>
                                        </p:attrNameLst>
                                      </p:cBhvr>
                                      <p:to>
                                        <p:strVal val="0.5"/>
                                      </p:to>
                                    </p:set>
                                    <p:animEffect filter="image" prLst="opacity: 0.5">
                                      <p:cBhvr rctx="IE">
                                        <p:cTn id="46" dur="indefinite"/>
                                        <p:tgtEl>
                                          <p:spTgt spid="13">
                                            <p:txEl>
                                              <p:pRg st="2" end="2"/>
                                            </p:txEl>
                                          </p:spTgt>
                                        </p:tgtEl>
                                      </p:cBhvr>
                                    </p:animEffect>
                                  </p:childTnLst>
                                </p:cTn>
                              </p:par>
                              <p:par>
                                <p:cTn id="47" presetID="9" presetClass="emph" presetSubtype="0" grpId="1" nodeType="withEffect">
                                  <p:stCondLst>
                                    <p:cond delay="0"/>
                                  </p:stCondLst>
                                  <p:childTnLst>
                                    <p:set>
                                      <p:cBhvr>
                                        <p:cTn id="48" dur="indefinite"/>
                                        <p:tgtEl>
                                          <p:spTgt spid="13">
                                            <p:txEl>
                                              <p:pRg st="3" end="3"/>
                                            </p:txEl>
                                          </p:spTgt>
                                        </p:tgtEl>
                                        <p:attrNameLst>
                                          <p:attrName>style.opacity</p:attrName>
                                        </p:attrNameLst>
                                      </p:cBhvr>
                                      <p:to>
                                        <p:strVal val="0.5"/>
                                      </p:to>
                                    </p:set>
                                    <p:animEffect filter="image" prLst="opacity: 0.5">
                                      <p:cBhvr rctx="IE">
                                        <p:cTn id="49" dur="indefinite"/>
                                        <p:tgtEl>
                                          <p:spTgt spid="13">
                                            <p:txEl>
                                              <p:pRg st="3" end="3"/>
                                            </p:txEl>
                                          </p:spTgt>
                                        </p:tgtEl>
                                      </p:cBhvr>
                                    </p:animEffect>
                                  </p:childTnLst>
                                </p:cTn>
                              </p:par>
                              <p:par>
                                <p:cTn id="50" presetID="9" presetClass="emph" presetSubtype="0" grpId="1" nodeType="withEffect">
                                  <p:stCondLst>
                                    <p:cond delay="0"/>
                                  </p:stCondLst>
                                  <p:childTnLst>
                                    <p:set>
                                      <p:cBhvr>
                                        <p:cTn id="51" dur="indefinite"/>
                                        <p:tgtEl>
                                          <p:spTgt spid="13">
                                            <p:txEl>
                                              <p:pRg st="4" end="4"/>
                                            </p:txEl>
                                          </p:spTgt>
                                        </p:tgtEl>
                                        <p:attrNameLst>
                                          <p:attrName>style.opacity</p:attrName>
                                        </p:attrNameLst>
                                      </p:cBhvr>
                                      <p:to>
                                        <p:strVal val="0.5"/>
                                      </p:to>
                                    </p:set>
                                    <p:animEffect filter="image" prLst="opacity: 0.5">
                                      <p:cBhvr rctx="IE">
                                        <p:cTn id="52" dur="indefinite"/>
                                        <p:tgtEl>
                                          <p:spTgt spid="13">
                                            <p:txEl>
                                              <p:pRg st="4" end="4"/>
                                            </p:txEl>
                                          </p:spTgt>
                                        </p:tgtEl>
                                      </p:cBhvr>
                                    </p:animEffect>
                                  </p:childTnLst>
                                </p:cTn>
                              </p:par>
                              <p:par>
                                <p:cTn id="53" presetID="9" presetClass="emph" presetSubtype="0" grpId="1" nodeType="withEffect">
                                  <p:stCondLst>
                                    <p:cond delay="0"/>
                                  </p:stCondLst>
                                  <p:childTnLst>
                                    <p:set>
                                      <p:cBhvr>
                                        <p:cTn id="54" dur="indefinite"/>
                                        <p:tgtEl>
                                          <p:spTgt spid="13">
                                            <p:txEl>
                                              <p:pRg st="5" end="5"/>
                                            </p:txEl>
                                          </p:spTgt>
                                        </p:tgtEl>
                                        <p:attrNameLst>
                                          <p:attrName>style.opacity</p:attrName>
                                        </p:attrNameLst>
                                      </p:cBhvr>
                                      <p:to>
                                        <p:strVal val="0.5"/>
                                      </p:to>
                                    </p:set>
                                    <p:animEffect filter="image" prLst="opacity: 0.5">
                                      <p:cBhvr rctx="IE">
                                        <p:cTn id="55" dur="indefinite"/>
                                        <p:tgtEl>
                                          <p:spTgt spid="13">
                                            <p:txEl>
                                              <p:pRg st="5" end="5"/>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3">
                                            <p:txEl>
                                              <p:pRg st="7" end="7"/>
                                            </p:txEl>
                                          </p:spTgt>
                                        </p:tgtEl>
                                        <p:attrNameLst>
                                          <p:attrName>style.visibility</p:attrName>
                                        </p:attrNameLst>
                                      </p:cBhvr>
                                      <p:to>
                                        <p:strVal val="visible"/>
                                      </p:to>
                                    </p:set>
                                    <p:animEffect transition="in" filter="fade">
                                      <p:cBhvr>
                                        <p:cTn id="60" dur="500"/>
                                        <p:tgtEl>
                                          <p:spTgt spid="13">
                                            <p:txEl>
                                              <p:pRg st="7" end="7"/>
                                            </p:txEl>
                                          </p:spTgt>
                                        </p:tgtEl>
                                      </p:cBhvr>
                                    </p:animEffect>
                                  </p:childTnLst>
                                </p:cTn>
                              </p:par>
                              <p:par>
                                <p:cTn id="61" presetID="9" presetClass="emph" presetSubtype="0" grpId="1" nodeType="withEffect">
                                  <p:stCondLst>
                                    <p:cond delay="0"/>
                                  </p:stCondLst>
                                  <p:childTnLst>
                                    <p:set>
                                      <p:cBhvr>
                                        <p:cTn id="62" dur="indefinite"/>
                                        <p:tgtEl>
                                          <p:spTgt spid="13">
                                            <p:txEl>
                                              <p:pRg st="6" end="6"/>
                                            </p:txEl>
                                          </p:spTgt>
                                        </p:tgtEl>
                                        <p:attrNameLst>
                                          <p:attrName>style.opacity</p:attrName>
                                        </p:attrNameLst>
                                      </p:cBhvr>
                                      <p:to>
                                        <p:strVal val="0.5"/>
                                      </p:to>
                                    </p:set>
                                    <p:animEffect filter="image" prLst="opacity: 0.5">
                                      <p:cBhvr rctx="IE">
                                        <p:cTn id="63" dur="indefinite"/>
                                        <p:tgtEl>
                                          <p:spTgt spid="13">
                                            <p:txEl>
                                              <p:pRg st="6" end="6"/>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13">
                                            <p:txEl>
                                              <p:pRg st="8" end="8"/>
                                            </p:txEl>
                                          </p:spTgt>
                                        </p:tgtEl>
                                        <p:attrNameLst>
                                          <p:attrName>style.visibility</p:attrName>
                                        </p:attrNameLst>
                                      </p:cBhvr>
                                      <p:to>
                                        <p:strVal val="visible"/>
                                      </p:to>
                                    </p:set>
                                    <p:animEffect transition="in" filter="fade">
                                      <p:cBhvr>
                                        <p:cTn id="68" dur="500"/>
                                        <p:tgtEl>
                                          <p:spTgt spid="13">
                                            <p:txEl>
                                              <p:pRg st="8" end="8"/>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13">
                                            <p:txEl>
                                              <p:pRg st="9" end="9"/>
                                            </p:txEl>
                                          </p:spTgt>
                                        </p:tgtEl>
                                        <p:attrNameLst>
                                          <p:attrName>style.visibility</p:attrName>
                                        </p:attrNameLst>
                                      </p:cBhvr>
                                      <p:to>
                                        <p:strVal val="visible"/>
                                      </p:to>
                                    </p:set>
                                    <p:animEffect transition="in" filter="fade">
                                      <p:cBhvr>
                                        <p:cTn id="73" dur="500"/>
                                        <p:tgtEl>
                                          <p:spTgt spid="1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uiExpand="1" build="p" bldLvl="2"/>
      <p:bldP spid="13" grpId="1"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60D9E-5482-82B4-ADB7-FA8E82EFE47A}"/>
            </a:ext>
          </a:extLst>
        </p:cNvPr>
        <p:cNvGrpSpPr/>
        <p:nvPr/>
      </p:nvGrpSpPr>
      <p:grpSpPr>
        <a:xfrm>
          <a:off x="0" y="0"/>
          <a:ext cx="0" cy="0"/>
          <a:chOff x="0" y="0"/>
          <a:chExt cx="0" cy="0"/>
        </a:xfrm>
      </p:grpSpPr>
      <p:pic>
        <p:nvPicPr>
          <p:cNvPr id="9" name="Picture 9">
            <a:extLst>
              <a:ext uri="{FF2B5EF4-FFF2-40B4-BE49-F238E27FC236}">
                <a16:creationId xmlns:a16="http://schemas.microsoft.com/office/drawing/2014/main" id="{7DE37725-9A77-4312-9C87-B343B269B7F0}"/>
              </a:ext>
            </a:extLst>
          </p:cNvPr>
          <p:cNvPicPr>
            <a:picLocks noChangeAspect="1"/>
          </p:cNvPicPr>
          <p:nvPr/>
        </p:nvPicPr>
        <p:blipFill>
          <a:blip r:embed="rId3"/>
          <a:stretch>
            <a:fillRect/>
          </a:stretch>
        </p:blipFill>
        <p:spPr>
          <a:xfrm>
            <a:off x="3342841" y="1155562"/>
            <a:ext cx="5506318" cy="4546875"/>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15A4C3E5-DC08-71A8-C3F3-C78DA42005BE}"/>
              </a:ext>
            </a:extLst>
          </p:cNvPr>
          <p:cNvSpPr txBox="1">
            <a:spLocks/>
          </p:cNvSpPr>
          <p:nvPr/>
        </p:nvSpPr>
        <p:spPr>
          <a:xfrm>
            <a:off x="838200" y="365125"/>
            <a:ext cx="9733280" cy="1325563"/>
          </a:xfrm>
        </p:spPr>
        <p:txBody>
          <a:bodyPr>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3600" dirty="0">
                <a:latin typeface="+mn-lt"/>
              </a:rPr>
              <a:t>Alerts with ARG</a:t>
            </a:r>
          </a:p>
        </p:txBody>
      </p:sp>
    </p:spTree>
    <p:extLst>
      <p:ext uri="{BB962C8B-B14F-4D97-AF65-F5344CB8AC3E}">
        <p14:creationId xmlns:p14="http://schemas.microsoft.com/office/powerpoint/2010/main" val="20377696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9A6603F1-CFDA-1273-44F9-F88C5D69346E}"/>
              </a:ext>
            </a:extLst>
          </p:cNvPr>
          <p:cNvSpPr txBox="1">
            <a:spLocks/>
          </p:cNvSpPr>
          <p:nvPr/>
        </p:nvSpPr>
        <p:spPr>
          <a:xfrm>
            <a:off x="838200" y="1272957"/>
            <a:ext cx="9818511" cy="2663825"/>
          </a:xfrm>
          <a:prstGeom prst="rect">
            <a:avLst/>
          </a:prstGeom>
        </p:spPr>
        <p:txBody>
          <a:bodyPr>
            <a:no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3200" kern="1200">
                <a:solidFill>
                  <a:srgbClr val="346297"/>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1000 records per query response</a:t>
            </a:r>
          </a:p>
          <a:p>
            <a:pPr lvl="1"/>
            <a:r>
              <a:rPr lang="en-US" dirty="0">
                <a:solidFill>
                  <a:srgbClr val="336297"/>
                </a:solidFill>
              </a:rPr>
              <a:t>Implement pagination</a:t>
            </a:r>
          </a:p>
          <a:p>
            <a:r>
              <a:rPr lang="en-US" dirty="0"/>
              <a:t>      15 queries /     5 seconds /     User</a:t>
            </a:r>
            <a:endParaRPr lang="en-US" sz="3200" dirty="0"/>
          </a:p>
          <a:p>
            <a:pPr lvl="1"/>
            <a:r>
              <a:rPr lang="en-US" sz="2800"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x-</a:t>
            </a:r>
            <a:r>
              <a:rPr lang="en-US" sz="2800" dirty="0" err="1">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ms</a:t>
            </a:r>
            <a:r>
              <a:rPr lang="en-US" sz="2800"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-user-quota-remaining</a:t>
            </a:r>
            <a:endParaRPr lang="en-US" sz="2800" dirty="0">
              <a:solidFill>
                <a:srgbClr val="336297"/>
              </a:solidFill>
            </a:endParaRPr>
          </a:p>
          <a:p>
            <a:r>
              <a:rPr lang="en-US" dirty="0"/>
              <a:t>10 000 subscriptions limit for wide queries</a:t>
            </a:r>
          </a:p>
          <a:p>
            <a:pPr lvl="1"/>
            <a:endParaRPr lang="en-US" dirty="0">
              <a:latin typeface="Cascadia Code" panose="020B0609020000020004" pitchFamily="34" charset="0"/>
              <a:ea typeface="Cascadia Code" panose="020B0609020000020004" pitchFamily="34" charset="0"/>
              <a:cs typeface="Cascadia Code" panose="020B0609020000020004" pitchFamily="34" charset="0"/>
            </a:endParaRPr>
          </a:p>
        </p:txBody>
      </p:sp>
      <p:pic>
        <p:nvPicPr>
          <p:cNvPr id="6" name="Graphic 5">
            <a:extLst>
              <a:ext uri="{FF2B5EF4-FFF2-40B4-BE49-F238E27FC236}">
                <a16:creationId xmlns:a16="http://schemas.microsoft.com/office/drawing/2014/main" id="{33B5D3AA-5A39-98F4-0D97-CA0F74A77EF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697213" y="2473326"/>
            <a:ext cx="374276" cy="374276"/>
          </a:xfrm>
          <a:prstGeom prst="rect">
            <a:avLst/>
          </a:prstGeom>
        </p:spPr>
      </p:pic>
      <p:pic>
        <p:nvPicPr>
          <p:cNvPr id="7" name="Graphic 6">
            <a:extLst>
              <a:ext uri="{FF2B5EF4-FFF2-40B4-BE49-F238E27FC236}">
                <a16:creationId xmlns:a16="http://schemas.microsoft.com/office/drawing/2014/main" id="{53EC4357-6F93-A339-0C66-B346ED356C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67322" y="2473327"/>
            <a:ext cx="373106" cy="373106"/>
          </a:xfrm>
          <a:prstGeom prst="rect">
            <a:avLst/>
          </a:prstGeom>
        </p:spPr>
      </p:pic>
      <p:pic>
        <p:nvPicPr>
          <p:cNvPr id="8" name="Graphic 7">
            <a:extLst>
              <a:ext uri="{FF2B5EF4-FFF2-40B4-BE49-F238E27FC236}">
                <a16:creationId xmlns:a16="http://schemas.microsoft.com/office/drawing/2014/main" id="{F2E7C19F-A959-A0BB-60F6-643453C5C12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48736" y="2473326"/>
            <a:ext cx="373107" cy="373107"/>
          </a:xfrm>
          <a:prstGeom prst="rect">
            <a:avLst/>
          </a:prstGeom>
        </p:spPr>
      </p:pic>
      <p:sp>
        <p:nvSpPr>
          <p:cNvPr id="2" name="Title 1">
            <a:extLst>
              <a:ext uri="{FF2B5EF4-FFF2-40B4-BE49-F238E27FC236}">
                <a16:creationId xmlns:a16="http://schemas.microsoft.com/office/drawing/2014/main" id="{460FDBE6-A818-2FCD-F5FC-A665BBEC2470}"/>
              </a:ext>
            </a:extLst>
          </p:cNvPr>
          <p:cNvSpPr txBox="1">
            <a:spLocks/>
          </p:cNvSpPr>
          <p:nvPr/>
        </p:nvSpPr>
        <p:spPr>
          <a:xfrm>
            <a:off x="838200" y="365125"/>
            <a:ext cx="9733280" cy="1325563"/>
          </a:xfrm>
        </p:spPr>
        <p:txBody>
          <a:bodyPr>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3600" dirty="0">
                <a:latin typeface="+mn-lt"/>
              </a:rPr>
              <a:t>Limitations</a:t>
            </a:r>
          </a:p>
        </p:txBody>
      </p:sp>
    </p:spTree>
    <p:extLst>
      <p:ext uri="{BB962C8B-B14F-4D97-AF65-F5344CB8AC3E}">
        <p14:creationId xmlns:p14="http://schemas.microsoft.com/office/powerpoint/2010/main" val="2418220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fade">
                                      <p:cBhvr>
                                        <p:cTn id="27" dur="500"/>
                                        <p:tgtEl>
                                          <p:spTgt spid="5">
                                            <p:txEl>
                                              <p:pRg st="3" end="3"/>
                                            </p:txEl>
                                          </p:spTgt>
                                        </p:tgtEl>
                                      </p:cBhvr>
                                    </p:animEffect>
                                  </p:childTnLst>
                                </p:cTn>
                              </p:par>
                              <p:par>
                                <p:cTn id="28" presetID="9" presetClass="emph" presetSubtype="0" grpId="1" nodeType="withEffect">
                                  <p:stCondLst>
                                    <p:cond delay="0"/>
                                  </p:stCondLst>
                                  <p:childTnLst>
                                    <p:set>
                                      <p:cBhvr>
                                        <p:cTn id="29" dur="indefinite"/>
                                        <p:tgtEl>
                                          <p:spTgt spid="5">
                                            <p:txEl>
                                              <p:pRg st="0" end="0"/>
                                            </p:txEl>
                                          </p:spTgt>
                                        </p:tgtEl>
                                        <p:attrNameLst>
                                          <p:attrName>style.opacity</p:attrName>
                                        </p:attrNameLst>
                                      </p:cBhvr>
                                      <p:to>
                                        <p:strVal val="0.5"/>
                                      </p:to>
                                    </p:set>
                                    <p:animEffect filter="image" prLst="opacity: 0.5">
                                      <p:cBhvr rctx="IE">
                                        <p:cTn id="30" dur="indefinite"/>
                                        <p:tgtEl>
                                          <p:spTgt spid="5">
                                            <p:txEl>
                                              <p:pRg st="0" end="0"/>
                                            </p:txEl>
                                          </p:spTgt>
                                        </p:tgtEl>
                                      </p:cBhvr>
                                    </p:animEffect>
                                  </p:childTnLst>
                                </p:cTn>
                              </p:par>
                              <p:par>
                                <p:cTn id="31" presetID="9" presetClass="emph" presetSubtype="0" grpId="1" nodeType="withEffect">
                                  <p:stCondLst>
                                    <p:cond delay="0"/>
                                  </p:stCondLst>
                                  <p:childTnLst>
                                    <p:set>
                                      <p:cBhvr>
                                        <p:cTn id="32" dur="indefinite"/>
                                        <p:tgtEl>
                                          <p:spTgt spid="5">
                                            <p:txEl>
                                              <p:pRg st="1" end="1"/>
                                            </p:txEl>
                                          </p:spTgt>
                                        </p:tgtEl>
                                        <p:attrNameLst>
                                          <p:attrName>style.opacity</p:attrName>
                                        </p:attrNameLst>
                                      </p:cBhvr>
                                      <p:to>
                                        <p:strVal val="0.5"/>
                                      </p:to>
                                    </p:set>
                                    <p:animEffect filter="image" prLst="opacity: 0.5">
                                      <p:cBhvr rctx="IE">
                                        <p:cTn id="33" dur="indefinite"/>
                                        <p:tgtEl>
                                          <p:spTgt spid="5">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5">
                                            <p:txEl>
                                              <p:pRg st="4" end="4"/>
                                            </p:txEl>
                                          </p:spTgt>
                                        </p:tgtEl>
                                        <p:attrNameLst>
                                          <p:attrName>style.visibility</p:attrName>
                                        </p:attrNameLst>
                                      </p:cBhvr>
                                      <p:to>
                                        <p:strVal val="visible"/>
                                      </p:to>
                                    </p:set>
                                    <p:animEffect transition="in" filter="fade">
                                      <p:cBhvr>
                                        <p:cTn id="38" dur="500"/>
                                        <p:tgtEl>
                                          <p:spTgt spid="5">
                                            <p:txEl>
                                              <p:pRg st="4" end="4"/>
                                            </p:txEl>
                                          </p:spTgt>
                                        </p:tgtEl>
                                      </p:cBhvr>
                                    </p:animEffect>
                                  </p:childTnLst>
                                </p:cTn>
                              </p:par>
                              <p:par>
                                <p:cTn id="39" presetID="9" presetClass="emph" presetSubtype="0" grpId="1" nodeType="withEffect">
                                  <p:stCondLst>
                                    <p:cond delay="0"/>
                                  </p:stCondLst>
                                  <p:childTnLst>
                                    <p:set>
                                      <p:cBhvr>
                                        <p:cTn id="40" dur="indefinite"/>
                                        <p:tgtEl>
                                          <p:spTgt spid="5">
                                            <p:txEl>
                                              <p:pRg st="2" end="2"/>
                                            </p:txEl>
                                          </p:spTgt>
                                        </p:tgtEl>
                                        <p:attrNameLst>
                                          <p:attrName>style.opacity</p:attrName>
                                        </p:attrNameLst>
                                      </p:cBhvr>
                                      <p:to>
                                        <p:strVal val="0.5"/>
                                      </p:to>
                                    </p:set>
                                    <p:animEffect filter="image" prLst="opacity: 0.5">
                                      <p:cBhvr rctx="IE">
                                        <p:cTn id="41" dur="indefinite"/>
                                        <p:tgtEl>
                                          <p:spTgt spid="5">
                                            <p:txEl>
                                              <p:pRg st="2" end="2"/>
                                            </p:txEl>
                                          </p:spTgt>
                                        </p:tgtEl>
                                      </p:cBhvr>
                                    </p:animEffect>
                                  </p:childTnLst>
                                </p:cTn>
                              </p:par>
                              <p:par>
                                <p:cTn id="42" presetID="9" presetClass="emph" presetSubtype="0" grpId="1" nodeType="withEffect">
                                  <p:stCondLst>
                                    <p:cond delay="0"/>
                                  </p:stCondLst>
                                  <p:childTnLst>
                                    <p:set>
                                      <p:cBhvr>
                                        <p:cTn id="43" dur="indefinite"/>
                                        <p:tgtEl>
                                          <p:spTgt spid="5">
                                            <p:txEl>
                                              <p:pRg st="3" end="3"/>
                                            </p:txEl>
                                          </p:spTgt>
                                        </p:tgtEl>
                                        <p:attrNameLst>
                                          <p:attrName>style.opacity</p:attrName>
                                        </p:attrNameLst>
                                      </p:cBhvr>
                                      <p:to>
                                        <p:strVal val="0.5"/>
                                      </p:to>
                                    </p:set>
                                    <p:animEffect filter="image" prLst="opacity: 0.5">
                                      <p:cBhvr rctx="IE">
                                        <p:cTn id="44" dur="indefinite"/>
                                        <p:tgtEl>
                                          <p:spTgt spid="5">
                                            <p:txEl>
                                              <p:pRg st="3" end="3"/>
                                            </p:txEl>
                                          </p:spTgt>
                                        </p:tgtEl>
                                      </p:cBhvr>
                                    </p:animEffect>
                                  </p:childTnLst>
                                </p:cTn>
                              </p:par>
                              <p:par>
                                <p:cTn id="45" presetID="9" presetClass="emph" presetSubtype="0" nodeType="withEffect">
                                  <p:stCondLst>
                                    <p:cond delay="0"/>
                                  </p:stCondLst>
                                  <p:childTnLst>
                                    <p:set>
                                      <p:cBhvr>
                                        <p:cTn id="46" dur="indefinite"/>
                                        <p:tgtEl>
                                          <p:spTgt spid="8"/>
                                        </p:tgtEl>
                                        <p:attrNameLst>
                                          <p:attrName>style.opacity</p:attrName>
                                        </p:attrNameLst>
                                      </p:cBhvr>
                                      <p:to>
                                        <p:strVal val="0.5"/>
                                      </p:to>
                                    </p:set>
                                    <p:animEffect filter="image" prLst="opacity: 0.5">
                                      <p:cBhvr rctx="IE">
                                        <p:cTn id="47" dur="indefinite"/>
                                        <p:tgtEl>
                                          <p:spTgt spid="8"/>
                                        </p:tgtEl>
                                      </p:cBhvr>
                                    </p:animEffect>
                                  </p:childTnLst>
                                </p:cTn>
                              </p:par>
                              <p:par>
                                <p:cTn id="48" presetID="9" presetClass="emph" presetSubtype="0" nodeType="withEffect">
                                  <p:stCondLst>
                                    <p:cond delay="0"/>
                                  </p:stCondLst>
                                  <p:childTnLst>
                                    <p:set>
                                      <p:cBhvr>
                                        <p:cTn id="49" dur="indefinite"/>
                                        <p:tgtEl>
                                          <p:spTgt spid="7"/>
                                        </p:tgtEl>
                                        <p:attrNameLst>
                                          <p:attrName>style.opacity</p:attrName>
                                        </p:attrNameLst>
                                      </p:cBhvr>
                                      <p:to>
                                        <p:strVal val="0.5"/>
                                      </p:to>
                                    </p:set>
                                    <p:animEffect filter="image" prLst="opacity: 0.5">
                                      <p:cBhvr rctx="IE">
                                        <p:cTn id="50" dur="indefinite"/>
                                        <p:tgtEl>
                                          <p:spTgt spid="7"/>
                                        </p:tgtEl>
                                      </p:cBhvr>
                                    </p:animEffect>
                                  </p:childTnLst>
                                </p:cTn>
                              </p:par>
                              <p:par>
                                <p:cTn id="51" presetID="9" presetClass="emph" presetSubtype="0" nodeType="withEffect">
                                  <p:stCondLst>
                                    <p:cond delay="0"/>
                                  </p:stCondLst>
                                  <p:childTnLst>
                                    <p:set>
                                      <p:cBhvr>
                                        <p:cTn id="52" dur="indefinite"/>
                                        <p:tgtEl>
                                          <p:spTgt spid="6"/>
                                        </p:tgtEl>
                                        <p:attrNameLst>
                                          <p:attrName>style.opacity</p:attrName>
                                        </p:attrNameLst>
                                      </p:cBhvr>
                                      <p:to>
                                        <p:strVal val="0.5"/>
                                      </p:to>
                                    </p:set>
                                    <p:animEffect filter="image" prLst="opacity: 0.5">
                                      <p:cBhvr rctx="IE">
                                        <p:cTn id="53" dur="indefinite"/>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5" grpId="1"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861B8-DC87-A699-3E5C-FFFFBDE8CE77}"/>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F77F2C32-9279-3B2A-622D-D0E6FA54F214}"/>
              </a:ext>
            </a:extLst>
          </p:cNvPr>
          <p:cNvSpPr txBox="1"/>
          <p:nvPr/>
        </p:nvSpPr>
        <p:spPr>
          <a:xfrm>
            <a:off x="1151206" y="2305667"/>
            <a:ext cx="13589000" cy="523220"/>
          </a:xfrm>
          <a:prstGeom prst="rect">
            <a:avLst/>
          </a:prstGeom>
          <a:noFill/>
        </p:spPr>
        <p:txBody>
          <a:bodyPr wrap="square">
            <a:spAutoFit/>
          </a:bodyPr>
          <a:lstStyle/>
          <a:p>
            <a:pPr lvl="1"/>
            <a:r>
              <a:rPr lang="en-US" sz="2800"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&amp;</a:t>
            </a:r>
            <a:r>
              <a:rPr lang="en-US" sz="2800" dirty="0" err="1">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useResourceGraph</a:t>
            </a:r>
            <a:r>
              <a:rPr lang="en-US" sz="2800"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=true</a:t>
            </a:r>
          </a:p>
        </p:txBody>
      </p:sp>
      <p:sp>
        <p:nvSpPr>
          <p:cNvPr id="9" name="Text Placeholder 2">
            <a:extLst>
              <a:ext uri="{FF2B5EF4-FFF2-40B4-BE49-F238E27FC236}">
                <a16:creationId xmlns:a16="http://schemas.microsoft.com/office/drawing/2014/main" id="{0C43A0E4-6EE2-3987-D81A-2078AC7F43B2}"/>
              </a:ext>
            </a:extLst>
          </p:cNvPr>
          <p:cNvSpPr txBox="1">
            <a:spLocks/>
          </p:cNvSpPr>
          <p:nvPr/>
        </p:nvSpPr>
        <p:spPr>
          <a:xfrm>
            <a:off x="929716" y="1273871"/>
            <a:ext cx="9862462" cy="2663825"/>
          </a:xfrm>
          <a:prstGeom prst="rect">
            <a:avLst/>
          </a:prstGeom>
        </p:spPr>
        <p:txBody>
          <a:bodyPr/>
          <a:lstStyle>
            <a:lvl1pPr marL="228600" indent="-228600" algn="l" defTabSz="914400" rtl="0" eaLnBrk="1" latinLnBrk="0" hangingPunct="1">
              <a:lnSpc>
                <a:spcPct val="90000"/>
              </a:lnSpc>
              <a:spcBef>
                <a:spcPts val="1000"/>
              </a:spcBef>
              <a:buFont typeface="Wingdings" panose="05000000000000000000" pitchFamily="2" charset="2"/>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3200" kern="1200">
                <a:solidFill>
                  <a:srgbClr val="346297"/>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ea typeface="Roboto" panose="02000000000000000000" pitchFamily="2" charset="0"/>
              </a:rPr>
              <a:t>    4000 queries /     Minute /    User /    Subscription</a:t>
            </a:r>
          </a:p>
          <a:p>
            <a:r>
              <a:rPr lang="en-US" sz="3200" dirty="0">
                <a:ea typeface="Roboto" panose="02000000000000000000" pitchFamily="2" charset="0"/>
              </a:rPr>
              <a:t>Redirect ARM API requests to ARG</a:t>
            </a:r>
            <a:endParaRPr lang="en-US" sz="4400" dirty="0">
              <a:ea typeface="Roboto" panose="02000000000000000000" pitchFamily="2" charset="0"/>
            </a:endParaRPr>
          </a:p>
          <a:p>
            <a:pPr lvl="1"/>
            <a:r>
              <a:rPr lang="en-US" sz="2800"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&amp;</a:t>
            </a:r>
            <a:r>
              <a:rPr lang="en-US" sz="2800" dirty="0" err="1">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useResourceGraph</a:t>
            </a:r>
            <a:r>
              <a:rPr lang="en-US" sz="2800" dirty="0">
                <a:solidFill>
                  <a:srgbClr val="336297"/>
                </a:solidFill>
                <a:latin typeface="Cascadia Code" panose="020B0609020000020004" pitchFamily="34" charset="0"/>
                <a:ea typeface="Cascadia Code" panose="020B0609020000020004" pitchFamily="34" charset="0"/>
                <a:cs typeface="Cascadia Code" panose="020B0609020000020004" pitchFamily="34" charset="0"/>
              </a:rPr>
              <a:t>=true</a:t>
            </a:r>
          </a:p>
          <a:p>
            <a:endParaRPr lang="en-US" sz="4400" dirty="0">
              <a:latin typeface="Cascadia Code" panose="020B0609020000020004" pitchFamily="34" charset="0"/>
              <a:ea typeface="Cascadia Code" panose="020B0609020000020004" pitchFamily="34" charset="0"/>
              <a:cs typeface="Cascadia Code" panose="020B0609020000020004" pitchFamily="34" charset="0"/>
            </a:endParaRPr>
          </a:p>
        </p:txBody>
      </p:sp>
      <p:pic>
        <p:nvPicPr>
          <p:cNvPr id="11" name="Graphic 10">
            <a:extLst>
              <a:ext uri="{FF2B5EF4-FFF2-40B4-BE49-F238E27FC236}">
                <a16:creationId xmlns:a16="http://schemas.microsoft.com/office/drawing/2014/main" id="{243CD4FA-086F-2E47-80B8-B2E7B9629EA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41518" y="1351361"/>
            <a:ext cx="324665" cy="324665"/>
          </a:xfrm>
          <a:prstGeom prst="rect">
            <a:avLst/>
          </a:prstGeom>
        </p:spPr>
      </p:pic>
      <p:pic>
        <p:nvPicPr>
          <p:cNvPr id="12" name="Graphic 11">
            <a:extLst>
              <a:ext uri="{FF2B5EF4-FFF2-40B4-BE49-F238E27FC236}">
                <a16:creationId xmlns:a16="http://schemas.microsoft.com/office/drawing/2014/main" id="{763EE619-C949-E3AA-9CB4-9BB1B89960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43655" y="1321638"/>
            <a:ext cx="373106" cy="373106"/>
          </a:xfrm>
          <a:prstGeom prst="rect">
            <a:avLst/>
          </a:prstGeom>
        </p:spPr>
      </p:pic>
      <p:pic>
        <p:nvPicPr>
          <p:cNvPr id="13" name="Graphic 12">
            <a:extLst>
              <a:ext uri="{FF2B5EF4-FFF2-40B4-BE49-F238E27FC236}">
                <a16:creationId xmlns:a16="http://schemas.microsoft.com/office/drawing/2014/main" id="{AF07CBE8-3AC7-A3FB-231E-E06EBFD18F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08862" y="1328491"/>
            <a:ext cx="374276" cy="374276"/>
          </a:xfrm>
          <a:prstGeom prst="rect">
            <a:avLst/>
          </a:prstGeom>
        </p:spPr>
      </p:pic>
      <p:pic>
        <p:nvPicPr>
          <p:cNvPr id="14" name="Graphic 13">
            <a:extLst>
              <a:ext uri="{FF2B5EF4-FFF2-40B4-BE49-F238E27FC236}">
                <a16:creationId xmlns:a16="http://schemas.microsoft.com/office/drawing/2014/main" id="{6A2EEE24-EC98-848A-69E2-A5AC911DC99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96132" y="1306791"/>
            <a:ext cx="395976" cy="395976"/>
          </a:xfrm>
          <a:prstGeom prst="rect">
            <a:avLst/>
          </a:prstGeom>
        </p:spPr>
      </p:pic>
      <p:sp>
        <p:nvSpPr>
          <p:cNvPr id="15" name="TextBox 14">
            <a:extLst>
              <a:ext uri="{FF2B5EF4-FFF2-40B4-BE49-F238E27FC236}">
                <a16:creationId xmlns:a16="http://schemas.microsoft.com/office/drawing/2014/main" id="{D4F3BCEE-1FF4-5C8E-3AC2-523C622502DD}"/>
              </a:ext>
            </a:extLst>
          </p:cNvPr>
          <p:cNvSpPr txBox="1"/>
          <p:nvPr/>
        </p:nvSpPr>
        <p:spPr>
          <a:xfrm>
            <a:off x="12192000" y="3324315"/>
            <a:ext cx="37542664" cy="461665"/>
          </a:xfrm>
          <a:prstGeom prst="rect">
            <a:avLst/>
          </a:prstGeom>
          <a:noFill/>
        </p:spPr>
        <p:txBody>
          <a:bodyPr wrap="square">
            <a:spAutoFit/>
          </a:bodyPr>
          <a:lstStyle/>
          <a:p>
            <a:r>
              <a:rPr lang="en-US" sz="24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https://</a:t>
            </a:r>
            <a:r>
              <a:rPr lang="en-US" sz="2400" dirty="0" err="1">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management.azure.com</a:t>
            </a:r>
            <a:r>
              <a:rPr lang="en-US" sz="24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/subscriptions/{</a:t>
            </a:r>
            <a:r>
              <a:rPr lang="en-US" sz="2400" dirty="0" err="1">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subscriptionId</a:t>
            </a:r>
            <a:r>
              <a:rPr lang="en-US" sz="24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a:t>
            </a:r>
            <a:r>
              <a:rPr lang="en-US" sz="2400" dirty="0" err="1">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resourceGroups</a:t>
            </a:r>
            <a:r>
              <a:rPr lang="en-US" sz="24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a:t>
            </a:r>
            <a:r>
              <a:rPr lang="en-US" sz="2400" dirty="0" err="1">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resourceGroup</a:t>
            </a:r>
            <a:r>
              <a:rPr lang="en-US" sz="24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}/providers/{</a:t>
            </a:r>
            <a:r>
              <a:rPr lang="en-US" sz="2400" dirty="0" err="1">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providerNamespace</a:t>
            </a:r>
            <a:r>
              <a:rPr lang="en-US" sz="24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a:t>
            </a:r>
            <a:r>
              <a:rPr lang="en-US" sz="2400" dirty="0" err="1">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resourceType</a:t>
            </a:r>
            <a:r>
              <a:rPr lang="en-US" sz="24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a:t>
            </a:r>
            <a:r>
              <a:rPr lang="en-US" sz="2400" dirty="0" err="1">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resourceName</a:t>
            </a:r>
            <a:r>
              <a:rPr lang="en-US" sz="24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a:t>
            </a:r>
            <a:r>
              <a:rPr lang="en-US" sz="2400" dirty="0" err="1">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api</a:t>
            </a:r>
            <a:r>
              <a:rPr lang="en-US" sz="24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-version={</a:t>
            </a:r>
            <a:r>
              <a:rPr lang="en-US" sz="2400" dirty="0" err="1">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apiVersion</a:t>
            </a:r>
            <a:r>
              <a:rPr lang="en-US" sz="2400" dirty="0">
                <a:solidFill>
                  <a:srgbClr val="4C4C5E"/>
                </a:solidFill>
                <a:latin typeface="Cascadia Code" panose="020B0609020000020004" pitchFamily="34" charset="0"/>
                <a:ea typeface="Cascadia Code" panose="020B0609020000020004" pitchFamily="34" charset="0"/>
                <a:cs typeface="Cascadia Code" panose="020B0609020000020004" pitchFamily="34" charset="0"/>
              </a:rPr>
              <a:t>}</a:t>
            </a:r>
          </a:p>
        </p:txBody>
      </p:sp>
      <mc:AlternateContent xmlns:mc="http://schemas.openxmlformats.org/markup-compatibility/2006">
        <mc:Choice xmlns:p14="http://schemas.microsoft.com/office/powerpoint/2010/main" Requires="p14">
          <p:contentPart p14:bwMode="auto" r:id="rId6">
            <p14:nvContentPartPr>
              <p14:cNvPr id="17" name="Ink 16">
                <a:extLst>
                  <a:ext uri="{FF2B5EF4-FFF2-40B4-BE49-F238E27FC236}">
                    <a16:creationId xmlns:a16="http://schemas.microsoft.com/office/drawing/2014/main" id="{1CE5AFF3-CBD6-A855-E63A-13A9225C4E1A}"/>
                  </a:ext>
                </a:extLst>
              </p14:cNvPr>
              <p14:cNvContentPartPr/>
              <p14:nvPr/>
            </p14:nvContentPartPr>
            <p14:xfrm>
              <a:off x="1157417" y="3594528"/>
              <a:ext cx="4140422" cy="2520"/>
            </p14:xfrm>
          </p:contentPart>
        </mc:Choice>
        <mc:Fallback>
          <p:pic>
            <p:nvPicPr>
              <p:cNvPr id="17" name="Ink 16">
                <a:extLst>
                  <a:ext uri="{FF2B5EF4-FFF2-40B4-BE49-F238E27FC236}">
                    <a16:creationId xmlns:a16="http://schemas.microsoft.com/office/drawing/2014/main" id="{1CE5AFF3-CBD6-A855-E63A-13A9225C4E1A}"/>
                  </a:ext>
                </a:extLst>
              </p:cNvPr>
              <p:cNvPicPr/>
              <p:nvPr/>
            </p:nvPicPr>
            <p:blipFill>
              <a:blip r:embed="rId7"/>
              <a:stretch>
                <a:fillRect/>
              </a:stretch>
            </p:blipFill>
            <p:spPr>
              <a:xfrm>
                <a:off x="1103416" y="3486888"/>
                <a:ext cx="4248064" cy="218160"/>
              </a:xfrm>
              <a:prstGeom prst="rect">
                <a:avLst/>
              </a:prstGeom>
            </p:spPr>
          </p:pic>
        </mc:Fallback>
      </mc:AlternateContent>
      <p:sp>
        <p:nvSpPr>
          <p:cNvPr id="2" name="Title 1">
            <a:extLst>
              <a:ext uri="{FF2B5EF4-FFF2-40B4-BE49-F238E27FC236}">
                <a16:creationId xmlns:a16="http://schemas.microsoft.com/office/drawing/2014/main" id="{3EA0AB10-A54E-0CC5-0E94-610DC2037357}"/>
              </a:ext>
            </a:extLst>
          </p:cNvPr>
          <p:cNvSpPr txBox="1">
            <a:spLocks/>
          </p:cNvSpPr>
          <p:nvPr/>
        </p:nvSpPr>
        <p:spPr>
          <a:xfrm>
            <a:off x="838200" y="365125"/>
            <a:ext cx="9733280" cy="1325563"/>
          </a:xfrm>
        </p:spPr>
        <p:txBody>
          <a:bodyPr>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3600" dirty="0">
                <a:latin typeface="+mn-lt"/>
              </a:rPr>
              <a:t>ARG GET/LIST API</a:t>
            </a:r>
          </a:p>
        </p:txBody>
      </p:sp>
    </p:spTree>
    <p:extLst>
      <p:ext uri="{BB962C8B-B14F-4D97-AF65-F5344CB8AC3E}">
        <p14:creationId xmlns:p14="http://schemas.microsoft.com/office/powerpoint/2010/main" val="1974074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
                                            <p:txEl>
                                              <p:pRg st="1" end="1"/>
                                            </p:txEl>
                                          </p:spTgt>
                                        </p:tgtEl>
                                        <p:attrNameLst>
                                          <p:attrName>style.visibility</p:attrName>
                                        </p:attrNameLst>
                                      </p:cBhvr>
                                      <p:to>
                                        <p:strVal val="visible"/>
                                      </p:to>
                                    </p:set>
                                    <p:animEffect transition="in" filter="fade">
                                      <p:cBhvr>
                                        <p:cTn id="24" dur="500"/>
                                        <p:tgtEl>
                                          <p:spTgt spid="9">
                                            <p:txEl>
                                              <p:pRg st="1" end="1"/>
                                            </p:txEl>
                                          </p:spTgt>
                                        </p:tgtEl>
                                      </p:cBhvr>
                                    </p:animEffect>
                                  </p:childTnLst>
                                </p:cTn>
                              </p:par>
                              <p:par>
                                <p:cTn id="25" presetID="9" presetClass="emph" presetSubtype="0" grpId="2" nodeType="withEffect">
                                  <p:stCondLst>
                                    <p:cond delay="0"/>
                                  </p:stCondLst>
                                  <p:childTnLst>
                                    <p:set>
                                      <p:cBhvr>
                                        <p:cTn id="26" dur="indefinite"/>
                                        <p:tgtEl>
                                          <p:spTgt spid="9">
                                            <p:txEl>
                                              <p:pRg st="0" end="0"/>
                                            </p:txEl>
                                          </p:spTgt>
                                        </p:tgtEl>
                                        <p:attrNameLst>
                                          <p:attrName>style.opacity</p:attrName>
                                        </p:attrNameLst>
                                      </p:cBhvr>
                                      <p:to>
                                        <p:strVal val="0.5"/>
                                      </p:to>
                                    </p:set>
                                    <p:animEffect filter="image" prLst="opacity: 0.5">
                                      <p:cBhvr rctx="IE">
                                        <p:cTn id="27" dur="indefinite"/>
                                        <p:tgtEl>
                                          <p:spTgt spid="9">
                                            <p:txEl>
                                              <p:pRg st="0" end="0"/>
                                            </p:txEl>
                                          </p:spTgt>
                                        </p:tgtEl>
                                      </p:cBhvr>
                                    </p:animEffect>
                                  </p:childTnLst>
                                </p:cTn>
                              </p:par>
                              <p:par>
                                <p:cTn id="28" presetID="9" presetClass="emph" presetSubtype="0" nodeType="withEffect">
                                  <p:stCondLst>
                                    <p:cond delay="0"/>
                                  </p:stCondLst>
                                  <p:childTnLst>
                                    <p:set>
                                      <p:cBhvr>
                                        <p:cTn id="29" dur="indefinite"/>
                                        <p:tgtEl>
                                          <p:spTgt spid="11"/>
                                        </p:tgtEl>
                                        <p:attrNameLst>
                                          <p:attrName>style.opacity</p:attrName>
                                        </p:attrNameLst>
                                      </p:cBhvr>
                                      <p:to>
                                        <p:strVal val="0.5"/>
                                      </p:to>
                                    </p:set>
                                    <p:animEffect filter="image" prLst="opacity: 0.5">
                                      <p:cBhvr rctx="IE">
                                        <p:cTn id="30" dur="indefinite"/>
                                        <p:tgtEl>
                                          <p:spTgt spid="11"/>
                                        </p:tgtEl>
                                      </p:cBhvr>
                                    </p:animEffect>
                                  </p:childTnLst>
                                </p:cTn>
                              </p:par>
                              <p:par>
                                <p:cTn id="31" presetID="9" presetClass="emph" presetSubtype="0" nodeType="withEffect">
                                  <p:stCondLst>
                                    <p:cond delay="0"/>
                                  </p:stCondLst>
                                  <p:childTnLst>
                                    <p:set>
                                      <p:cBhvr>
                                        <p:cTn id="32" dur="indefinite"/>
                                        <p:tgtEl>
                                          <p:spTgt spid="12"/>
                                        </p:tgtEl>
                                        <p:attrNameLst>
                                          <p:attrName>style.opacity</p:attrName>
                                        </p:attrNameLst>
                                      </p:cBhvr>
                                      <p:to>
                                        <p:strVal val="0.5"/>
                                      </p:to>
                                    </p:set>
                                    <p:animEffect filter="image" prLst="opacity: 0.5">
                                      <p:cBhvr rctx="IE">
                                        <p:cTn id="33" dur="indefinite"/>
                                        <p:tgtEl>
                                          <p:spTgt spid="12"/>
                                        </p:tgtEl>
                                      </p:cBhvr>
                                    </p:animEffect>
                                  </p:childTnLst>
                                </p:cTn>
                              </p:par>
                              <p:par>
                                <p:cTn id="34" presetID="9" presetClass="emph" presetSubtype="0" nodeType="withEffect">
                                  <p:stCondLst>
                                    <p:cond delay="0"/>
                                  </p:stCondLst>
                                  <p:childTnLst>
                                    <p:set>
                                      <p:cBhvr>
                                        <p:cTn id="35" dur="indefinite"/>
                                        <p:tgtEl>
                                          <p:spTgt spid="13"/>
                                        </p:tgtEl>
                                        <p:attrNameLst>
                                          <p:attrName>style.opacity</p:attrName>
                                        </p:attrNameLst>
                                      </p:cBhvr>
                                      <p:to>
                                        <p:strVal val="0.5"/>
                                      </p:to>
                                    </p:set>
                                    <p:animEffect filter="image" prLst="opacity: 0.5">
                                      <p:cBhvr rctx="IE">
                                        <p:cTn id="36" dur="indefinite"/>
                                        <p:tgtEl>
                                          <p:spTgt spid="13"/>
                                        </p:tgtEl>
                                      </p:cBhvr>
                                    </p:animEffect>
                                  </p:childTnLst>
                                </p:cTn>
                              </p:par>
                              <p:par>
                                <p:cTn id="37" presetID="9" presetClass="emph" presetSubtype="0" nodeType="withEffect">
                                  <p:stCondLst>
                                    <p:cond delay="0"/>
                                  </p:stCondLst>
                                  <p:childTnLst>
                                    <p:set>
                                      <p:cBhvr>
                                        <p:cTn id="38" dur="indefinite"/>
                                        <p:tgtEl>
                                          <p:spTgt spid="14"/>
                                        </p:tgtEl>
                                        <p:attrNameLst>
                                          <p:attrName>style.opacity</p:attrName>
                                        </p:attrNameLst>
                                      </p:cBhvr>
                                      <p:to>
                                        <p:strVal val="0.5"/>
                                      </p:to>
                                    </p:set>
                                    <p:animEffect filter="image" prLst="opacity: 0.5">
                                      <p:cBhvr rctx="IE">
                                        <p:cTn id="39" dur="indefinite"/>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9">
                                            <p:txEl>
                                              <p:pRg st="2" end="2"/>
                                            </p:txEl>
                                          </p:spTgt>
                                        </p:tgtEl>
                                        <p:attrNameLst>
                                          <p:attrName>style.visibility</p:attrName>
                                        </p:attrNameLst>
                                      </p:cBhvr>
                                      <p:to>
                                        <p:strVal val="visible"/>
                                      </p:to>
                                    </p:set>
                                    <p:animEffect transition="in" filter="fade">
                                      <p:cBhvr>
                                        <p:cTn id="44" dur="500"/>
                                        <p:tgtEl>
                                          <p:spTgt spid="9">
                                            <p:txEl>
                                              <p:pRg st="2" end="2"/>
                                            </p:txEl>
                                          </p:spTgt>
                                        </p:tgtEl>
                                      </p:cBhvr>
                                    </p:animEffect>
                                  </p:childTnLst>
                                </p:cTn>
                              </p:par>
                              <p:par>
                                <p:cTn id="45" presetID="10" presetClass="entr" presetSubtype="0" fill="hold" grpId="1"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0" presetClass="path" presetSubtype="0" decel="50000" fill="hold" grpId="0" nodeType="clickEffect">
                                  <p:stCondLst>
                                    <p:cond delay="0"/>
                                  </p:stCondLst>
                                  <p:childTnLst>
                                    <p:animMotion origin="layout" path="M -3.33333E-6 2.96296E-6 L -3.12252 2.96296E-6 " pathEditMode="relative" rAng="0" ptsTypes="AA">
                                      <p:cBhvr>
                                        <p:cTn id="51" dur="10000" fill="hold"/>
                                        <p:tgtEl>
                                          <p:spTgt spid="15"/>
                                        </p:tgtEl>
                                        <p:attrNameLst>
                                          <p:attrName>ppt_x</p:attrName>
                                          <p:attrName>ppt_y</p:attrName>
                                        </p:attrNameLst>
                                      </p:cBhvr>
                                      <p:rCtr x="-156133" y="0"/>
                                    </p:animMotion>
                                  </p:childTnLst>
                                </p:cTn>
                              </p:par>
                            </p:childTnLst>
                          </p:cTn>
                        </p:par>
                      </p:childTnLst>
                    </p:cTn>
                  </p:par>
                  <p:par>
                    <p:cTn id="52" fill="hold">
                      <p:stCondLst>
                        <p:cond delay="indefinite"/>
                      </p:stCondLst>
                      <p:childTnLst>
                        <p:par>
                          <p:cTn id="53" fill="hold">
                            <p:stCondLst>
                              <p:cond delay="0"/>
                            </p:stCondLst>
                            <p:childTnLst>
                              <p:par>
                                <p:cTn id="54" presetID="10" presetClass="exit" presetSubtype="0" fill="hold" grpId="1" nodeType="clickEffect">
                                  <p:stCondLst>
                                    <p:cond delay="0"/>
                                  </p:stCondLst>
                                  <p:childTnLst>
                                    <p:animEffect transition="out" filter="fade">
                                      <p:cBhvr>
                                        <p:cTn id="55" dur="500"/>
                                        <p:tgtEl>
                                          <p:spTgt spid="9">
                                            <p:txEl>
                                              <p:pRg st="2" end="2"/>
                                            </p:txEl>
                                          </p:spTgt>
                                        </p:tgtEl>
                                      </p:cBhvr>
                                    </p:animEffect>
                                    <p:set>
                                      <p:cBhvr>
                                        <p:cTn id="56" dur="1" fill="hold">
                                          <p:stCondLst>
                                            <p:cond delay="499"/>
                                          </p:stCondLst>
                                        </p:cTn>
                                        <p:tgtEl>
                                          <p:spTgt spid="9">
                                            <p:txEl>
                                              <p:pRg st="2" end="2"/>
                                            </p:txEl>
                                          </p:spTgt>
                                        </p:tgtEl>
                                        <p:attrNameLst>
                                          <p:attrName>style.visibility</p:attrName>
                                        </p:attrNameLst>
                                      </p:cBhvr>
                                      <p:to>
                                        <p:strVal val="hidden"/>
                                      </p:to>
                                    </p:set>
                                  </p:childTnLst>
                                </p:cTn>
                              </p:par>
                              <p:par>
                                <p:cTn id="57" presetID="9" presetClass="emph" presetSubtype="0" grpId="2" nodeType="withEffect">
                                  <p:stCondLst>
                                    <p:cond delay="0"/>
                                  </p:stCondLst>
                                  <p:childTnLst>
                                    <p:set>
                                      <p:cBhvr>
                                        <p:cTn id="58" dur="indefinite"/>
                                        <p:tgtEl>
                                          <p:spTgt spid="9">
                                            <p:txEl>
                                              <p:pRg st="1" end="1"/>
                                            </p:txEl>
                                          </p:spTgt>
                                        </p:tgtEl>
                                        <p:attrNameLst>
                                          <p:attrName>style.opacity</p:attrName>
                                        </p:attrNameLst>
                                      </p:cBhvr>
                                      <p:to>
                                        <p:strVal val="0.5"/>
                                      </p:to>
                                    </p:set>
                                    <p:animEffect filter="image" prLst="opacity: 0.5">
                                      <p:cBhvr rctx="IE">
                                        <p:cTn id="59" dur="indefinite"/>
                                        <p:tgtEl>
                                          <p:spTgt spid="9">
                                            <p:txEl>
                                              <p:pRg st="1" end="1"/>
                                            </p:txEl>
                                          </p:spTgt>
                                        </p:tgtEl>
                                      </p:cBhvr>
                                    </p:animEffect>
                                  </p:childTnLst>
                                </p:cTn>
                              </p:par>
                              <p:par>
                                <p:cTn id="60" presetID="50" presetClass="path" presetSubtype="0" accel="50000" decel="50000" fill="hold" grpId="0" nodeType="withEffect">
                                  <p:stCondLst>
                                    <p:cond delay="500"/>
                                  </p:stCondLst>
                                  <p:childTnLst>
                                    <p:animMotion origin="layout" path="M -2.70833E-6 0.00208 L 0.15404 0.00208 C 0.2237 0.00208 0.31042 0.03935 0.31042 0.07083 L 0.31042 0.14444 " pathEditMode="relative" rAng="0" ptsTypes="AAAA">
                                      <p:cBhvr>
                                        <p:cTn id="61" dur="1500" fill="hold"/>
                                        <p:tgtEl>
                                          <p:spTgt spid="16"/>
                                        </p:tgtEl>
                                        <p:attrNameLst>
                                          <p:attrName>ppt_x</p:attrName>
                                          <p:attrName>ppt_y</p:attrName>
                                        </p:attrNameLst>
                                      </p:cBhvr>
                                      <p:rCtr x="15521" y="7106"/>
                                    </p:animMotion>
                                  </p:childTnLst>
                                </p:cTn>
                              </p:par>
                            </p:childTnLst>
                          </p:cTn>
                        </p:par>
                      </p:childTnLst>
                    </p:cTn>
                  </p:par>
                  <p:par>
                    <p:cTn id="62" fill="hold">
                      <p:stCondLst>
                        <p:cond delay="indefinite"/>
                      </p:stCondLst>
                      <p:childTnLst>
                        <p:par>
                          <p:cTn id="63" fill="hold">
                            <p:stCondLst>
                              <p:cond delay="0"/>
                            </p:stCondLst>
                            <p:childTnLst>
                              <p:par>
                                <p:cTn id="64" presetID="63" presetClass="entr" presetSubtype="0" fill="hold" nodeType="clickEffect">
                                  <p:stCondLst>
                                    <p:cond delay="0"/>
                                  </p:stCondLst>
                                  <p:childTnLst>
                                    <p:set>
                                      <p:cBhvr>
                                        <p:cTn id="65" dur="1" fill="hold">
                                          <p:stCondLst>
                                            <p:cond delay="0"/>
                                          </p:stCondLst>
                                        </p:cTn>
                                        <p:tgtEl>
                                          <p:spTgt spid="17"/>
                                        </p:tgtEl>
                                        <p:attrNameLst>
                                          <p:attrName>style.visibility</p:attrName>
                                        </p:attrNameLst>
                                      </p:cBhvr>
                                      <p:to>
                                        <p:strVal val="visible"/>
                                      </p:to>
                                    </p:set>
                                    <p:anim calcmode="lin" valueType="num">
                                      <p:cBhvr>
                                        <p:cTn id="66" dur="500" fill="hold"/>
                                        <p:tgtEl>
                                          <p:spTgt spid="17"/>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6" grpId="1"/>
      <p:bldP spid="9" grpId="0" uiExpand="1" build="p"/>
      <p:bldP spid="9" grpId="1" uiExpand="1" build="p"/>
      <p:bldP spid="9" grpId="2" uiExpand="1" build="p"/>
      <p:bldP spid="1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3F4AB66C-9191-EA75-8B50-9E7F7A19CA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262312" y="595312"/>
            <a:ext cx="5667376" cy="5667376"/>
          </a:xfrm>
          <a:prstGeom prst="rect">
            <a:avLst/>
          </a:prstGeom>
        </p:spPr>
      </p:pic>
      <p:sp>
        <p:nvSpPr>
          <p:cNvPr id="2" name="Title 1">
            <a:extLst>
              <a:ext uri="{FF2B5EF4-FFF2-40B4-BE49-F238E27FC236}">
                <a16:creationId xmlns:a16="http://schemas.microsoft.com/office/drawing/2014/main" id="{F8452C2F-30D4-8EEB-BD97-4CCBD3391D5B}"/>
              </a:ext>
            </a:extLst>
          </p:cNvPr>
          <p:cNvSpPr txBox="1">
            <a:spLocks/>
          </p:cNvSpPr>
          <p:nvPr/>
        </p:nvSpPr>
        <p:spPr>
          <a:xfrm>
            <a:off x="838200" y="365125"/>
            <a:ext cx="9733280" cy="1325563"/>
          </a:xfrm>
        </p:spPr>
        <p:txBody>
          <a:bodyPr>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3600" dirty="0">
                <a:latin typeface="+mn-lt"/>
              </a:rPr>
              <a:t>Azure Resource Graph in Dashboards</a:t>
            </a:r>
          </a:p>
        </p:txBody>
      </p:sp>
    </p:spTree>
    <p:extLst>
      <p:ext uri="{BB962C8B-B14F-4D97-AF65-F5344CB8AC3E}">
        <p14:creationId xmlns:p14="http://schemas.microsoft.com/office/powerpoint/2010/main" val="27770207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D64CF-57D8-CF0B-F466-19A141323B26}"/>
            </a:ext>
          </a:extLst>
        </p:cNvPr>
        <p:cNvGrpSpPr/>
        <p:nvPr/>
      </p:nvGrpSpPr>
      <p:grpSpPr>
        <a:xfrm>
          <a:off x="0" y="0"/>
          <a:ext cx="0" cy="0"/>
          <a:chOff x="0" y="0"/>
          <a:chExt cx="0" cy="0"/>
        </a:xfrm>
      </p:grpSpPr>
      <p:pic>
        <p:nvPicPr>
          <p:cNvPr id="9" name="Picture 9">
            <a:extLst>
              <a:ext uri="{FF2B5EF4-FFF2-40B4-BE49-F238E27FC236}">
                <a16:creationId xmlns:a16="http://schemas.microsoft.com/office/drawing/2014/main" id="{B23FD611-E206-22F3-7AA3-55D8982C98A9}"/>
              </a:ext>
            </a:extLst>
          </p:cNvPr>
          <p:cNvPicPr>
            <a:picLocks noChangeAspect="1"/>
          </p:cNvPicPr>
          <p:nvPr/>
        </p:nvPicPr>
        <p:blipFill>
          <a:blip r:embed="rId3"/>
          <a:stretch>
            <a:fillRect/>
          </a:stretch>
        </p:blipFill>
        <p:spPr>
          <a:xfrm>
            <a:off x="3342841" y="1155562"/>
            <a:ext cx="5506318" cy="4546875"/>
          </a:xfrm>
          <a:prstGeom prst="rect">
            <a:avLst/>
          </a:prstGeom>
          <a:ln>
            <a:noFill/>
          </a:ln>
          <a:effectLst>
            <a:outerShdw blurRad="292100" dist="139700" dir="2700000" algn="tl" rotWithShape="0">
              <a:srgbClr val="333333">
                <a:alpha val="65000"/>
              </a:srgbClr>
            </a:outerShdw>
          </a:effectLst>
        </p:spPr>
      </p:pic>
      <p:sp>
        <p:nvSpPr>
          <p:cNvPr id="5" name="Title 1">
            <a:extLst>
              <a:ext uri="{FF2B5EF4-FFF2-40B4-BE49-F238E27FC236}">
                <a16:creationId xmlns:a16="http://schemas.microsoft.com/office/drawing/2014/main" id="{735506B3-41AE-4B24-877E-BCB8667526FC}"/>
              </a:ext>
            </a:extLst>
          </p:cNvPr>
          <p:cNvSpPr txBox="1">
            <a:spLocks/>
          </p:cNvSpPr>
          <p:nvPr/>
        </p:nvSpPr>
        <p:spPr>
          <a:xfrm>
            <a:off x="838200" y="365125"/>
            <a:ext cx="9733280" cy="1325563"/>
          </a:xfrm>
        </p:spPr>
        <p:txBody>
          <a:bodyPr>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3600" dirty="0">
                <a:latin typeface="+mn-lt"/>
              </a:rPr>
              <a:t>Dashboards with ARG</a:t>
            </a:r>
          </a:p>
        </p:txBody>
      </p:sp>
    </p:spTree>
    <p:extLst>
      <p:ext uri="{BB962C8B-B14F-4D97-AF65-F5344CB8AC3E}">
        <p14:creationId xmlns:p14="http://schemas.microsoft.com/office/powerpoint/2010/main" val="1269563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1E631-0A3E-A758-7700-19335254046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8C07BA3-9F10-CECF-4B8D-F93779420F5E}"/>
              </a:ext>
            </a:extLst>
          </p:cNvPr>
          <p:cNvSpPr txBox="1">
            <a:spLocks/>
          </p:cNvSpPr>
          <p:nvPr/>
        </p:nvSpPr>
        <p:spPr>
          <a:xfrm>
            <a:off x="838200" y="1272957"/>
            <a:ext cx="11063288" cy="4249117"/>
          </a:xfrm>
          <a:prstGeom prst="rect">
            <a:avLst/>
          </a:prstGeom>
        </p:spPr>
        <p:txBody>
          <a:bodyPr>
            <a:no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3200" kern="1200">
                <a:solidFill>
                  <a:srgbClr val="346297"/>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Navigate the cloudy sea</a:t>
            </a:r>
          </a:p>
          <a:p>
            <a:pPr lvl="1"/>
            <a:r>
              <a:rPr lang="en-US" sz="2800" dirty="0">
                <a:solidFill>
                  <a:srgbClr val="336297"/>
                </a:solidFill>
              </a:rPr>
              <a:t>ARG lets you query at scale</a:t>
            </a:r>
          </a:p>
          <a:p>
            <a:r>
              <a:rPr lang="en-US" sz="3200" dirty="0"/>
              <a:t>Find hidden treasures</a:t>
            </a:r>
          </a:p>
          <a:p>
            <a:pPr lvl="1"/>
            <a:r>
              <a:rPr lang="en-US" sz="2800" dirty="0">
                <a:solidFill>
                  <a:srgbClr val="336297"/>
                </a:solidFill>
              </a:rPr>
              <a:t>Identify differences, misconfigurations, details</a:t>
            </a:r>
          </a:p>
          <a:p>
            <a:r>
              <a:rPr lang="en-US" sz="3200" dirty="0"/>
              <a:t>Hoist your sails anywhere</a:t>
            </a:r>
          </a:p>
          <a:p>
            <a:pPr lvl="1"/>
            <a:r>
              <a:rPr lang="en-US" sz="2800" dirty="0">
                <a:solidFill>
                  <a:srgbClr val="336297"/>
                </a:solidFill>
              </a:rPr>
              <a:t>Use from Portal, VS Code (</a:t>
            </a:r>
            <a:r>
              <a:rPr lang="en-US" sz="2800" dirty="0" err="1">
                <a:solidFill>
                  <a:srgbClr val="336297"/>
                </a:solidFill>
              </a:rPr>
              <a:t>bARGE</a:t>
            </a:r>
            <a:r>
              <a:rPr lang="en-US" sz="2800" dirty="0">
                <a:solidFill>
                  <a:srgbClr val="336297"/>
                </a:solidFill>
              </a:rPr>
              <a:t>), CLI, dashboards, alerts and more</a:t>
            </a:r>
          </a:p>
        </p:txBody>
      </p:sp>
      <p:grpSp>
        <p:nvGrpSpPr>
          <p:cNvPr id="12" name="Group 11">
            <a:extLst>
              <a:ext uri="{FF2B5EF4-FFF2-40B4-BE49-F238E27FC236}">
                <a16:creationId xmlns:a16="http://schemas.microsoft.com/office/drawing/2014/main" id="{002EC189-BAB5-A069-D15C-6BCC0ED0CA3E}"/>
              </a:ext>
            </a:extLst>
          </p:cNvPr>
          <p:cNvGrpSpPr/>
          <p:nvPr/>
        </p:nvGrpSpPr>
        <p:grpSpPr>
          <a:xfrm>
            <a:off x="7803389" y="4689217"/>
            <a:ext cx="1121501" cy="260981"/>
            <a:chOff x="9775935" y="6229126"/>
            <a:chExt cx="1691379" cy="393596"/>
          </a:xfrm>
        </p:grpSpPr>
        <p:pic>
          <p:nvPicPr>
            <p:cNvPr id="13" name="Graphic 56">
              <a:extLst>
                <a:ext uri="{FF2B5EF4-FFF2-40B4-BE49-F238E27FC236}">
                  <a16:creationId xmlns:a16="http://schemas.microsoft.com/office/drawing/2014/main" id="{2A2DC6F3-9A88-72E8-D65C-2960114891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280577" y="6229126"/>
              <a:ext cx="391207" cy="383223"/>
            </a:xfrm>
            <a:prstGeom prst="rect">
              <a:avLst/>
            </a:prstGeom>
            <a:effectLst/>
          </p:spPr>
        </p:pic>
        <p:pic>
          <p:nvPicPr>
            <p:cNvPr id="14" name="Graphic 56">
              <a:extLst>
                <a:ext uri="{FF2B5EF4-FFF2-40B4-BE49-F238E27FC236}">
                  <a16:creationId xmlns:a16="http://schemas.microsoft.com/office/drawing/2014/main" id="{3F619B66-E565-FA04-2496-F7DC352A9BB8}"/>
                </a:ext>
              </a:extLst>
            </p:cNvPr>
            <p:cNvPicPr>
              <a:picLocks noChangeAspect="1"/>
            </p:cNvPicPr>
            <p:nvPr/>
          </p:nvPicPr>
          <p:blipFill>
            <a:blip r:embed="rId3"/>
            <a:srcRect/>
            <a:stretch/>
          </p:blipFill>
          <p:spPr>
            <a:xfrm>
              <a:off x="10696834" y="6263498"/>
              <a:ext cx="320788" cy="327874"/>
            </a:xfrm>
            <a:prstGeom prst="rect">
              <a:avLst/>
            </a:prstGeom>
            <a:effectLst/>
          </p:spPr>
        </p:pic>
        <p:pic>
          <p:nvPicPr>
            <p:cNvPr id="15" name="Picture 14" descr="A black and white logo&#10;&#10;Description automatically generated">
              <a:extLst>
                <a:ext uri="{FF2B5EF4-FFF2-40B4-BE49-F238E27FC236}">
                  <a16:creationId xmlns:a16="http://schemas.microsoft.com/office/drawing/2014/main" id="{0B82BB6F-ADC7-9511-BB28-0CDDA5B50003}"/>
                </a:ext>
              </a:extLst>
            </p:cNvPr>
            <p:cNvPicPr>
              <a:picLocks noChangeAspect="1"/>
            </p:cNvPicPr>
            <p:nvPr/>
          </p:nvPicPr>
          <p:blipFill>
            <a:blip r:embed="rId4"/>
            <a:stretch>
              <a:fillRect/>
            </a:stretch>
          </p:blipFill>
          <p:spPr>
            <a:xfrm>
              <a:off x="11083688" y="6239096"/>
              <a:ext cx="383626" cy="383626"/>
            </a:xfrm>
            <a:prstGeom prst="rect">
              <a:avLst/>
            </a:prstGeom>
          </p:spPr>
        </p:pic>
        <p:pic>
          <p:nvPicPr>
            <p:cNvPr id="16" name="Picture 15" descr="A blue butterfly on a black background&#10;&#10;AI-generated content may be incorrect.">
              <a:extLst>
                <a:ext uri="{FF2B5EF4-FFF2-40B4-BE49-F238E27FC236}">
                  <a16:creationId xmlns:a16="http://schemas.microsoft.com/office/drawing/2014/main" id="{0FCF77FA-238D-FBC0-366F-94F44C3B36E2}"/>
                </a:ext>
              </a:extLst>
            </p:cNvPr>
            <p:cNvPicPr>
              <a:picLocks noChangeAspect="1"/>
            </p:cNvPicPr>
            <p:nvPr/>
          </p:nvPicPr>
          <p:blipFill>
            <a:blip r:embed="rId5">
              <a:biLevel thresh="25000"/>
              <a:extLst>
                <a:ext uri="{28A0092B-C50C-407E-A947-70E740481C1C}">
                  <a14:useLocalDpi xmlns:a14="http://schemas.microsoft.com/office/drawing/2010/main" val="0"/>
                </a:ext>
              </a:extLst>
            </a:blip>
            <a:stretch>
              <a:fillRect/>
            </a:stretch>
          </p:blipFill>
          <p:spPr>
            <a:xfrm>
              <a:off x="9775935" y="6240132"/>
              <a:ext cx="438576" cy="382589"/>
            </a:xfrm>
            <a:prstGeom prst="rect">
              <a:avLst/>
            </a:prstGeom>
            <a:noFill/>
            <a:ln>
              <a:noFill/>
            </a:ln>
          </p:spPr>
        </p:pic>
      </p:grpSp>
      <p:grpSp>
        <p:nvGrpSpPr>
          <p:cNvPr id="21" name="Group 20">
            <a:extLst>
              <a:ext uri="{FF2B5EF4-FFF2-40B4-BE49-F238E27FC236}">
                <a16:creationId xmlns:a16="http://schemas.microsoft.com/office/drawing/2014/main" id="{4C20A0E4-7174-B659-81CF-DB88496A2AF5}"/>
              </a:ext>
            </a:extLst>
          </p:cNvPr>
          <p:cNvGrpSpPr/>
          <p:nvPr/>
        </p:nvGrpSpPr>
        <p:grpSpPr>
          <a:xfrm flipV="1">
            <a:off x="8924890" y="5912299"/>
            <a:ext cx="358920" cy="421200"/>
            <a:chOff x="7558038" y="2573499"/>
            <a:chExt cx="358920" cy="421200"/>
          </a:xfrm>
        </p:grpSpPr>
        <mc:AlternateContent xmlns:mc="http://schemas.openxmlformats.org/markup-compatibility/2006" xmlns:p14="http://schemas.microsoft.com/office/powerpoint/2010/main">
          <mc:Choice Requires="p14">
            <p:contentPart p14:bwMode="auto" r:id="rId6">
              <p14:nvContentPartPr>
                <p14:cNvPr id="22" name="Ink 21">
                  <a:extLst>
                    <a:ext uri="{FF2B5EF4-FFF2-40B4-BE49-F238E27FC236}">
                      <a16:creationId xmlns:a16="http://schemas.microsoft.com/office/drawing/2014/main" id="{A74B59F3-5DB2-514D-FEAA-8EB87F7CDEDB}"/>
                    </a:ext>
                  </a:extLst>
                </p14:cNvPr>
                <p14:cNvContentPartPr/>
                <p14:nvPr/>
              </p14:nvContentPartPr>
              <p14:xfrm>
                <a:off x="7558038" y="2595459"/>
                <a:ext cx="276840" cy="399240"/>
              </p14:xfrm>
            </p:contentPart>
          </mc:Choice>
          <mc:Fallback xmlns="">
            <p:pic>
              <p:nvPicPr>
                <p:cNvPr id="65" name="Ink 64">
                  <a:extLst>
                    <a:ext uri="{FF2B5EF4-FFF2-40B4-BE49-F238E27FC236}">
                      <a16:creationId xmlns:a16="http://schemas.microsoft.com/office/drawing/2014/main" id="{7F95F220-6731-27DA-A374-339FD448809B}"/>
                    </a:ext>
                  </a:extLst>
                </p:cNvPr>
                <p:cNvPicPr/>
                <p:nvPr/>
              </p:nvPicPr>
              <p:blipFill>
                <a:blip r:embed="rId13"/>
                <a:stretch>
                  <a:fillRect/>
                </a:stretch>
              </p:blipFill>
              <p:spPr>
                <a:xfrm>
                  <a:off x="7549398" y="2586459"/>
                  <a:ext cx="294480" cy="416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3" name="Ink 22">
                  <a:extLst>
                    <a:ext uri="{FF2B5EF4-FFF2-40B4-BE49-F238E27FC236}">
                      <a16:creationId xmlns:a16="http://schemas.microsoft.com/office/drawing/2014/main" id="{6E14A515-5D02-4676-9B6C-019357907480}"/>
                    </a:ext>
                  </a:extLst>
                </p14:cNvPr>
                <p14:cNvContentPartPr/>
                <p14:nvPr/>
              </p14:nvContentPartPr>
              <p14:xfrm>
                <a:off x="7731558" y="2573499"/>
                <a:ext cx="185400" cy="122760"/>
              </p14:xfrm>
            </p:contentPart>
          </mc:Choice>
          <mc:Fallback xmlns="">
            <p:pic>
              <p:nvPicPr>
                <p:cNvPr id="66" name="Ink 65">
                  <a:extLst>
                    <a:ext uri="{FF2B5EF4-FFF2-40B4-BE49-F238E27FC236}">
                      <a16:creationId xmlns:a16="http://schemas.microsoft.com/office/drawing/2014/main" id="{94E74FDE-0D3D-B693-07AC-0A8C2F182C45}"/>
                    </a:ext>
                  </a:extLst>
                </p:cNvPr>
                <p:cNvPicPr/>
                <p:nvPr/>
              </p:nvPicPr>
              <p:blipFill>
                <a:blip r:embed="rId15"/>
                <a:stretch>
                  <a:fillRect/>
                </a:stretch>
              </p:blipFill>
              <p:spPr>
                <a:xfrm>
                  <a:off x="7722558" y="2564499"/>
                  <a:ext cx="203040" cy="140400"/>
                </a:xfrm>
                <a:prstGeom prst="rect">
                  <a:avLst/>
                </a:prstGeom>
              </p:spPr>
            </p:pic>
          </mc:Fallback>
        </mc:AlternateContent>
      </p:grpSp>
      <p:sp>
        <p:nvSpPr>
          <p:cNvPr id="24" name="TextBox 23">
            <a:extLst>
              <a:ext uri="{FF2B5EF4-FFF2-40B4-BE49-F238E27FC236}">
                <a16:creationId xmlns:a16="http://schemas.microsoft.com/office/drawing/2014/main" id="{C496A4F9-2354-0DD0-1A76-3D917FED129C}"/>
              </a:ext>
            </a:extLst>
          </p:cNvPr>
          <p:cNvSpPr txBox="1"/>
          <p:nvPr/>
        </p:nvSpPr>
        <p:spPr>
          <a:xfrm>
            <a:off x="7329488" y="5361809"/>
            <a:ext cx="4572000" cy="584775"/>
          </a:xfrm>
          <a:prstGeom prst="rect">
            <a:avLst/>
          </a:prstGeom>
          <a:noFill/>
        </p:spPr>
        <p:txBody>
          <a:bodyPr wrap="square">
            <a:spAutoFit/>
          </a:bodyPr>
          <a:lstStyle/>
          <a:p>
            <a:r>
              <a:rPr lang="en-US" sz="3200" dirty="0">
                <a:solidFill>
                  <a:srgbClr val="4C4C5E"/>
                </a:solidFill>
                <a:ea typeface="Cascadia Code" panose="020B0609020000020004" pitchFamily="34" charset="0"/>
                <a:cs typeface="Cascadia Code" panose="020B0609020000020004" pitchFamily="34" charset="0"/>
              </a:rPr>
              <a:t>Reach out!</a:t>
            </a:r>
          </a:p>
        </p:txBody>
      </p:sp>
      <p:sp>
        <p:nvSpPr>
          <p:cNvPr id="2" name="Title 1">
            <a:extLst>
              <a:ext uri="{FF2B5EF4-FFF2-40B4-BE49-F238E27FC236}">
                <a16:creationId xmlns:a16="http://schemas.microsoft.com/office/drawing/2014/main" id="{DDA75054-82D8-6E70-E19A-5782CC87A17F}"/>
              </a:ext>
            </a:extLst>
          </p:cNvPr>
          <p:cNvSpPr txBox="1">
            <a:spLocks/>
          </p:cNvSpPr>
          <p:nvPr/>
        </p:nvSpPr>
        <p:spPr>
          <a:xfrm>
            <a:off x="838200" y="365125"/>
            <a:ext cx="9733280" cy="1325563"/>
          </a:xfrm>
        </p:spPr>
        <p:txBody>
          <a:bodyPr>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3600" dirty="0">
                <a:latin typeface="+mn-lt"/>
              </a:rPr>
              <a:t>Key Takeaways</a:t>
            </a:r>
          </a:p>
        </p:txBody>
      </p:sp>
    </p:spTree>
    <p:extLst>
      <p:ext uri="{BB962C8B-B14F-4D97-AF65-F5344CB8AC3E}">
        <p14:creationId xmlns:p14="http://schemas.microsoft.com/office/powerpoint/2010/main" val="1686559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9" presetClass="emph" presetSubtype="0" grpId="1" nodeType="withEffect">
                                  <p:stCondLst>
                                    <p:cond delay="0"/>
                                  </p:stCondLst>
                                  <p:childTnLst>
                                    <p:set>
                                      <p:cBhvr>
                                        <p:cTn id="20" dur="indefinite"/>
                                        <p:tgtEl>
                                          <p:spTgt spid="3">
                                            <p:txEl>
                                              <p:pRg st="0" end="0"/>
                                            </p:txEl>
                                          </p:spTgt>
                                        </p:tgtEl>
                                        <p:attrNameLst>
                                          <p:attrName>style.opacity</p:attrName>
                                        </p:attrNameLst>
                                      </p:cBhvr>
                                      <p:to>
                                        <p:strVal val="0.5"/>
                                      </p:to>
                                    </p:set>
                                    <p:animEffect filter="image" prLst="opacity: 0.5">
                                      <p:cBhvr rctx="IE">
                                        <p:cTn id="21" dur="indefinite"/>
                                        <p:tgtEl>
                                          <p:spTgt spid="3">
                                            <p:txEl>
                                              <p:pRg st="0" end="0"/>
                                            </p:txEl>
                                          </p:spTgt>
                                        </p:tgtEl>
                                      </p:cBhvr>
                                    </p:animEffect>
                                  </p:childTnLst>
                                </p:cTn>
                              </p:par>
                              <p:par>
                                <p:cTn id="22" presetID="9" presetClass="emph" presetSubtype="0" grpId="1" nodeType="withEffect">
                                  <p:stCondLst>
                                    <p:cond delay="0"/>
                                  </p:stCondLst>
                                  <p:childTnLst>
                                    <p:set>
                                      <p:cBhvr>
                                        <p:cTn id="23" dur="indefinite"/>
                                        <p:tgtEl>
                                          <p:spTgt spid="3">
                                            <p:txEl>
                                              <p:pRg st="1" end="1"/>
                                            </p:txEl>
                                          </p:spTgt>
                                        </p:tgtEl>
                                        <p:attrNameLst>
                                          <p:attrName>style.opacity</p:attrName>
                                        </p:attrNameLst>
                                      </p:cBhvr>
                                      <p:to>
                                        <p:strVal val="0.5"/>
                                      </p:to>
                                    </p:set>
                                    <p:animEffect filter="image" prLst="opacity: 0.5">
                                      <p:cBhvr rctx="IE">
                                        <p:cTn id="24" dur="indefinite"/>
                                        <p:tgtEl>
                                          <p:spTgt spid="3">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par>
                                <p:cTn id="33" presetID="9" presetClass="emph" presetSubtype="0" grpId="1" nodeType="withEffect">
                                  <p:stCondLst>
                                    <p:cond delay="0"/>
                                  </p:stCondLst>
                                  <p:childTnLst>
                                    <p:set>
                                      <p:cBhvr>
                                        <p:cTn id="34" dur="indefinite"/>
                                        <p:tgtEl>
                                          <p:spTgt spid="3">
                                            <p:txEl>
                                              <p:pRg st="2" end="2"/>
                                            </p:txEl>
                                          </p:spTgt>
                                        </p:tgtEl>
                                        <p:attrNameLst>
                                          <p:attrName>style.opacity</p:attrName>
                                        </p:attrNameLst>
                                      </p:cBhvr>
                                      <p:to>
                                        <p:strVal val="0.5"/>
                                      </p:to>
                                    </p:set>
                                    <p:animEffect filter="image" prLst="opacity: 0.5">
                                      <p:cBhvr rctx="IE">
                                        <p:cTn id="35" dur="indefinite"/>
                                        <p:tgtEl>
                                          <p:spTgt spid="3">
                                            <p:txEl>
                                              <p:pRg st="2" end="2"/>
                                            </p:txEl>
                                          </p:spTgt>
                                        </p:tgtEl>
                                      </p:cBhvr>
                                    </p:animEffect>
                                  </p:childTnLst>
                                </p:cTn>
                              </p:par>
                              <p:par>
                                <p:cTn id="36" presetID="9" presetClass="emph" presetSubtype="0" grpId="1" nodeType="withEffect">
                                  <p:stCondLst>
                                    <p:cond delay="0"/>
                                  </p:stCondLst>
                                  <p:childTnLst>
                                    <p:set>
                                      <p:cBhvr>
                                        <p:cTn id="37" dur="indefinite"/>
                                        <p:tgtEl>
                                          <p:spTgt spid="3">
                                            <p:txEl>
                                              <p:pRg st="3" end="3"/>
                                            </p:txEl>
                                          </p:spTgt>
                                        </p:tgtEl>
                                        <p:attrNameLst>
                                          <p:attrName>style.opacity</p:attrName>
                                        </p:attrNameLst>
                                      </p:cBhvr>
                                      <p:to>
                                        <p:strVal val="0.5"/>
                                      </p:to>
                                    </p:set>
                                    <p:animEffect filter="image" prLst="opacity: 0.5">
                                      <p:cBhvr rctx="IE">
                                        <p:cTn id="38" dur="indefinite"/>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C2B4B-CF61-3DC5-6221-F5F99F86F619}"/>
            </a:ext>
          </a:extLst>
        </p:cNvPr>
        <p:cNvGrpSpPr/>
        <p:nvPr/>
      </p:nvGrpSpPr>
      <p:grpSpPr>
        <a:xfrm>
          <a:off x="0" y="0"/>
          <a:ext cx="0" cy="0"/>
          <a:chOff x="0" y="0"/>
          <a:chExt cx="0" cy="0"/>
        </a:xfrm>
      </p:grpSpPr>
      <p:sp>
        <p:nvSpPr>
          <p:cNvPr id="9" name="Title 3">
            <a:extLst>
              <a:ext uri="{FF2B5EF4-FFF2-40B4-BE49-F238E27FC236}">
                <a16:creationId xmlns:a16="http://schemas.microsoft.com/office/drawing/2014/main" id="{0AFF23A2-578F-B7AD-CC96-F1E75AA0FD82}"/>
              </a:ext>
            </a:extLst>
          </p:cNvPr>
          <p:cNvSpPr txBox="1">
            <a:spLocks/>
          </p:cNvSpPr>
          <p:nvPr/>
        </p:nvSpPr>
        <p:spPr>
          <a:xfrm>
            <a:off x="831850" y="529389"/>
            <a:ext cx="10515600" cy="1004637"/>
          </a:xfrm>
          <a:prstGeom prst="rect">
            <a:avLst/>
          </a:prstGeom>
        </p:spPr>
        <p:txBody>
          <a:bodyPr vert="horz" lIns="91440" tIns="45720" rIns="91440" bIns="45720" rtlCol="0" anchor="b">
            <a:normAutofit fontScale="92500" lnSpcReduction="20000"/>
          </a:bodyPr>
          <a:lstStyle>
            <a:lvl1pPr algn="l" defTabSz="914400" rtl="0" eaLnBrk="1" latinLnBrk="0" hangingPunct="1">
              <a:lnSpc>
                <a:spcPct val="90000"/>
              </a:lnSpc>
              <a:spcBef>
                <a:spcPct val="0"/>
              </a:spcBef>
              <a:buNone/>
              <a:defRPr sz="6000" b="1" kern="1200">
                <a:solidFill>
                  <a:srgbClr val="3B2B46"/>
                </a:solidFill>
                <a:latin typeface="+mj-lt"/>
                <a:ea typeface="+mj-ea"/>
                <a:cs typeface="+mj-cs"/>
              </a:defRPr>
            </a:lvl1pPr>
          </a:lstStyle>
          <a:p>
            <a:r>
              <a:rPr lang="en-GB" sz="8000" dirty="0"/>
              <a:t>Q &amp; A &amp; Feedback!</a:t>
            </a:r>
          </a:p>
        </p:txBody>
      </p:sp>
      <p:pic>
        <p:nvPicPr>
          <p:cNvPr id="7" name="Picture 6">
            <a:extLst>
              <a:ext uri="{FF2B5EF4-FFF2-40B4-BE49-F238E27FC236}">
                <a16:creationId xmlns:a16="http://schemas.microsoft.com/office/drawing/2014/main" id="{399142B3-5267-93F6-3AA9-684833206696}"/>
              </a:ext>
            </a:extLst>
          </p:cNvPr>
          <p:cNvPicPr>
            <a:picLocks noChangeAspect="1"/>
          </p:cNvPicPr>
          <p:nvPr/>
        </p:nvPicPr>
        <p:blipFill>
          <a:blip r:embed="rId3">
            <a:extLst>
              <a:ext uri="{28A0092B-C50C-407E-A947-70E740481C1C}">
                <a14:useLocalDpi xmlns:a14="http://schemas.microsoft.com/office/drawing/2010/main" val="0"/>
              </a:ext>
            </a:extLst>
          </a:blip>
          <a:srcRect l="9742" t="9666" r="9443" b="9789"/>
          <a:stretch>
            <a:fillRect/>
          </a:stretch>
        </p:blipFill>
        <p:spPr>
          <a:xfrm>
            <a:off x="8623483" y="1653242"/>
            <a:ext cx="2996069" cy="2986087"/>
          </a:xfrm>
          <a:prstGeom prst="rect">
            <a:avLst/>
          </a:prstGeom>
        </p:spPr>
      </p:pic>
      <p:pic>
        <p:nvPicPr>
          <p:cNvPr id="2" name="Graphique 5">
            <a:extLst>
              <a:ext uri="{FF2B5EF4-FFF2-40B4-BE49-F238E27FC236}">
                <a16:creationId xmlns:a16="http://schemas.microsoft.com/office/drawing/2014/main" id="{8C7569A3-761E-DEAA-1C30-F448FEB741F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80996" y="1423876"/>
            <a:ext cx="1706262" cy="1894974"/>
          </a:xfrm>
          <a:prstGeom prst="rect">
            <a:avLst/>
          </a:prstGeom>
        </p:spPr>
      </p:pic>
      <p:pic>
        <p:nvPicPr>
          <p:cNvPr id="10" name="Picture 9" descr="A qr code with a black and white background&#10;&#10;AI-generated content may be incorrect.">
            <a:extLst>
              <a:ext uri="{FF2B5EF4-FFF2-40B4-BE49-F238E27FC236}">
                <a16:creationId xmlns:a16="http://schemas.microsoft.com/office/drawing/2014/main" id="{4E6443B0-86E8-6485-FE58-973B0772CC30}"/>
              </a:ext>
            </a:extLst>
          </p:cNvPr>
          <p:cNvPicPr>
            <a:picLocks noChangeAspect="1"/>
          </p:cNvPicPr>
          <p:nvPr/>
        </p:nvPicPr>
        <p:blipFill>
          <a:blip r:embed="rId5"/>
          <a:stretch>
            <a:fillRect/>
          </a:stretch>
        </p:blipFill>
        <p:spPr>
          <a:xfrm>
            <a:off x="572448" y="3146286"/>
            <a:ext cx="3224520" cy="3224520"/>
          </a:xfrm>
          <a:prstGeom prst="rect">
            <a:avLst/>
          </a:prstGeom>
        </p:spPr>
      </p:pic>
      <p:sp>
        <p:nvSpPr>
          <p:cNvPr id="12" name="TextBox 11">
            <a:extLst>
              <a:ext uri="{FF2B5EF4-FFF2-40B4-BE49-F238E27FC236}">
                <a16:creationId xmlns:a16="http://schemas.microsoft.com/office/drawing/2014/main" id="{17729297-A698-1EC1-A33D-BE6321A3B165}"/>
              </a:ext>
            </a:extLst>
          </p:cNvPr>
          <p:cNvSpPr txBox="1"/>
          <p:nvPr/>
        </p:nvSpPr>
        <p:spPr>
          <a:xfrm>
            <a:off x="3796968" y="5452561"/>
            <a:ext cx="4572000" cy="584775"/>
          </a:xfrm>
          <a:prstGeom prst="rect">
            <a:avLst/>
          </a:prstGeom>
          <a:noFill/>
        </p:spPr>
        <p:txBody>
          <a:bodyPr wrap="square">
            <a:spAutoFit/>
          </a:bodyPr>
          <a:lstStyle/>
          <a:p>
            <a:r>
              <a:rPr lang="en-US" sz="3200" b="1" dirty="0">
                <a:solidFill>
                  <a:srgbClr val="3A2B45"/>
                </a:solidFill>
                <a:ea typeface="Cascadia Code" panose="020B0609020000020004" pitchFamily="34" charset="0"/>
                <a:cs typeface="Cascadia Code" panose="020B0609020000020004" pitchFamily="34" charset="0"/>
              </a:rPr>
              <a:t>Install </a:t>
            </a:r>
            <a:r>
              <a:rPr lang="en-US" sz="3200" b="1" dirty="0" err="1">
                <a:solidFill>
                  <a:srgbClr val="3A2B45"/>
                </a:solidFill>
                <a:ea typeface="Cascadia Code" panose="020B0609020000020004" pitchFamily="34" charset="0"/>
                <a:cs typeface="Cascadia Code" panose="020B0609020000020004" pitchFamily="34" charset="0"/>
              </a:rPr>
              <a:t>bARGE</a:t>
            </a:r>
            <a:r>
              <a:rPr lang="en-US" sz="3200" b="1" dirty="0">
                <a:solidFill>
                  <a:srgbClr val="3A2B45"/>
                </a:solidFill>
                <a:ea typeface="Cascadia Code" panose="020B0609020000020004" pitchFamily="34" charset="0"/>
                <a:cs typeface="Cascadia Code" panose="020B0609020000020004" pitchFamily="34" charset="0"/>
              </a:rPr>
              <a:t> here!</a:t>
            </a:r>
          </a:p>
        </p:txBody>
      </p:sp>
      <p:pic>
        <p:nvPicPr>
          <p:cNvPr id="13" name="Graphique 5">
            <a:extLst>
              <a:ext uri="{FF2B5EF4-FFF2-40B4-BE49-F238E27FC236}">
                <a16:creationId xmlns:a16="http://schemas.microsoft.com/office/drawing/2014/main" id="{2E721800-49C7-3E4F-4034-5E2868F2B5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a:off x="3933193" y="3557587"/>
            <a:ext cx="1706262" cy="1894974"/>
          </a:xfrm>
          <a:prstGeom prst="rect">
            <a:avLst/>
          </a:prstGeom>
        </p:spPr>
      </p:pic>
    </p:spTree>
    <p:extLst>
      <p:ext uri="{BB962C8B-B14F-4D97-AF65-F5344CB8AC3E}">
        <p14:creationId xmlns:p14="http://schemas.microsoft.com/office/powerpoint/2010/main" val="923274605"/>
      </p:ext>
    </p:extLst>
  </p:cSld>
  <p:clrMapOvr>
    <a:masterClrMapping/>
  </p:clrMapOvr>
</p:sld>
</file>

<file path=ppt/theme/theme1.xml><?xml version="1.0" encoding="utf-8"?>
<a:theme xmlns:a="http://schemas.openxmlformats.org/drawingml/2006/main" name="Titl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an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Speaker's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tent">
  <a:themeElements>
    <a:clrScheme name="PSConfEU">
      <a:dk1>
        <a:sysClr val="windowText" lastClr="000000"/>
      </a:dk1>
      <a:lt1>
        <a:sysClr val="window" lastClr="FFFFFF"/>
      </a:lt1>
      <a:dk2>
        <a:srgbClr val="44546A"/>
      </a:dk2>
      <a:lt2>
        <a:srgbClr val="E7E6E6"/>
      </a:lt2>
      <a:accent1>
        <a:srgbClr val="326198"/>
      </a:accent1>
      <a:accent2>
        <a:srgbClr val="ED7D31"/>
      </a:accent2>
      <a:accent3>
        <a:srgbClr val="A5A5A5"/>
      </a:accent3>
      <a:accent4>
        <a:srgbClr val="FFC000"/>
      </a:accent4>
      <a:accent5>
        <a:srgbClr val="5B9BD5"/>
      </a:accent5>
      <a:accent6>
        <a:srgbClr val="70AD47"/>
      </a:accent6>
      <a:hlink>
        <a:srgbClr val="0563C1"/>
      </a:hlink>
      <a:folHlink>
        <a:srgbClr val="0563C1"/>
      </a:folHlink>
    </a:clrScheme>
    <a:fontScheme name="PSConfEU202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bdc9a1f-962e-4235-838d-61f9c438f4db">
      <Terms xmlns="http://schemas.microsoft.com/office/infopath/2007/PartnerControls"/>
    </lcf76f155ced4ddcb4097134ff3c332f>
    <TaxCatchAll xmlns="de47e97d-64fd-4aef-b10e-fd7d6cfcfcf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33502FDC476714EB47BD1BE2BFD7B3D" ma:contentTypeVersion="13" ma:contentTypeDescription="Create a new document." ma:contentTypeScope="" ma:versionID="0d4fb5ca5076182280cb93c7d6bdff79">
  <xsd:schema xmlns:xsd="http://www.w3.org/2001/XMLSchema" xmlns:xs="http://www.w3.org/2001/XMLSchema" xmlns:p="http://schemas.microsoft.com/office/2006/metadata/properties" xmlns:ns2="abdc9a1f-962e-4235-838d-61f9c438f4db" xmlns:ns3="de47e97d-64fd-4aef-b10e-fd7d6cfcfcf4" targetNamespace="http://schemas.microsoft.com/office/2006/metadata/properties" ma:root="true" ma:fieldsID="da14a0effa8c0f0120811d0692d695e7" ns2:_="" ns3:_="">
    <xsd:import namespace="abdc9a1f-962e-4235-838d-61f9c438f4db"/>
    <xsd:import namespace="de47e97d-64fd-4aef-b10e-fd7d6cfcfcf4"/>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dc9a1f-962e-4235-838d-61f9c438f4db"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bd613703-4b30-4a23-b3bf-9e58a81c4af7"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e47e97d-64fd-4aef-b10e-fd7d6cfcfcf4"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2f96598e-1e7b-44ab-a102-458ae76ccdba}" ma:internalName="TaxCatchAll" ma:showField="CatchAllData" ma:web="de47e97d-64fd-4aef-b10e-fd7d6cfcfcf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7D9B22B-F436-4FE5-B6C0-65AB2260F593}">
  <ds:schemaRefs>
    <ds:schemaRef ds:uri="http://schemas.microsoft.com/sharepoint/v3/contenttype/forms"/>
  </ds:schemaRefs>
</ds:datastoreItem>
</file>

<file path=customXml/itemProps2.xml><?xml version="1.0" encoding="utf-8"?>
<ds:datastoreItem xmlns:ds="http://schemas.openxmlformats.org/officeDocument/2006/customXml" ds:itemID="{AA9C06E3-346E-408E-B352-32E922A070CE}">
  <ds:schemaRefs>
    <ds:schemaRef ds:uri="2347cc20-e10c-452d-848a-c18e83138525"/>
    <ds:schemaRef ds:uri="58c243a5-121d-4837-b81c-114e1b569ece"/>
    <ds:schemaRef ds:uri="77f18391-c91f-4725-9130-63caf76c1806"/>
    <ds:schemaRef ds:uri="85c0ce47-fe9c-4809-bf88-519c39a738e6"/>
    <ds:schemaRef ds:uri="abdc9a1f-962e-4235-838d-61f9c438f4db"/>
    <ds:schemaRef ds:uri="de47e97d-64fd-4aef-b10e-fd7d6cfcfcf4"/>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2C38D965-436F-4DCC-97AA-50BEF4F7BE29}">
  <ds:schemaRefs>
    <ds:schemaRef ds:uri="abdc9a1f-962e-4235-838d-61f9c438f4db"/>
    <ds:schemaRef ds:uri="de47e97d-64fd-4aef-b10e-fd7d6cfcfcf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264</TotalTime>
  <Words>1388</Words>
  <Application>Microsoft Macintosh PowerPoint</Application>
  <PresentationFormat>Widescreen</PresentationFormat>
  <Paragraphs>228</Paragraphs>
  <Slides>33</Slides>
  <Notes>11</Notes>
  <HiddenSlides>1</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33</vt:i4>
      </vt:variant>
    </vt:vector>
  </HeadingPairs>
  <TitlesOfParts>
    <vt:vector size="46" baseType="lpstr">
      <vt:lpstr>Aptos</vt:lpstr>
      <vt:lpstr>Arial</vt:lpstr>
      <vt:lpstr>Calibri</vt:lpstr>
      <vt:lpstr>Cascadia Code</vt:lpstr>
      <vt:lpstr>Roboto</vt:lpstr>
      <vt:lpstr>Segoe UI</vt:lpstr>
      <vt:lpstr>Segoe UI Light</vt:lpstr>
      <vt:lpstr>Stencil</vt:lpstr>
      <vt:lpstr>Wingdings</vt:lpstr>
      <vt:lpstr>Title</vt:lpstr>
      <vt:lpstr>Blank</vt:lpstr>
      <vt:lpstr>Speaker's slide</vt:lpstr>
      <vt:lpstr>Content</vt:lpstr>
      <vt:lpstr>README</vt:lpstr>
      <vt:lpstr>Next Up:</vt:lpstr>
      <vt:lpstr>3</vt:lpstr>
      <vt:lpstr>2</vt:lpstr>
      <vt:lpstr>1</vt:lpstr>
      <vt:lpstr>Charting the Cloudy Sea with Azure Resource Graph</vt:lpstr>
      <vt:lpstr>What’s a pirate’s favorite Azure service? 🏴‍☠️</vt:lpstr>
      <vt:lpstr>PowerPoint Presentation</vt:lpstr>
      <vt:lpstr>Azure Resource Graph</vt:lpstr>
      <vt:lpstr>PowerPoint Presentation</vt:lpstr>
      <vt:lpstr>PowerPoint Presentation</vt:lpstr>
      <vt:lpstr>PowerPoint Presentation</vt:lpstr>
      <vt:lpstr>PowerPoint Presentation</vt:lpstr>
      <vt:lpstr>PowerPoint Presentation</vt:lpstr>
      <vt:lpstr>PowerPoint Presentation</vt:lpstr>
      <vt:lpstr>Many thanks to our sponsors:</vt:lpstr>
      <vt:lpstr>Emanuel Palm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Emanuel Palm</cp:lastModifiedBy>
  <cp:revision>32</cp:revision>
  <dcterms:created xsi:type="dcterms:W3CDTF">2024-03-26T13:08:23Z</dcterms:created>
  <dcterms:modified xsi:type="dcterms:W3CDTF">2026-05-03T20:05:29Z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0x010100333502FDC476714EB47BD1BE2BFD7B3D</vt:lpwstr>
  </property>
  <property fmtid="{D5CDD505-2E9C-101B-9397-08002B2CF9AE}" pid="3" name="MediaServiceImageTags">
    <vt:lpwstr/>
  </property>
</Properties>
</file>